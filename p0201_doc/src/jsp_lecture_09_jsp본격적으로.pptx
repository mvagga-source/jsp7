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83" r:id="rId3"/>
    <p:sldId id="280" r:id="rId4"/>
    <p:sldId id="281" r:id="rId5"/>
    <p:sldId id="28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9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JSP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9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JSP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-I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</a:t>
            </a:r>
            <a:r>
              <a:rPr lang="ko-KR" altLang="en-US" sz="1600" b="1" dirty="0">
                <a:latin typeface="+mn-ea"/>
              </a:rPr>
              <a:t>문서 작성 하기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77008" y="1116906"/>
            <a:ext cx="10676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특징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</a:t>
            </a:r>
            <a:r>
              <a:rPr lang="ko-KR" altLang="en-US" sz="1100" dirty="0" smtClean="0">
                <a:latin typeface="+mn-ea"/>
              </a:rPr>
              <a:t>동적 </a:t>
            </a:r>
            <a:r>
              <a:rPr lang="ko-KR" altLang="en-US" sz="1100" dirty="0" err="1" smtClean="0">
                <a:latin typeface="+mn-ea"/>
              </a:rPr>
              <a:t>웹어플리케이션</a:t>
            </a:r>
            <a:r>
              <a:rPr lang="ko-KR" altLang="en-US" sz="1100" dirty="0" smtClean="0">
                <a:latin typeface="+mn-ea"/>
              </a:rPr>
              <a:t> 컴포넌트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.</a:t>
            </a:r>
            <a:r>
              <a:rPr lang="en-US" altLang="ko-KR" sz="1100" dirty="0" err="1" smtClean="0">
                <a:latin typeface="+mn-ea"/>
              </a:rPr>
              <a:t>jsp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확장자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 - </a:t>
            </a:r>
            <a:r>
              <a:rPr lang="ko-KR" altLang="en-US" sz="1100" dirty="0" smtClean="0">
                <a:latin typeface="+mn-ea"/>
              </a:rPr>
              <a:t>클라이언트의 요청에 동적으로 작동하고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응답은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을 이용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</a:t>
            </a:r>
            <a:r>
              <a:rPr lang="en-US" altLang="ko-KR" sz="1100" dirty="0" err="1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는 </a:t>
            </a:r>
            <a:r>
              <a:rPr lang="ko-KR" altLang="en-US" sz="1100" dirty="0" err="1" smtClean="0">
                <a:latin typeface="+mn-ea"/>
              </a:rPr>
              <a:t>서블릿으로</a:t>
            </a:r>
            <a:r>
              <a:rPr lang="ko-KR" altLang="en-US" sz="1100" dirty="0" smtClean="0">
                <a:latin typeface="+mn-ea"/>
              </a:rPr>
              <a:t> 변환되어 실행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- MVC</a:t>
            </a:r>
            <a:r>
              <a:rPr lang="ko-KR" altLang="en-US" sz="1100" dirty="0" smtClean="0">
                <a:latin typeface="+mn-ea"/>
              </a:rPr>
              <a:t>패턴에서 </a:t>
            </a:r>
            <a:r>
              <a:rPr lang="en-US" altLang="ko-KR" sz="1100" dirty="0" smtClean="0">
                <a:latin typeface="+mn-ea"/>
              </a:rPr>
              <a:t>View</a:t>
            </a:r>
            <a:r>
              <a:rPr lang="ko-KR" altLang="en-US" sz="1100" dirty="0" smtClean="0">
                <a:latin typeface="+mn-ea"/>
              </a:rPr>
              <a:t>로 이용됨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7710852" y="2497015"/>
            <a:ext cx="1582616" cy="1582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Controller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en-US" altLang="ko-KR" sz="1600" dirty="0" smtClean="0"/>
              <a:t>servlet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3" name="타원 12"/>
          <p:cNvSpPr/>
          <p:nvPr/>
        </p:nvSpPr>
        <p:spPr>
          <a:xfrm>
            <a:off x="6128236" y="4501173"/>
            <a:ext cx="1582616" cy="1582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View</a:t>
            </a:r>
          </a:p>
          <a:p>
            <a:pPr algn="ctr"/>
            <a:r>
              <a:rPr lang="en-US" altLang="ko-KR" sz="1600" dirty="0" smtClean="0"/>
              <a:t>(JSP)</a:t>
            </a:r>
            <a:endParaRPr lang="ko-KR" altLang="en-US" sz="1600" dirty="0"/>
          </a:p>
        </p:txBody>
      </p:sp>
      <p:sp>
        <p:nvSpPr>
          <p:cNvPr id="14" name="타원 13"/>
          <p:cNvSpPr/>
          <p:nvPr/>
        </p:nvSpPr>
        <p:spPr>
          <a:xfrm>
            <a:off x="9293468" y="4653573"/>
            <a:ext cx="1582616" cy="15826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Model</a:t>
            </a:r>
            <a:endParaRPr lang="en-US" altLang="ko-KR" sz="1600" dirty="0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7499838" y="4011735"/>
            <a:ext cx="367870" cy="48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9032513" y="4061069"/>
            <a:ext cx="375256" cy="47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10" y="2537851"/>
            <a:ext cx="4362202" cy="3698338"/>
          </a:xfrm>
          <a:prstGeom prst="rect">
            <a:avLst/>
          </a:prstGeom>
        </p:spPr>
      </p:pic>
      <p:cxnSp>
        <p:nvCxnSpPr>
          <p:cNvPr id="27" name="직선 화살표 연결선 26"/>
          <p:cNvCxnSpPr/>
          <p:nvPr/>
        </p:nvCxnSpPr>
        <p:spPr>
          <a:xfrm flipH="1">
            <a:off x="5460023" y="5356958"/>
            <a:ext cx="476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89977" y="5069679"/>
            <a:ext cx="835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response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5476054" y="3443166"/>
            <a:ext cx="20237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70311" y="3151325"/>
            <a:ext cx="8352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request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 flipH="1" flipV="1">
            <a:off x="9108831" y="4011735"/>
            <a:ext cx="395651" cy="489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85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 </a:t>
            </a:r>
            <a:r>
              <a:rPr lang="ko-KR" altLang="en-US" sz="1600" b="1" dirty="0">
                <a:latin typeface="+mn-ea"/>
              </a:rPr>
              <a:t>태그의 개념 이해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은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이용하여 문서를 작성하고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출력객체를 이용하여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코드를 삽입하였습니다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는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과 반대로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코드에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언어를 삽입하여 동적 문서를 만들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err="1" smtClean="0">
                <a:latin typeface="+mn-ea"/>
              </a:rPr>
              <a:t>코드안에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JAVA</a:t>
            </a:r>
            <a:r>
              <a:rPr lang="ko-KR" altLang="en-US" sz="1100" dirty="0" smtClean="0">
                <a:latin typeface="+mn-ea"/>
              </a:rPr>
              <a:t>코드를 삽입하기 위해서는 태그를 이용해야 하며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이러한 태그를 공부해야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008" y="2001559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태그 종류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255040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45832" y="2411506"/>
            <a:ext cx="6938683" cy="2115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latin typeface="+mn-ea"/>
              </a:rPr>
              <a:t>지시자</a:t>
            </a:r>
            <a:r>
              <a:rPr lang="en-US" altLang="ko-KR" dirty="0" smtClean="0">
                <a:latin typeface="+mn-ea"/>
              </a:rPr>
              <a:t>	: &lt;%@	   %&gt;	: </a:t>
            </a:r>
            <a:r>
              <a:rPr lang="ko-KR" altLang="en-US" dirty="0" smtClean="0">
                <a:latin typeface="+mn-ea"/>
              </a:rPr>
              <a:t>페이지 속성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주석</a:t>
            </a:r>
            <a:r>
              <a:rPr lang="en-US" altLang="ko-KR" dirty="0" smtClean="0">
                <a:latin typeface="+mn-ea"/>
              </a:rPr>
              <a:t>	: &lt;%--	 --%&gt;</a:t>
            </a:r>
          </a:p>
          <a:p>
            <a:r>
              <a:rPr lang="ko-KR" altLang="en-US" dirty="0" smtClean="0">
                <a:latin typeface="+mn-ea"/>
              </a:rPr>
              <a:t>선언</a:t>
            </a:r>
            <a:r>
              <a:rPr lang="en-US" altLang="ko-KR" dirty="0" smtClean="0">
                <a:latin typeface="+mn-ea"/>
              </a:rPr>
              <a:t>	: &lt;%!	   %&gt;	: </a:t>
            </a:r>
            <a:r>
              <a:rPr lang="ko-KR" altLang="en-US" dirty="0" smtClean="0">
                <a:latin typeface="+mn-ea"/>
              </a:rPr>
              <a:t>변수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err="1" smtClean="0">
                <a:latin typeface="+mn-ea"/>
              </a:rPr>
              <a:t>메소드</a:t>
            </a:r>
            <a:r>
              <a:rPr lang="ko-KR" altLang="en-US" dirty="0" smtClean="0">
                <a:latin typeface="+mn-ea"/>
              </a:rPr>
              <a:t> 선언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err="1" smtClean="0">
                <a:latin typeface="+mn-ea"/>
              </a:rPr>
              <a:t>표현식</a:t>
            </a:r>
            <a:r>
              <a:rPr lang="en-US" altLang="ko-KR" dirty="0">
                <a:latin typeface="+mn-ea"/>
              </a:rPr>
              <a:t>	</a:t>
            </a:r>
            <a:r>
              <a:rPr lang="en-US" altLang="ko-KR" dirty="0" smtClean="0">
                <a:latin typeface="+mn-ea"/>
              </a:rPr>
              <a:t>: &lt;%=	   %&gt;	: </a:t>
            </a:r>
            <a:r>
              <a:rPr lang="ko-KR" altLang="en-US" dirty="0" smtClean="0">
                <a:latin typeface="+mn-ea"/>
              </a:rPr>
              <a:t>결과값 출력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err="1" smtClean="0">
                <a:latin typeface="+mn-ea"/>
              </a:rPr>
              <a:t>스크립트릿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: &lt;%	   %&gt;	: JAVA </a:t>
            </a:r>
            <a:r>
              <a:rPr lang="ko-KR" altLang="en-US" dirty="0" smtClean="0">
                <a:latin typeface="+mn-ea"/>
              </a:rPr>
              <a:t>코드</a:t>
            </a:r>
            <a:endParaRPr lang="en-US" altLang="ko-KR" dirty="0" smtClean="0">
              <a:latin typeface="+mn-ea"/>
            </a:endParaRPr>
          </a:p>
          <a:p>
            <a:r>
              <a:rPr lang="ko-KR" altLang="en-US" smtClean="0">
                <a:latin typeface="+mn-ea"/>
              </a:rPr>
              <a:t>액션태그</a:t>
            </a:r>
            <a:r>
              <a:rPr lang="en-US" altLang="ko-KR" smtClean="0">
                <a:latin typeface="+mn-ea"/>
              </a:rPr>
              <a:t>    </a:t>
            </a:r>
            <a:r>
              <a:rPr lang="en-US" altLang="ko-KR" dirty="0" smtClean="0">
                <a:latin typeface="+mn-ea"/>
              </a:rPr>
              <a:t>: &lt;</a:t>
            </a:r>
            <a:r>
              <a:rPr lang="en-US" altLang="ko-KR" dirty="0" err="1" smtClean="0">
                <a:latin typeface="+mn-ea"/>
              </a:rPr>
              <a:t>jsp:action</a:t>
            </a:r>
            <a:r>
              <a:rPr lang="en-US" altLang="ko-KR" dirty="0" smtClean="0">
                <a:latin typeface="+mn-ea"/>
              </a:rPr>
              <a:t>&gt;	 &lt;/</a:t>
            </a:r>
            <a:r>
              <a:rPr lang="en-US" altLang="ko-KR" dirty="0" err="1" smtClean="0">
                <a:latin typeface="+mn-ea"/>
              </a:rPr>
              <a:t>jsp:action</a:t>
            </a:r>
            <a:r>
              <a:rPr lang="en-US" altLang="ko-KR" dirty="0" smtClean="0">
                <a:latin typeface="+mn-ea"/>
              </a:rPr>
              <a:t>&gt; : </a:t>
            </a:r>
            <a:r>
              <a:rPr lang="ko-KR" altLang="en-US" dirty="0" err="1" smtClean="0">
                <a:latin typeface="+mn-ea"/>
              </a:rPr>
              <a:t>자바빈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연결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109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 </a:t>
            </a:r>
            <a:r>
              <a:rPr lang="ko-KR" altLang="en-US" sz="1600" b="1" dirty="0" smtClean="0">
                <a:latin typeface="+mn-ea"/>
              </a:rPr>
              <a:t>동작 원리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가 요청되어 응답하기까지의 과정을 이해하면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개발에 많은 도움이 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jsp_9_2_ex1_jsparchex)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008" y="2022341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클라이언트가 </a:t>
            </a:r>
            <a:r>
              <a:rPr lang="ko-KR" altLang="en-US" sz="1100" dirty="0" err="1" smtClean="0">
                <a:latin typeface="+mn-ea"/>
              </a:rPr>
              <a:t>웹브라우저로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err="1" smtClean="0">
                <a:latin typeface="+mn-ea"/>
              </a:rPr>
              <a:t>helloWorld.jsp</a:t>
            </a:r>
            <a:r>
              <a:rPr lang="ko-KR" altLang="en-US" sz="1100" dirty="0" smtClean="0">
                <a:latin typeface="+mn-ea"/>
              </a:rPr>
              <a:t>를 요청하게 되면 </a:t>
            </a:r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컨테이너가 </a:t>
            </a:r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파일을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파일</a:t>
            </a:r>
            <a:r>
              <a:rPr lang="en-US" altLang="ko-KR" sz="1100" dirty="0" smtClean="0">
                <a:latin typeface="+mn-ea"/>
              </a:rPr>
              <a:t>(.java)</a:t>
            </a:r>
            <a:r>
              <a:rPr lang="ko-KR" altLang="en-US" sz="1100" dirty="0" smtClean="0">
                <a:latin typeface="+mn-ea"/>
              </a:rPr>
              <a:t>로 변환합니다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그리고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파일</a:t>
            </a:r>
            <a:r>
              <a:rPr lang="en-US" altLang="ko-KR" sz="1100" dirty="0" smtClean="0">
                <a:latin typeface="+mn-ea"/>
              </a:rPr>
              <a:t>(.java)</a:t>
            </a:r>
            <a:r>
              <a:rPr lang="ko-KR" altLang="en-US" sz="1100" dirty="0" smtClean="0">
                <a:latin typeface="+mn-ea"/>
              </a:rPr>
              <a:t>은 컴파일 된 후 클래스 파일</a:t>
            </a:r>
            <a:r>
              <a:rPr lang="en-US" altLang="ko-KR" sz="1100" dirty="0" smtClean="0">
                <a:latin typeface="+mn-ea"/>
              </a:rPr>
              <a:t>(.class)</a:t>
            </a:r>
            <a:r>
              <a:rPr lang="ko-KR" altLang="en-US" sz="1100" dirty="0" smtClean="0">
                <a:latin typeface="+mn-ea"/>
              </a:rPr>
              <a:t>로 변환되고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요청한 클라이언트한테 </a:t>
            </a:r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파일 형태로 응답 됩니다</a:t>
            </a:r>
            <a:r>
              <a:rPr lang="en-US" altLang="ko-KR" sz="1100" dirty="0" smtClean="0">
                <a:latin typeface="+mn-ea"/>
              </a:rPr>
              <a:t>.</a:t>
            </a:r>
            <a:r>
              <a:rPr lang="ko-KR" altLang="en-US" sz="1100" dirty="0" smtClean="0">
                <a:latin typeface="+mn-ea"/>
              </a:rPr>
              <a:t>  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68822" y="2628225"/>
            <a:ext cx="4025155" cy="800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웹브라우저</a:t>
            </a:r>
            <a:r>
              <a:rPr lang="ko-KR" altLang="en-US" dirty="0" smtClean="0">
                <a:latin typeface="+mn-ea"/>
              </a:rPr>
              <a:t> 요청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en-US" altLang="ko-KR" sz="1100" dirty="0">
                <a:latin typeface="+mn-ea"/>
              </a:rPr>
              <a:t>http://localhost:8181/jsp_9_2_ex1_jsparchex/helloWorld.jsp</a:t>
            </a:r>
            <a:endParaRPr lang="ko-KR" altLang="en-US" sz="1100" dirty="0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55975" y="2628225"/>
            <a:ext cx="4025155" cy="800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JSP &gt;&gt; Servlet 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helloWorld.js </a:t>
            </a:r>
            <a:r>
              <a:rPr lang="en-US" altLang="ko-KR" sz="1200" dirty="0">
                <a:latin typeface="+mn-ea"/>
              </a:rPr>
              <a:t>&gt;&gt; helloWorld_jsp.java</a:t>
            </a:r>
            <a:endParaRPr lang="en-US" altLang="ko-KR" sz="1200" dirty="0" smtClean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568822" y="3750383"/>
            <a:ext cx="4025155" cy="800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웹브라우저</a:t>
            </a:r>
            <a:r>
              <a:rPr lang="ko-KR" altLang="en-US" dirty="0" smtClean="0">
                <a:latin typeface="+mn-ea"/>
              </a:rPr>
              <a:t> 응답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en-US" altLang="ko-KR" sz="1100" dirty="0" smtClean="0">
                <a:latin typeface="+mn-ea"/>
              </a:rPr>
              <a:t>HTML</a:t>
            </a:r>
            <a:r>
              <a:rPr lang="ko-KR" altLang="en-US" sz="1100" dirty="0" smtClean="0">
                <a:latin typeface="+mn-ea"/>
              </a:rPr>
              <a:t>형태로 응답</a:t>
            </a:r>
            <a:endParaRPr lang="ko-KR" altLang="en-US" sz="11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55975" y="3750383"/>
            <a:ext cx="4025155" cy="800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&gt;&gt; class 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helloWorld_jsp.java </a:t>
            </a:r>
            <a:r>
              <a:rPr lang="en-US" altLang="ko-KR" sz="1200" dirty="0">
                <a:latin typeface="+mn-ea"/>
              </a:rPr>
              <a:t>&gt;&gt; </a:t>
            </a:r>
            <a:r>
              <a:rPr lang="en-US" altLang="ko-KR" sz="1200" dirty="0" err="1">
                <a:latin typeface="+mn-ea"/>
              </a:rPr>
              <a:t>helloWorld_jsp.class</a:t>
            </a:r>
            <a:endParaRPr lang="en-US" altLang="ko-KR" sz="1200" dirty="0" smtClean="0">
              <a:latin typeface="+mn-ea"/>
            </a:endParaRPr>
          </a:p>
        </p:txBody>
      </p:sp>
      <p:cxnSp>
        <p:nvCxnSpPr>
          <p:cNvPr id="7" name="직선 화살표 연결선 6"/>
          <p:cNvCxnSpPr>
            <a:stCxn id="10" idx="3"/>
            <a:endCxn id="11" idx="1"/>
          </p:cNvCxnSpPr>
          <p:nvPr/>
        </p:nvCxnSpPr>
        <p:spPr>
          <a:xfrm>
            <a:off x="5593977" y="3028705"/>
            <a:ext cx="761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1" idx="2"/>
            <a:endCxn id="13" idx="0"/>
          </p:cNvCxnSpPr>
          <p:nvPr/>
        </p:nvCxnSpPr>
        <p:spPr>
          <a:xfrm>
            <a:off x="8368553" y="3429185"/>
            <a:ext cx="0" cy="321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3" idx="1"/>
            <a:endCxn id="12" idx="3"/>
          </p:cNvCxnSpPr>
          <p:nvPr/>
        </p:nvCxnSpPr>
        <p:spPr>
          <a:xfrm flipH="1">
            <a:off x="5593977" y="4150863"/>
            <a:ext cx="761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73" y="5044888"/>
            <a:ext cx="3099955" cy="1143000"/>
          </a:xfrm>
          <a:prstGeom prst="rect">
            <a:avLst/>
          </a:prstGeom>
        </p:spPr>
      </p:pic>
      <p:cxnSp>
        <p:nvCxnSpPr>
          <p:cNvPr id="21" name="직선 연결선 20"/>
          <p:cNvCxnSpPr/>
          <p:nvPr/>
        </p:nvCxnSpPr>
        <p:spPr>
          <a:xfrm>
            <a:off x="916161" y="4845840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928" y="5069621"/>
            <a:ext cx="6199909" cy="99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7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4.</a:t>
            </a:r>
            <a:r>
              <a:rPr lang="en-US" altLang="ko-KR" sz="1600" b="1" kern="1200" baseline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JSP </a:t>
            </a:r>
            <a:r>
              <a:rPr lang="ko-KR" altLang="en-US" sz="1600" b="1" dirty="0" smtClean="0">
                <a:latin typeface="+mn-ea"/>
              </a:rPr>
              <a:t>내부 객체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개발자가 객체를 생성하지 않고 바로 사용할 수 있는 객체가 내부객체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에서 제공되는 내부객체는 </a:t>
            </a:r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컨테이너에 의해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으로 변화될 때 자동으로 객체가 생성 됩니다</a:t>
            </a:r>
            <a:r>
              <a:rPr lang="en-US" altLang="ko-KR" sz="1100" dirty="0">
                <a:latin typeface="+mn-ea"/>
              </a:rPr>
              <a:t>.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7008" y="2416853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입출력 객체 </a:t>
            </a:r>
            <a:r>
              <a:rPr lang="en-US" altLang="ko-KR" sz="1100" dirty="0" smtClean="0">
                <a:latin typeface="+mn-ea"/>
              </a:rPr>
              <a:t>: request, response, out</a:t>
            </a:r>
          </a:p>
          <a:p>
            <a:r>
              <a:rPr lang="ko-KR" altLang="en-US" sz="1100" dirty="0" err="1" smtClean="0">
                <a:latin typeface="+mn-ea"/>
              </a:rPr>
              <a:t>서블릿</a:t>
            </a:r>
            <a:r>
              <a:rPr lang="ko-KR" altLang="en-US" sz="1100" dirty="0" smtClean="0">
                <a:latin typeface="+mn-ea"/>
              </a:rPr>
              <a:t> 객체 </a:t>
            </a:r>
            <a:r>
              <a:rPr lang="en-US" altLang="ko-KR" sz="1100" dirty="0" smtClean="0">
                <a:latin typeface="+mn-ea"/>
              </a:rPr>
              <a:t>: page, </a:t>
            </a:r>
            <a:r>
              <a:rPr lang="en-US" altLang="ko-KR" sz="1100" dirty="0" err="1" smtClean="0">
                <a:latin typeface="+mn-ea"/>
              </a:rPr>
              <a:t>config</a:t>
            </a:r>
            <a:endParaRPr lang="en-US" altLang="ko-KR" sz="1100" dirty="0" smtClean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세션 객체 </a:t>
            </a:r>
            <a:r>
              <a:rPr lang="en-US" altLang="ko-KR" sz="1100" dirty="0" smtClean="0">
                <a:latin typeface="+mn-ea"/>
              </a:rPr>
              <a:t>: session</a:t>
            </a:r>
          </a:p>
          <a:p>
            <a:r>
              <a:rPr lang="ko-KR" altLang="en-US" sz="1100" dirty="0" smtClean="0">
                <a:latin typeface="+mn-ea"/>
              </a:rPr>
              <a:t>예외 객체 </a:t>
            </a:r>
            <a:r>
              <a:rPr lang="en-US" altLang="ko-KR" sz="1100" dirty="0" smtClean="0">
                <a:latin typeface="+mn-ea"/>
              </a:rPr>
              <a:t>: exception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008" y="2001559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내부 객체 종류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745832" y="2255040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47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2453</TotalTime>
  <Words>269</Words>
  <Application>Microsoft Office PowerPoint</Application>
  <PresentationFormat>와이드스크린</PresentationFormat>
  <Paragraphs>51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668</cp:revision>
  <dcterms:created xsi:type="dcterms:W3CDTF">2014-12-01T08:37:15Z</dcterms:created>
  <dcterms:modified xsi:type="dcterms:W3CDTF">2023-07-27T05:56:05Z</dcterms:modified>
</cp:coreProperties>
</file>