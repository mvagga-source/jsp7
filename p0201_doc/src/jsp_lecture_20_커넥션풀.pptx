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81" r:id="rId3"/>
    <p:sldId id="282" r:id="rId4"/>
    <p:sldId id="286" r:id="rId5"/>
    <p:sldId id="283" r:id="rId6"/>
    <p:sldId id="287" r:id="rId7"/>
    <p:sldId id="284" r:id="rId8"/>
    <p:sldId id="28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20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 err="1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커넥션풀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20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400" spc="-150" dirty="0" err="1">
                <a:solidFill>
                  <a:srgbClr val="0070C0"/>
                </a:solidFill>
                <a:latin typeface="+mj-ea"/>
                <a:ea typeface="+mj-ea"/>
              </a:rPr>
              <a:t>커넥션풀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09012" y="3900173"/>
            <a:ext cx="4195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DAO, DTO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PreparedStatement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커넥션 풀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(DBCP)</a:t>
            </a: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4829373" y="4191501"/>
            <a:ext cx="2115670" cy="1765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DAO, DTO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DAO : Data Access Object</a:t>
            </a:r>
          </a:p>
          <a:p>
            <a:r>
              <a:rPr lang="en-US" altLang="ko-KR" sz="1100" dirty="0" smtClean="0">
                <a:latin typeface="+mn-ea"/>
              </a:rPr>
              <a:t>DTO : Data Transfer Object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jsp_20_1_ex1_daotoex)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878540" y="2129808"/>
            <a:ext cx="10183907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8540" y="1872899"/>
            <a:ext cx="101839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DAO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539" y="2144215"/>
            <a:ext cx="101839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데이터 베이스에 접속해서 데이터 추가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삭제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수정 등의 작업을 하는 클래스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일반적인 </a:t>
            </a:r>
            <a:r>
              <a:rPr lang="en-US" altLang="ko-KR" sz="1100" dirty="0" smtClean="0">
                <a:latin typeface="+mn-ea"/>
              </a:rPr>
              <a:t>JSP </a:t>
            </a:r>
            <a:r>
              <a:rPr lang="ko-KR" altLang="en-US" sz="1100" dirty="0" smtClean="0">
                <a:latin typeface="+mn-ea"/>
              </a:rPr>
              <a:t>혹은 </a:t>
            </a:r>
            <a:r>
              <a:rPr lang="en-US" altLang="ko-KR" sz="1100" dirty="0" smtClean="0">
                <a:latin typeface="+mn-ea"/>
              </a:rPr>
              <a:t>Servlet </a:t>
            </a:r>
            <a:r>
              <a:rPr lang="ko-KR" altLang="en-US" sz="1100" dirty="0" err="1" smtClean="0">
                <a:latin typeface="+mn-ea"/>
              </a:rPr>
              <a:t>페이지내에</a:t>
            </a:r>
            <a:r>
              <a:rPr lang="ko-KR" altLang="en-US" sz="1100" dirty="0" smtClean="0">
                <a:latin typeface="+mn-ea"/>
              </a:rPr>
              <a:t> 위의 </a:t>
            </a:r>
            <a:r>
              <a:rPr lang="ko-KR" altLang="en-US" sz="1100" dirty="0" err="1" smtClean="0">
                <a:latin typeface="+mn-ea"/>
              </a:rPr>
              <a:t>로직을</a:t>
            </a:r>
            <a:r>
              <a:rPr lang="ko-KR" altLang="en-US" sz="1100" dirty="0" smtClean="0">
                <a:latin typeface="+mn-ea"/>
              </a:rPr>
              <a:t> 함께 기술할 수 도 있지만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유지보수 및 코드의 모듈화를 위해 별도의 </a:t>
            </a:r>
            <a:r>
              <a:rPr lang="en-US" altLang="ko-KR" sz="1100" dirty="0" smtClean="0">
                <a:latin typeface="+mn-ea"/>
              </a:rPr>
              <a:t>DAO</a:t>
            </a:r>
            <a:r>
              <a:rPr lang="ko-KR" altLang="en-US" sz="1100" dirty="0" smtClean="0">
                <a:latin typeface="+mn-ea"/>
              </a:rPr>
              <a:t>클래스를 만들어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878540" y="3344224"/>
            <a:ext cx="10183907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78540" y="3087315"/>
            <a:ext cx="101839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DTO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539" y="3358631"/>
            <a:ext cx="101839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DAO</a:t>
            </a:r>
            <a:r>
              <a:rPr lang="ko-KR" altLang="en-US" sz="1100" dirty="0" smtClean="0">
                <a:latin typeface="+mn-ea"/>
              </a:rPr>
              <a:t>클래스를 이용하여 데이터 베이스에서 데이터를 관리할 때 데이터를 일반적인 변수에 할당하여 작업 </a:t>
            </a:r>
            <a:r>
              <a:rPr lang="ko-KR" altLang="en-US" sz="1100" dirty="0" err="1" smtClean="0">
                <a:latin typeface="+mn-ea"/>
              </a:rPr>
              <a:t>할수도</a:t>
            </a:r>
            <a:r>
              <a:rPr lang="ko-KR" altLang="en-US" sz="1100" dirty="0" smtClean="0">
                <a:latin typeface="+mn-ea"/>
              </a:rPr>
              <a:t> 있지만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해당 데이터의 클래스를 만들어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646903" y="4507084"/>
            <a:ext cx="2115670" cy="1134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웹브라우저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8011843" y="4507084"/>
            <a:ext cx="2115670" cy="1134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DataBase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6008088" y="4881915"/>
            <a:ext cx="797859" cy="41228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DAO</a:t>
            </a:r>
            <a:endParaRPr lang="ko-KR" altLang="en-US" sz="1400" dirty="0"/>
          </a:p>
        </p:txBody>
      </p:sp>
      <p:sp>
        <p:nvSpPr>
          <p:cNvPr id="19" name="직사각형 18"/>
          <p:cNvSpPr/>
          <p:nvPr/>
        </p:nvSpPr>
        <p:spPr>
          <a:xfrm>
            <a:off x="5488278" y="5382461"/>
            <a:ext cx="797860" cy="41228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DTO</a:t>
            </a:r>
            <a:endParaRPr lang="ko-KR" altLang="en-US" sz="1400" dirty="0"/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3762573" y="4956492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6945043" y="4951953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53808" y="4230834"/>
            <a:ext cx="106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solidFill>
                  <a:schemeClr val="bg1"/>
                </a:solidFill>
                <a:latin typeface="+mn-ea"/>
              </a:rPr>
              <a:t>서버</a:t>
            </a:r>
            <a:endParaRPr lang="en-US" altLang="ko-KR" sz="2000" dirty="0" smtClean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6945043" y="5211953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3762573" y="5211953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4994355" y="4881914"/>
            <a:ext cx="797859" cy="41228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Servlet</a:t>
            </a:r>
          </a:p>
          <a:p>
            <a:pPr algn="ctr"/>
            <a:r>
              <a:rPr lang="en-US" altLang="ko-KR" sz="1400" dirty="0" smtClean="0"/>
              <a:t>JSP</a:t>
            </a:r>
            <a:endParaRPr lang="ko-KR" altLang="en-US" sz="1400" dirty="0"/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5270087" y="5313863"/>
            <a:ext cx="192021" cy="29440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V="1">
            <a:off x="6324961" y="5321358"/>
            <a:ext cx="282315" cy="27790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H="1" flipV="1">
            <a:off x="5231264" y="5382462"/>
            <a:ext cx="162020" cy="25472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H="1">
            <a:off x="6324961" y="5460310"/>
            <a:ext cx="289166" cy="26975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54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err="1">
                <a:latin typeface="+mn-ea"/>
              </a:rPr>
              <a:t>PreparedStatement</a:t>
            </a:r>
            <a:r>
              <a:rPr lang="ko-KR" altLang="en-US" sz="1600" b="1" dirty="0">
                <a:latin typeface="+mn-ea"/>
              </a:rPr>
              <a:t>객체 살펴보기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SQL</a:t>
            </a:r>
            <a:r>
              <a:rPr lang="ko-KR" altLang="en-US" sz="1100" dirty="0" smtClean="0">
                <a:latin typeface="+mn-ea"/>
              </a:rPr>
              <a:t>문 실행을 위해 </a:t>
            </a:r>
            <a:r>
              <a:rPr lang="en-US" altLang="ko-KR" sz="1100" dirty="0" smtClean="0">
                <a:latin typeface="+mn-ea"/>
              </a:rPr>
              <a:t>Statement</a:t>
            </a:r>
            <a:r>
              <a:rPr lang="ko-KR" altLang="en-US" sz="1100" dirty="0" smtClean="0">
                <a:latin typeface="+mn-ea"/>
              </a:rPr>
              <a:t>객체를 이용 하였습니다</a:t>
            </a:r>
            <a:r>
              <a:rPr lang="en-US" altLang="ko-KR" sz="1100" dirty="0" smtClean="0">
                <a:latin typeface="+mn-ea"/>
              </a:rPr>
              <a:t>. Statement</a:t>
            </a:r>
            <a:r>
              <a:rPr lang="ko-KR" altLang="en-US" sz="1100" dirty="0" smtClean="0">
                <a:latin typeface="+mn-ea"/>
              </a:rPr>
              <a:t>객체의 경우 중복코드가 많아지는 단점이 있습니다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이러한 단점을 보완한 </a:t>
            </a:r>
            <a:r>
              <a:rPr lang="en-US" altLang="ko-KR" sz="1100" dirty="0" err="1" smtClean="0">
                <a:latin typeface="+mn-ea"/>
              </a:rPr>
              <a:t>PreparedStatement</a:t>
            </a:r>
            <a:r>
              <a:rPr lang="ko-KR" altLang="en-US" sz="1100" dirty="0" smtClean="0">
                <a:latin typeface="+mn-ea"/>
              </a:rPr>
              <a:t>객체에 대해서 살펴 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jsp_20_2_ex1_preparedex</a:t>
            </a:r>
            <a:r>
              <a:rPr lang="en-US" altLang="ko-KR" sz="1100" dirty="0">
                <a:latin typeface="+mn-ea"/>
              </a:rPr>
              <a:t>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59" y="2165741"/>
            <a:ext cx="8128011" cy="30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8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err="1">
                <a:latin typeface="+mn-ea"/>
              </a:rPr>
              <a:t>PreparedStatement</a:t>
            </a:r>
            <a:r>
              <a:rPr lang="ko-KR" altLang="en-US" sz="1600" b="1" dirty="0">
                <a:latin typeface="+mn-ea"/>
              </a:rPr>
              <a:t>객체 살펴보기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483" y="2412395"/>
            <a:ext cx="8982075" cy="3486150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3671309" y="2633448"/>
            <a:ext cx="203938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5772237" y="2633448"/>
            <a:ext cx="22248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89978" y="1816940"/>
            <a:ext cx="11254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요청처리객체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98312" y="1816940"/>
            <a:ext cx="11254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응답처리객체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4652685" y="2078550"/>
            <a:ext cx="0" cy="34316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6861019" y="2078550"/>
            <a:ext cx="0" cy="34316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H="1">
            <a:off x="5468473" y="3341265"/>
            <a:ext cx="829839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69405" y="3210460"/>
            <a:ext cx="2430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 smtClean="0">
                <a:latin typeface="+mn-ea"/>
              </a:rPr>
              <a:t>웹브라우저에</a:t>
            </a:r>
            <a:r>
              <a:rPr lang="ko-KR" altLang="en-US" sz="1100" dirty="0" smtClean="0">
                <a:latin typeface="+mn-ea"/>
              </a:rPr>
              <a:t> 출력하기 위한 </a:t>
            </a:r>
            <a:r>
              <a:rPr lang="ko-KR" altLang="en-US" sz="1100" dirty="0" err="1" smtClean="0">
                <a:latin typeface="+mn-ea"/>
              </a:rPr>
              <a:t>스트림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5468473" y="3805915"/>
            <a:ext cx="829839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69405" y="3675110"/>
            <a:ext cx="49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html</a:t>
            </a:r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1858298" y="2741497"/>
            <a:ext cx="37399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6415" y="2610692"/>
            <a:ext cx="1031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smtClean="0">
                <a:latin typeface="+mn-ea"/>
              </a:rPr>
              <a:t>Console </a:t>
            </a:r>
            <a:r>
              <a:rPr lang="ko-KR" altLang="en-US" sz="1100" dirty="0" smtClean="0">
                <a:latin typeface="+mn-ea"/>
              </a:rPr>
              <a:t>출력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89978" y="2975642"/>
            <a:ext cx="241110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(“</a:t>
            </a:r>
            <a:r>
              <a:rPr lang="en-US" altLang="ko-KR" sz="1400" dirty="0" smtClean="0">
                <a:solidFill>
                  <a:srgbClr val="0000FF"/>
                </a:solidFill>
              </a:rPr>
              <a:t>text/html; charset=utf-8</a:t>
            </a:r>
            <a:r>
              <a:rPr lang="en-US" altLang="ko-KR" sz="1400" dirty="0" smtClean="0"/>
              <a:t>”);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5491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커넥션 풀</a:t>
            </a:r>
            <a:r>
              <a:rPr lang="en-US" altLang="ko-KR" sz="1600" b="1" dirty="0" smtClean="0">
                <a:latin typeface="+mn-ea"/>
              </a:rPr>
              <a:t>(DBCP)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클라이언트에서 다수의 요청이 발생할 경우 데이터베이스에 부하가 발생하게 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이러한 문제를 해결 하기 위해서 커넥션 풀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en-US" altLang="ko-KR" sz="1100" dirty="0" err="1" smtClean="0">
                <a:latin typeface="+mn-ea"/>
              </a:rPr>
              <a:t>DataBase</a:t>
            </a:r>
            <a:r>
              <a:rPr lang="en-US" altLang="ko-KR" sz="1100" dirty="0" smtClean="0">
                <a:latin typeface="+mn-ea"/>
              </a:rPr>
              <a:t> Connection Pool)</a:t>
            </a:r>
            <a:r>
              <a:rPr lang="ko-KR" altLang="en-US" sz="1100" dirty="0" smtClean="0">
                <a:latin typeface="+mn-ea"/>
              </a:rPr>
              <a:t>기법을 이용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jsp_20_3_ex1_cpex)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415844" y="2182761"/>
            <a:ext cx="2045110" cy="56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웹브라우저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415844" y="2895103"/>
            <a:ext cx="2045110" cy="56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웹브라우저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415844" y="3590640"/>
            <a:ext cx="2045110" cy="56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웹브라우저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415844" y="4302982"/>
            <a:ext cx="2045110" cy="56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웹브라우저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415844" y="3593981"/>
            <a:ext cx="2045110" cy="56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웹브라우저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415844" y="5011983"/>
            <a:ext cx="2045110" cy="560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웹브라우저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4883204" y="2939849"/>
            <a:ext cx="2045110" cy="1863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서버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/>
              <a:t>(DBCP)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8350564" y="3242871"/>
            <a:ext cx="2045110" cy="1255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DataBase</a:t>
            </a:r>
            <a:endParaRPr lang="ko-KR" altLang="en-US" dirty="0"/>
          </a:p>
        </p:txBody>
      </p:sp>
      <p:cxnSp>
        <p:nvCxnSpPr>
          <p:cNvPr id="17" name="직선 화살표 연결선 16"/>
          <p:cNvCxnSpPr>
            <a:stCxn id="4" idx="3"/>
            <a:endCxn id="13" idx="1"/>
          </p:cNvCxnSpPr>
          <p:nvPr/>
        </p:nvCxnSpPr>
        <p:spPr>
          <a:xfrm>
            <a:off x="3460954" y="2462981"/>
            <a:ext cx="1422250" cy="140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8" idx="3"/>
            <a:endCxn id="13" idx="1"/>
          </p:cNvCxnSpPr>
          <p:nvPr/>
        </p:nvCxnSpPr>
        <p:spPr>
          <a:xfrm>
            <a:off x="3460954" y="3175323"/>
            <a:ext cx="1422250" cy="696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9" idx="3"/>
            <a:endCxn id="13" idx="1"/>
          </p:cNvCxnSpPr>
          <p:nvPr/>
        </p:nvCxnSpPr>
        <p:spPr>
          <a:xfrm>
            <a:off x="3460954" y="3870860"/>
            <a:ext cx="1422250" cy="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10" idx="3"/>
            <a:endCxn id="13" idx="1"/>
          </p:cNvCxnSpPr>
          <p:nvPr/>
        </p:nvCxnSpPr>
        <p:spPr>
          <a:xfrm flipV="1">
            <a:off x="3460954" y="3871749"/>
            <a:ext cx="1422250" cy="711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2" idx="3"/>
            <a:endCxn id="13" idx="1"/>
          </p:cNvCxnSpPr>
          <p:nvPr/>
        </p:nvCxnSpPr>
        <p:spPr>
          <a:xfrm flipV="1">
            <a:off x="3460954" y="3871749"/>
            <a:ext cx="1422250" cy="1420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6931516" y="3869082"/>
            <a:ext cx="1422250" cy="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26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커넥션 풀</a:t>
            </a:r>
            <a:r>
              <a:rPr lang="en-US" altLang="ko-KR" sz="1600" b="1" dirty="0" smtClean="0">
                <a:latin typeface="+mn-ea"/>
              </a:rPr>
              <a:t>(DBCP)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289904"/>
            <a:ext cx="1067679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WAS</a:t>
            </a:r>
            <a:r>
              <a:rPr lang="ko-KR" altLang="en-US" dirty="0">
                <a:latin typeface="+mn-ea"/>
              </a:rPr>
              <a:t>가 </a:t>
            </a:r>
            <a:r>
              <a:rPr lang="ko-KR" altLang="en-US" dirty="0" smtClean="0">
                <a:latin typeface="+mn-ea"/>
              </a:rPr>
              <a:t>실행될 때 </a:t>
            </a:r>
            <a:r>
              <a:rPr lang="en-US" altLang="ko-KR" dirty="0" smtClean="0">
                <a:latin typeface="+mn-ea"/>
              </a:rPr>
              <a:t>DB</a:t>
            </a:r>
            <a:r>
              <a:rPr lang="ko-KR" altLang="en-US" dirty="0">
                <a:latin typeface="+mn-ea"/>
              </a:rPr>
              <a:t>와 미리 커넥션을 연결해 놓은 객체들을 </a:t>
            </a:r>
            <a:r>
              <a:rPr lang="en-US" altLang="ko-KR" dirty="0">
                <a:latin typeface="+mn-ea"/>
              </a:rPr>
              <a:t>pool</a:t>
            </a:r>
            <a:r>
              <a:rPr lang="ko-KR" altLang="en-US" dirty="0">
                <a:latin typeface="+mn-ea"/>
              </a:rPr>
              <a:t>에 저장해 두고</a:t>
            </a:r>
            <a:r>
              <a:rPr lang="en-US" altLang="ko-KR" dirty="0">
                <a:latin typeface="+mn-ea"/>
              </a:rPr>
              <a:t>,</a:t>
            </a:r>
          </a:p>
          <a:p>
            <a:r>
              <a:rPr lang="ko-KR" altLang="en-US" dirty="0" smtClean="0">
                <a:latin typeface="+mn-ea"/>
              </a:rPr>
              <a:t>클라이언트 </a:t>
            </a:r>
            <a:r>
              <a:rPr lang="ko-KR" altLang="en-US" dirty="0">
                <a:latin typeface="+mn-ea"/>
              </a:rPr>
              <a:t>요청이 오면 </a:t>
            </a:r>
            <a:r>
              <a:rPr lang="ko-KR" altLang="en-US" dirty="0" smtClean="0">
                <a:latin typeface="+mn-ea"/>
              </a:rPr>
              <a:t>커넥션 주고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처리 </a:t>
            </a:r>
            <a:r>
              <a:rPr lang="ko-KR" altLang="en-US" dirty="0" err="1" smtClean="0">
                <a:latin typeface="+mn-ea"/>
              </a:rPr>
              <a:t>완료후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반납받는</a:t>
            </a:r>
            <a:r>
              <a:rPr lang="ko-KR" altLang="en-US" dirty="0" smtClean="0">
                <a:latin typeface="+mn-ea"/>
              </a:rPr>
              <a:t> 방식</a:t>
            </a:r>
            <a:endParaRPr lang="en-US" altLang="ko-KR" dirty="0">
              <a:latin typeface="+mn-ea"/>
            </a:endParaRPr>
          </a:p>
        </p:txBody>
      </p:sp>
      <p:pic>
        <p:nvPicPr>
          <p:cNvPr id="1026" name="Picture 2" descr="https://blog.kakaocdn.net/dn/J6cuo/btrN5v5skGo/kGFrNzlyP1YkIKAiUPyc61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762" y="2355185"/>
            <a:ext cx="8052311" cy="415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4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커넥션 풀</a:t>
            </a:r>
            <a:r>
              <a:rPr lang="en-US" altLang="ko-KR" sz="1600" b="1" dirty="0" smtClean="0">
                <a:latin typeface="+mn-ea"/>
              </a:rPr>
              <a:t>(DBCP)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8381" y="1420306"/>
            <a:ext cx="66639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tomcat</a:t>
            </a:r>
            <a:r>
              <a:rPr lang="ko-KR" altLang="en-US" sz="1100" dirty="0" smtClean="0">
                <a:latin typeface="+mn-ea"/>
              </a:rPr>
              <a:t>컨테이너가 데이터베이스 인증을 하도록 </a:t>
            </a:r>
            <a:r>
              <a:rPr lang="en-US" altLang="ko-KR" sz="1100" dirty="0" smtClean="0">
                <a:latin typeface="+mn-ea"/>
              </a:rPr>
              <a:t>context.xml </a:t>
            </a:r>
            <a:r>
              <a:rPr lang="ko-KR" altLang="en-US" sz="1100" dirty="0" smtClean="0">
                <a:latin typeface="+mn-ea"/>
              </a:rPr>
              <a:t>파일을 열러 아래의 코드를 추가 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349" y="2006972"/>
            <a:ext cx="4236514" cy="629752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349" y="3246034"/>
            <a:ext cx="4279451" cy="579658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9399639" y="2321848"/>
            <a:ext cx="737419" cy="314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9399638" y="3544937"/>
            <a:ext cx="737419" cy="314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11316930" y="2164410"/>
            <a:ext cx="401934" cy="314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>
            <a:stCxn id="19" idx="2"/>
          </p:cNvCxnSpPr>
          <p:nvPr/>
        </p:nvCxnSpPr>
        <p:spPr>
          <a:xfrm>
            <a:off x="9768349" y="2636724"/>
            <a:ext cx="4916" cy="908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188" y="1953426"/>
            <a:ext cx="4724400" cy="34861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482348" y="4212574"/>
            <a:ext cx="4279451" cy="219290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50" dirty="0" smtClean="0"/>
              <a:t>&lt;</a:t>
            </a:r>
            <a:r>
              <a:rPr lang="en-US" altLang="ko-KR" sz="1050" dirty="0"/>
              <a:t>Context&gt;</a:t>
            </a:r>
          </a:p>
          <a:p>
            <a:r>
              <a:rPr lang="en-US" altLang="ko-KR" sz="1050" dirty="0" smtClean="0"/>
              <a:t>&lt;</a:t>
            </a:r>
            <a:r>
              <a:rPr lang="en-US" altLang="ko-KR" sz="1050" dirty="0"/>
              <a:t>Resource </a:t>
            </a:r>
          </a:p>
          <a:p>
            <a:r>
              <a:rPr lang="en-US" altLang="ko-KR" sz="1050" dirty="0" err="1"/>
              <a:t>auth</a:t>
            </a:r>
            <a:r>
              <a:rPr lang="en-US" altLang="ko-KR" sz="1050" dirty="0"/>
              <a:t>=</a:t>
            </a:r>
            <a:r>
              <a:rPr lang="en-US" altLang="ko-KR" sz="1050" i="1" dirty="0"/>
              <a:t>"Container"</a:t>
            </a:r>
            <a:endParaRPr lang="en-US" altLang="ko-KR" sz="1050" dirty="0"/>
          </a:p>
          <a:p>
            <a:r>
              <a:rPr lang="en-US" altLang="ko-KR" sz="1050" dirty="0" err="1"/>
              <a:t>driverClassName</a:t>
            </a:r>
            <a:r>
              <a:rPr lang="en-US" altLang="ko-KR" sz="1050" dirty="0"/>
              <a:t> = </a:t>
            </a:r>
            <a:r>
              <a:rPr lang="en-US" altLang="ko-KR" sz="1050" i="1" dirty="0"/>
              <a:t>"</a:t>
            </a:r>
            <a:r>
              <a:rPr lang="en-US" altLang="ko-KR" sz="1050" i="1" dirty="0" err="1"/>
              <a:t>oracle.jdbc.driver.OracleDriver</a:t>
            </a:r>
            <a:r>
              <a:rPr lang="en-US" altLang="ko-KR" sz="1050" i="1" dirty="0"/>
              <a:t>"</a:t>
            </a:r>
            <a:endParaRPr lang="en-US" altLang="ko-KR" sz="1050" dirty="0"/>
          </a:p>
          <a:p>
            <a:r>
              <a:rPr lang="en-US" altLang="ko-KR" sz="1050" dirty="0" err="1"/>
              <a:t>url</a:t>
            </a:r>
            <a:r>
              <a:rPr lang="en-US" altLang="ko-KR" sz="1050" dirty="0"/>
              <a:t> = </a:t>
            </a:r>
            <a:r>
              <a:rPr lang="en-US" altLang="ko-KR" sz="1050" i="1" dirty="0"/>
              <a:t>"</a:t>
            </a:r>
            <a:r>
              <a:rPr lang="en-US" altLang="ko-KR" sz="1050" i="1" dirty="0" err="1"/>
              <a:t>jdbc:oracle:thin</a:t>
            </a:r>
            <a:r>
              <a:rPr lang="en-US" altLang="ko-KR" sz="1050" i="1" dirty="0"/>
              <a:t>:@localhost:1521:xe"</a:t>
            </a:r>
            <a:endParaRPr lang="en-US" altLang="ko-KR" sz="1050" dirty="0"/>
          </a:p>
          <a:p>
            <a:r>
              <a:rPr lang="en-US" altLang="ko-KR" sz="1050" dirty="0"/>
              <a:t>username = </a:t>
            </a:r>
            <a:r>
              <a:rPr lang="en-US" altLang="ko-KR" sz="1050" i="1" dirty="0"/>
              <a:t>"</a:t>
            </a:r>
            <a:r>
              <a:rPr lang="en-US" altLang="ko-KR" sz="1050" i="1" dirty="0" err="1"/>
              <a:t>ora_user</a:t>
            </a:r>
            <a:r>
              <a:rPr lang="en-US" altLang="ko-KR" sz="1050" i="1" dirty="0"/>
              <a:t>"</a:t>
            </a:r>
            <a:endParaRPr lang="en-US" altLang="ko-KR" sz="1050" dirty="0"/>
          </a:p>
          <a:p>
            <a:r>
              <a:rPr lang="en-US" altLang="ko-KR" sz="1050" dirty="0"/>
              <a:t>password = </a:t>
            </a:r>
            <a:r>
              <a:rPr lang="en-US" altLang="ko-KR" sz="1050" i="1" dirty="0"/>
              <a:t>"1111"</a:t>
            </a:r>
            <a:endParaRPr lang="en-US" altLang="ko-KR" sz="1050" dirty="0"/>
          </a:p>
          <a:p>
            <a:r>
              <a:rPr lang="en-US" altLang="ko-KR" sz="1050" dirty="0"/>
              <a:t>name = </a:t>
            </a:r>
            <a:r>
              <a:rPr lang="en-US" altLang="ko-KR" sz="1050" i="1" dirty="0"/>
              <a:t>"</a:t>
            </a:r>
            <a:r>
              <a:rPr lang="en-US" altLang="ko-KR" sz="1050" i="1" dirty="0" err="1"/>
              <a:t>jdbc</a:t>
            </a:r>
            <a:r>
              <a:rPr lang="en-US" altLang="ko-KR" sz="1050" i="1" dirty="0"/>
              <a:t>/Oracle18"</a:t>
            </a:r>
            <a:endParaRPr lang="en-US" altLang="ko-KR" sz="1050" dirty="0"/>
          </a:p>
          <a:p>
            <a:r>
              <a:rPr lang="en-US" altLang="ko-KR" sz="1050" dirty="0"/>
              <a:t>type = </a:t>
            </a:r>
            <a:r>
              <a:rPr lang="en-US" altLang="ko-KR" sz="1050" i="1" dirty="0"/>
              <a:t>"</a:t>
            </a:r>
            <a:r>
              <a:rPr lang="en-US" altLang="ko-KR" sz="1050" i="1" dirty="0" err="1"/>
              <a:t>javax.sql.DataSource</a:t>
            </a:r>
            <a:r>
              <a:rPr lang="en-US" altLang="ko-KR" sz="1050" i="1" dirty="0"/>
              <a:t>"</a:t>
            </a:r>
            <a:endParaRPr lang="en-US" altLang="ko-KR" sz="1050" dirty="0"/>
          </a:p>
          <a:p>
            <a:r>
              <a:rPr lang="en-US" altLang="ko-KR" sz="1050" dirty="0" err="1"/>
              <a:t>maxActive</a:t>
            </a:r>
            <a:r>
              <a:rPr lang="en-US" altLang="ko-KR" sz="1050" dirty="0"/>
              <a:t>=</a:t>
            </a:r>
            <a:r>
              <a:rPr lang="en-US" altLang="ko-KR" sz="1050" i="1" dirty="0"/>
              <a:t>"50"</a:t>
            </a:r>
            <a:endParaRPr lang="en-US" altLang="ko-KR" sz="1050" dirty="0"/>
          </a:p>
          <a:p>
            <a:r>
              <a:rPr lang="en-US" altLang="ko-KR" sz="1050" dirty="0" err="1"/>
              <a:t>maxWait</a:t>
            </a:r>
            <a:r>
              <a:rPr lang="en-US" altLang="ko-KR" sz="1050" dirty="0"/>
              <a:t>=</a:t>
            </a:r>
            <a:r>
              <a:rPr lang="en-US" altLang="ko-KR" sz="1050" i="1" dirty="0"/>
              <a:t>"1000"</a:t>
            </a:r>
            <a:endParaRPr lang="en-US" altLang="ko-KR" sz="1050" dirty="0"/>
          </a:p>
          <a:p>
            <a:r>
              <a:rPr lang="en-US" altLang="ko-KR" sz="1050" dirty="0"/>
              <a:t>/&gt;</a:t>
            </a:r>
          </a:p>
          <a:p>
            <a:r>
              <a:rPr lang="en-US" altLang="ko-KR" sz="1050" dirty="0" smtClean="0"/>
              <a:t>&lt;/</a:t>
            </a:r>
            <a:r>
              <a:rPr lang="en-US" altLang="ko-KR" sz="1050" dirty="0"/>
              <a:t>Context&gt;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15326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커넥션 풀</a:t>
            </a:r>
            <a:r>
              <a:rPr lang="en-US" altLang="ko-KR" sz="1600" b="1" dirty="0" smtClean="0">
                <a:latin typeface="+mn-ea"/>
              </a:rPr>
              <a:t>(DBCP)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889686" y="1545962"/>
            <a:ext cx="10173729" cy="480131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&lt;%@ page import="</a:t>
            </a:r>
            <a:r>
              <a:rPr lang="en-US" altLang="ko-KR" dirty="0" err="1"/>
              <a:t>java.sql</a:t>
            </a:r>
            <a:r>
              <a:rPr lang="en-US" altLang="ko-KR" dirty="0"/>
              <a:t>.*" %&gt;</a:t>
            </a:r>
          </a:p>
          <a:p>
            <a:r>
              <a:rPr lang="en-US" altLang="ko-KR" dirty="0"/>
              <a:t>&lt;%@ page import="</a:t>
            </a:r>
            <a:r>
              <a:rPr lang="en-US" altLang="ko-KR" dirty="0" err="1"/>
              <a:t>javax.sql</a:t>
            </a:r>
            <a:r>
              <a:rPr lang="en-US" altLang="ko-KR" dirty="0"/>
              <a:t>.*" %&gt;</a:t>
            </a:r>
          </a:p>
          <a:p>
            <a:r>
              <a:rPr lang="en-US" altLang="ko-KR" dirty="0"/>
              <a:t>&lt;%@ page import="</a:t>
            </a:r>
            <a:r>
              <a:rPr lang="en-US" altLang="ko-KR" dirty="0" err="1"/>
              <a:t>javax.naming</a:t>
            </a:r>
            <a:r>
              <a:rPr lang="en-US" altLang="ko-KR" dirty="0"/>
              <a:t>.*" %&gt;</a:t>
            </a:r>
          </a:p>
          <a:p>
            <a:r>
              <a:rPr lang="en-US" altLang="ko-KR" dirty="0"/>
              <a:t>&lt;%</a:t>
            </a:r>
          </a:p>
          <a:p>
            <a:r>
              <a:rPr lang="en-US" altLang="ko-KR" dirty="0"/>
              <a:t>	Connection conn = null;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try{</a:t>
            </a:r>
          </a:p>
          <a:p>
            <a:r>
              <a:rPr lang="en-US" altLang="ko-KR" dirty="0"/>
              <a:t>		Context </a:t>
            </a:r>
            <a:r>
              <a:rPr lang="en-US" altLang="ko-KR" dirty="0" err="1"/>
              <a:t>init</a:t>
            </a:r>
            <a:r>
              <a:rPr lang="en-US" altLang="ko-KR" dirty="0"/>
              <a:t> = new </a:t>
            </a:r>
            <a:r>
              <a:rPr lang="en-US" altLang="ko-KR" dirty="0" err="1"/>
              <a:t>InitialContext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DataSource</a:t>
            </a:r>
            <a:r>
              <a:rPr lang="en-US" altLang="ko-KR" dirty="0"/>
              <a:t> ds = (</a:t>
            </a:r>
            <a:r>
              <a:rPr lang="en-US" altLang="ko-KR" dirty="0" err="1"/>
              <a:t>DataSource</a:t>
            </a:r>
            <a:r>
              <a:rPr lang="en-US" altLang="ko-KR" dirty="0"/>
              <a:t>) </a:t>
            </a:r>
            <a:r>
              <a:rPr lang="en-US" altLang="ko-KR" dirty="0" err="1"/>
              <a:t>init.lookup</a:t>
            </a:r>
            <a:r>
              <a:rPr lang="en-US" altLang="ko-KR" dirty="0"/>
              <a:t>("</a:t>
            </a:r>
            <a:r>
              <a:rPr lang="en-US" altLang="ko-KR" dirty="0" err="1" smtClean="0"/>
              <a:t>java:comp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env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jdbc</a:t>
            </a:r>
            <a:r>
              <a:rPr lang="en-US" altLang="ko-KR" dirty="0" smtClean="0"/>
              <a:t>/Oracle18");</a:t>
            </a:r>
            <a:endParaRPr lang="en-US" altLang="ko-KR" dirty="0"/>
          </a:p>
          <a:p>
            <a:r>
              <a:rPr lang="en-US" altLang="ko-KR" dirty="0"/>
              <a:t>		conn = </a:t>
            </a:r>
            <a:r>
              <a:rPr lang="en-US" altLang="ko-KR" dirty="0" err="1"/>
              <a:t>ds.getConnection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	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out.println</a:t>
            </a:r>
            <a:r>
              <a:rPr lang="en-US" altLang="ko-KR" dirty="0"/>
              <a:t>("&lt;h3&gt;</a:t>
            </a:r>
            <a:r>
              <a:rPr lang="ko-KR" altLang="en-US" dirty="0"/>
              <a:t>연결되었습니다</a:t>
            </a:r>
            <a:r>
              <a:rPr lang="en-US" altLang="ko-KR" dirty="0"/>
              <a:t>.&lt;/h3&gt;");</a:t>
            </a:r>
          </a:p>
          <a:p>
            <a:r>
              <a:rPr lang="en-US" altLang="ko-KR" dirty="0"/>
              <a:t>	} catch(Exception e){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out.println</a:t>
            </a:r>
            <a:r>
              <a:rPr lang="en-US" altLang="ko-KR" dirty="0"/>
              <a:t>("&lt;h3&gt;</a:t>
            </a:r>
            <a:r>
              <a:rPr lang="ko-KR" altLang="en-US" dirty="0"/>
              <a:t>실패</a:t>
            </a:r>
            <a:r>
              <a:rPr lang="en-US" altLang="ko-KR" dirty="0"/>
              <a:t>&lt;/h3&gt;");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e.printStackTrace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%&gt;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26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3996</TotalTime>
  <Words>345</Words>
  <Application>Microsoft Office PowerPoint</Application>
  <PresentationFormat>와이드스크린</PresentationFormat>
  <Paragraphs>87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KOREAVC Professor</cp:lastModifiedBy>
  <cp:revision>1176</cp:revision>
  <dcterms:created xsi:type="dcterms:W3CDTF">2014-12-01T08:37:15Z</dcterms:created>
  <dcterms:modified xsi:type="dcterms:W3CDTF">2023-11-17T07:04:21Z</dcterms:modified>
</cp:coreProperties>
</file>