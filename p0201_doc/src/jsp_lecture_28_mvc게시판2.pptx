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63" r:id="rId2"/>
    <p:sldId id="289" r:id="rId3"/>
    <p:sldId id="288" r:id="rId4"/>
    <p:sldId id="282" r:id="rId5"/>
    <p:sldId id="283" r:id="rId6"/>
    <p:sldId id="284" r:id="rId7"/>
    <p:sldId id="285" r:id="rId8"/>
    <p:sldId id="286" r:id="rId9"/>
    <p:sldId id="290" r:id="rId10"/>
    <p:sldId id="291" r:id="rId11"/>
    <p:sldId id="292" r:id="rId12"/>
    <p:sldId id="293" r:id="rId13"/>
    <p:sldId id="294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93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44449-C531-4B45-A8F0-BC06554877CA}" type="datetimeFigureOut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1ADE76-ADCE-4662-B118-A76299EC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2519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071360" y="176272"/>
            <a:ext cx="4509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28</a:t>
            </a:r>
            <a:r>
              <a:rPr lang="ko-KR" altLang="en-US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MVC</a:t>
            </a:r>
            <a:r>
              <a:rPr lang="ko-KR" altLang="en-US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패턴을 이용한 게시판 만들기 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( 2 )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96129" y="3701231"/>
            <a:ext cx="5708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28</a:t>
            </a:r>
            <a:r>
              <a:rPr lang="ko-KR" altLang="en-US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강</a:t>
            </a:r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. </a:t>
            </a:r>
            <a:r>
              <a:rPr lang="en-US" altLang="ko-KR" sz="2400" spc="-150" dirty="0">
                <a:solidFill>
                  <a:srgbClr val="0070C0"/>
                </a:solidFill>
                <a:latin typeface="+mj-ea"/>
                <a:ea typeface="+mj-ea"/>
              </a:rPr>
              <a:t>MVC</a:t>
            </a:r>
            <a:r>
              <a:rPr lang="ko-KR" altLang="en-US" sz="2400" spc="-150" dirty="0">
                <a:solidFill>
                  <a:srgbClr val="0070C0"/>
                </a:solidFill>
                <a:latin typeface="+mj-ea"/>
                <a:ea typeface="+mj-ea"/>
              </a:rPr>
              <a:t>패턴을 이용한 게시판 </a:t>
            </a:r>
            <a:r>
              <a:rPr lang="ko-KR" altLang="en-US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만들기 </a:t>
            </a:r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( 2 )</a:t>
            </a:r>
            <a:endParaRPr lang="ko-KR" altLang="en-US" sz="24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94229" y="4183637"/>
            <a:ext cx="31871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FrontController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만들기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Command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만들기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DTO(Data Transfer Object)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만들기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DAO(Data Access Object)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만들기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View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페이지 만들기</a:t>
            </a:r>
            <a:endParaRPr lang="ko-KR" altLang="en-US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MVC</a:t>
            </a:r>
            <a:r>
              <a:rPr lang="ko-KR" altLang="en-US" sz="1600" b="1" dirty="0">
                <a:latin typeface="+mn-ea"/>
              </a:rPr>
              <a:t>패턴의 이해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0972" y="1288195"/>
            <a:ext cx="9972519" cy="28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Model2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870972" y="1574268"/>
            <a:ext cx="1027732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59180" y="1583700"/>
            <a:ext cx="9972519" cy="28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MVC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에서 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Model, View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그리고 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Controller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가 모두 모듈화 되어 있는 형태 입니다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397165" y="3740718"/>
            <a:ext cx="2050471" cy="1256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클라이언트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(</a:t>
            </a:r>
            <a:r>
              <a:rPr lang="ko-KR" altLang="en-US" dirty="0" err="1" smtClean="0"/>
              <a:t>웹브라우저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4" name="직사각형 43"/>
          <p:cNvSpPr/>
          <p:nvPr/>
        </p:nvSpPr>
        <p:spPr>
          <a:xfrm>
            <a:off x="3533597" y="5008760"/>
            <a:ext cx="2050471" cy="1256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JSP</a:t>
            </a:r>
            <a:endParaRPr lang="ko-KR" altLang="en-US" sz="2400" dirty="0"/>
          </a:p>
        </p:txBody>
      </p:sp>
      <p:cxnSp>
        <p:nvCxnSpPr>
          <p:cNvPr id="45" name="직선 화살표 연결선 44"/>
          <p:cNvCxnSpPr>
            <a:endCxn id="56" idx="1"/>
          </p:cNvCxnSpPr>
          <p:nvPr/>
        </p:nvCxnSpPr>
        <p:spPr>
          <a:xfrm>
            <a:off x="5581494" y="2897585"/>
            <a:ext cx="1109575" cy="1471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10474036" y="3740717"/>
            <a:ext cx="1382899" cy="1256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DataBase</a:t>
            </a:r>
            <a:endParaRPr lang="ko-KR" altLang="en-US" dirty="0"/>
          </a:p>
        </p:txBody>
      </p:sp>
      <p:cxnSp>
        <p:nvCxnSpPr>
          <p:cNvPr id="47" name="직선 화살표 연결선 46"/>
          <p:cNvCxnSpPr/>
          <p:nvPr/>
        </p:nvCxnSpPr>
        <p:spPr>
          <a:xfrm>
            <a:off x="9725891" y="4285665"/>
            <a:ext cx="74814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 flipH="1">
            <a:off x="9725891" y="4535051"/>
            <a:ext cx="7481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/>
          <p:nvPr/>
        </p:nvCxnSpPr>
        <p:spPr>
          <a:xfrm flipH="1" flipV="1">
            <a:off x="5582781" y="3193090"/>
            <a:ext cx="1108288" cy="1467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533596" y="6315164"/>
            <a:ext cx="2050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View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670030" y="5066862"/>
            <a:ext cx="3054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Model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3533597" y="2429296"/>
            <a:ext cx="2050471" cy="1256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Servlet</a:t>
            </a:r>
            <a:endParaRPr lang="en-US" altLang="ko-KR" sz="2400" dirty="0" smtClean="0"/>
          </a:p>
        </p:txBody>
      </p:sp>
      <p:sp>
        <p:nvSpPr>
          <p:cNvPr id="53" name="TextBox 52"/>
          <p:cNvSpPr txBox="1"/>
          <p:nvPr/>
        </p:nvSpPr>
        <p:spPr>
          <a:xfrm>
            <a:off x="3533596" y="3755441"/>
            <a:ext cx="2050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Controller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cxnSp>
        <p:nvCxnSpPr>
          <p:cNvPr id="54" name="직선 화살표 연결선 53"/>
          <p:cNvCxnSpPr>
            <a:stCxn id="52" idx="2"/>
            <a:endCxn id="44" idx="0"/>
          </p:cNvCxnSpPr>
          <p:nvPr/>
        </p:nvCxnSpPr>
        <p:spPr>
          <a:xfrm>
            <a:off x="4558833" y="3685443"/>
            <a:ext cx="0" cy="1323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8341705" y="3740716"/>
            <a:ext cx="1382899" cy="1256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DAO</a:t>
            </a:r>
            <a:endParaRPr lang="ko-KR" altLang="en-US" dirty="0"/>
          </a:p>
        </p:txBody>
      </p:sp>
      <p:sp>
        <p:nvSpPr>
          <p:cNvPr id="56" name="직사각형 55"/>
          <p:cNvSpPr/>
          <p:nvPr/>
        </p:nvSpPr>
        <p:spPr>
          <a:xfrm>
            <a:off x="6691069" y="3740715"/>
            <a:ext cx="1382899" cy="1256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Service</a:t>
            </a:r>
            <a:endParaRPr lang="ko-KR" altLang="en-US" dirty="0"/>
          </a:p>
        </p:txBody>
      </p:sp>
      <p:cxnSp>
        <p:nvCxnSpPr>
          <p:cNvPr id="57" name="꺾인 연결선 56"/>
          <p:cNvCxnSpPr>
            <a:stCxn id="44" idx="1"/>
            <a:endCxn id="43" idx="2"/>
          </p:cNvCxnSpPr>
          <p:nvPr/>
        </p:nvCxnSpPr>
        <p:spPr>
          <a:xfrm rot="10800000">
            <a:off x="1422401" y="4996866"/>
            <a:ext cx="2111196" cy="63996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꺾인 연결선 57"/>
          <p:cNvCxnSpPr>
            <a:stCxn id="43" idx="0"/>
            <a:endCxn id="52" idx="1"/>
          </p:cNvCxnSpPr>
          <p:nvPr/>
        </p:nvCxnSpPr>
        <p:spPr>
          <a:xfrm rot="5400000" flipH="1" flipV="1">
            <a:off x="2136325" y="2343446"/>
            <a:ext cx="683348" cy="21111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/>
          <p:cNvSpPr/>
          <p:nvPr/>
        </p:nvSpPr>
        <p:spPr>
          <a:xfrm>
            <a:off x="7505867" y="2897585"/>
            <a:ext cx="1382899" cy="612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DTO</a:t>
            </a:r>
            <a:endParaRPr lang="ko-KR" alt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5896437" y="3042143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메소드</a:t>
            </a:r>
            <a:r>
              <a:rPr lang="ko-KR" altLang="en-US" dirty="0" smtClean="0"/>
              <a:t> 호출</a:t>
            </a:r>
            <a:endParaRPr lang="ko-KR" alt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5714470" y="4016448"/>
            <a:ext cx="8449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[ Return ]</a:t>
            </a:r>
          </a:p>
          <a:p>
            <a:r>
              <a:rPr lang="en-US" altLang="ko-KR" sz="1200" dirty="0" err="1" smtClean="0"/>
              <a:t>ArrayList</a:t>
            </a:r>
            <a:endParaRPr lang="en-US" altLang="ko-KR" sz="1200" dirty="0" smtClean="0"/>
          </a:p>
          <a:p>
            <a:r>
              <a:rPr lang="en-US" altLang="ko-KR" sz="1200" dirty="0" smtClean="0"/>
              <a:t>DTO</a:t>
            </a:r>
          </a:p>
          <a:p>
            <a:r>
              <a:rPr lang="en-US" altLang="ko-KR" sz="1200" dirty="0" err="1" smtClean="0"/>
              <a:t>int</a:t>
            </a:r>
            <a:endParaRPr lang="ko-KR" altLang="en-US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9543047" y="5227257"/>
            <a:ext cx="1113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 smtClean="0"/>
              <a:t>Resultset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err="1" smtClean="0"/>
              <a:t>int</a:t>
            </a:r>
            <a:endParaRPr lang="ko-KR" alt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9616496" y="3246692"/>
            <a:ext cx="966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 smtClean="0"/>
              <a:t>Sql</a:t>
            </a:r>
            <a:r>
              <a:rPr lang="ko-KR" altLang="en-US" dirty="0" smtClean="0"/>
              <a:t>구문</a:t>
            </a:r>
            <a:endParaRPr lang="ko-KR" altLang="en-US" dirty="0"/>
          </a:p>
        </p:txBody>
      </p:sp>
      <p:sp>
        <p:nvSpPr>
          <p:cNvPr id="64" name="왼쪽 중괄호 63"/>
          <p:cNvSpPr/>
          <p:nvPr/>
        </p:nvSpPr>
        <p:spPr>
          <a:xfrm>
            <a:off x="9322873" y="5132173"/>
            <a:ext cx="293623" cy="877179"/>
          </a:xfrm>
          <a:prstGeom prst="leftBrace">
            <a:avLst>
              <a:gd name="adj1" fmla="val 8333"/>
              <a:gd name="adj2" fmla="val 4906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253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>
                <a:latin typeface="+mn-ea"/>
              </a:rPr>
              <a:t>전체적인 컴포넌트 설계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모서리가 둥근 직사각형 66"/>
          <p:cNvSpPr/>
          <p:nvPr/>
        </p:nvSpPr>
        <p:spPr>
          <a:xfrm>
            <a:off x="86497" y="5417710"/>
            <a:ext cx="5678406" cy="1153874"/>
          </a:xfrm>
          <a:prstGeom prst="roundRect">
            <a:avLst>
              <a:gd name="adj" fmla="val 12934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모서리가 둥근 직사각형 69"/>
          <p:cNvSpPr/>
          <p:nvPr/>
        </p:nvSpPr>
        <p:spPr>
          <a:xfrm>
            <a:off x="5818909" y="1477818"/>
            <a:ext cx="6265999" cy="4878532"/>
          </a:xfrm>
          <a:prstGeom prst="roundRect">
            <a:avLst>
              <a:gd name="adj" fmla="val 4929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슬라이드 번호 개체 틀 2"/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C7ED37-DDEF-4DB7-963E-342CD9877B0B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2337502" y="3658783"/>
            <a:ext cx="6273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>
                <a:latin typeface="+mn-ea"/>
              </a:rPr>
              <a:t>요청</a:t>
            </a:r>
            <a:endParaRPr lang="en-US" altLang="ko-KR" sz="1200" dirty="0" smtClean="0">
              <a:latin typeface="+mn-ea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677008" y="3381269"/>
            <a:ext cx="1541785" cy="1070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클라이언트</a:t>
            </a:r>
            <a:endParaRPr lang="ko-KR" altLang="en-US" dirty="0"/>
          </a:p>
        </p:txBody>
      </p:sp>
      <p:sp>
        <p:nvSpPr>
          <p:cNvPr id="79" name="직사각형 78"/>
          <p:cNvSpPr/>
          <p:nvPr/>
        </p:nvSpPr>
        <p:spPr>
          <a:xfrm>
            <a:off x="3171826" y="3381269"/>
            <a:ext cx="1859040" cy="1070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FrontController</a:t>
            </a:r>
            <a:endParaRPr lang="ko-KR" altLang="en-US" dirty="0"/>
          </a:p>
        </p:txBody>
      </p:sp>
      <p:sp>
        <p:nvSpPr>
          <p:cNvPr id="81" name="직사각형 80"/>
          <p:cNvSpPr/>
          <p:nvPr/>
        </p:nvSpPr>
        <p:spPr>
          <a:xfrm>
            <a:off x="6174269" y="2102476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BList</a:t>
            </a:r>
            <a:r>
              <a:rPr lang="en-US" altLang="ko-KR" dirty="0" err="1"/>
              <a:t>Service</a:t>
            </a:r>
            <a:endParaRPr lang="ko-KR" altLang="en-US" dirty="0"/>
          </a:p>
        </p:txBody>
      </p:sp>
      <p:sp>
        <p:nvSpPr>
          <p:cNvPr id="82" name="직사각형 81"/>
          <p:cNvSpPr/>
          <p:nvPr/>
        </p:nvSpPr>
        <p:spPr>
          <a:xfrm>
            <a:off x="6174269" y="2554299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/>
              <a:t>BContentService</a:t>
            </a:r>
            <a:endParaRPr lang="ko-KR" altLang="en-US" sz="1400" dirty="0"/>
          </a:p>
        </p:txBody>
      </p:sp>
      <p:sp>
        <p:nvSpPr>
          <p:cNvPr id="83" name="직사각형 82"/>
          <p:cNvSpPr/>
          <p:nvPr/>
        </p:nvSpPr>
        <p:spPr>
          <a:xfrm>
            <a:off x="6174269" y="3006122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BwriteService</a:t>
            </a:r>
            <a:endParaRPr lang="ko-KR" altLang="en-US" dirty="0"/>
          </a:p>
        </p:txBody>
      </p:sp>
      <p:sp>
        <p:nvSpPr>
          <p:cNvPr id="84" name="직사각형 83"/>
          <p:cNvSpPr/>
          <p:nvPr/>
        </p:nvSpPr>
        <p:spPr>
          <a:xfrm>
            <a:off x="6174269" y="3457945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/>
              <a:t>BDeleteService</a:t>
            </a:r>
            <a:endParaRPr lang="ko-KR" altLang="en-US" sz="1600" dirty="0"/>
          </a:p>
        </p:txBody>
      </p:sp>
      <p:sp>
        <p:nvSpPr>
          <p:cNvPr id="85" name="직사각형 84"/>
          <p:cNvSpPr/>
          <p:nvPr/>
        </p:nvSpPr>
        <p:spPr>
          <a:xfrm>
            <a:off x="6174269" y="3909768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BReplyService</a:t>
            </a:r>
            <a:endParaRPr lang="ko-KR" altLang="en-US" dirty="0"/>
          </a:p>
        </p:txBody>
      </p:sp>
      <p:sp>
        <p:nvSpPr>
          <p:cNvPr id="98" name="직사각형 97"/>
          <p:cNvSpPr/>
          <p:nvPr/>
        </p:nvSpPr>
        <p:spPr>
          <a:xfrm>
            <a:off x="6174269" y="5745953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BDoReplyService</a:t>
            </a:r>
            <a:endParaRPr lang="ko-KR" altLang="en-US" dirty="0"/>
          </a:p>
        </p:txBody>
      </p:sp>
      <p:sp>
        <p:nvSpPr>
          <p:cNvPr id="99" name="직사각형 98"/>
          <p:cNvSpPr/>
          <p:nvPr/>
        </p:nvSpPr>
        <p:spPr>
          <a:xfrm>
            <a:off x="9172511" y="3380574"/>
            <a:ext cx="972832" cy="1070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DAO</a:t>
            </a:r>
            <a:endParaRPr lang="ko-KR" altLang="en-US" dirty="0"/>
          </a:p>
        </p:txBody>
      </p:sp>
      <p:sp>
        <p:nvSpPr>
          <p:cNvPr id="100" name="직사각형 99"/>
          <p:cNvSpPr/>
          <p:nvPr/>
        </p:nvSpPr>
        <p:spPr>
          <a:xfrm>
            <a:off x="10949566" y="3380573"/>
            <a:ext cx="972832" cy="1070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DB</a:t>
            </a:r>
            <a:endParaRPr lang="ko-KR" altLang="en-US" dirty="0"/>
          </a:p>
        </p:txBody>
      </p:sp>
      <p:cxnSp>
        <p:nvCxnSpPr>
          <p:cNvPr id="101" name="직선 화살표 연결선 100"/>
          <p:cNvCxnSpPr>
            <a:stCxn id="78" idx="3"/>
            <a:endCxn id="79" idx="1"/>
          </p:cNvCxnSpPr>
          <p:nvPr/>
        </p:nvCxnSpPr>
        <p:spPr>
          <a:xfrm>
            <a:off x="2218793" y="3916598"/>
            <a:ext cx="9530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/>
          <p:cNvCxnSpPr>
            <a:stCxn id="81" idx="3"/>
            <a:endCxn id="99" idx="1"/>
          </p:cNvCxnSpPr>
          <p:nvPr/>
        </p:nvCxnSpPr>
        <p:spPr>
          <a:xfrm>
            <a:off x="8224740" y="2305296"/>
            <a:ext cx="947771" cy="1610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/>
          <p:cNvCxnSpPr>
            <a:stCxn id="99" idx="3"/>
          </p:cNvCxnSpPr>
          <p:nvPr/>
        </p:nvCxnSpPr>
        <p:spPr>
          <a:xfrm>
            <a:off x="10145343" y="3915903"/>
            <a:ext cx="866008" cy="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/>
          <p:cNvCxnSpPr>
            <a:stCxn id="82" idx="3"/>
            <a:endCxn id="99" idx="1"/>
          </p:cNvCxnSpPr>
          <p:nvPr/>
        </p:nvCxnSpPr>
        <p:spPr>
          <a:xfrm>
            <a:off x="8224740" y="2757119"/>
            <a:ext cx="947771" cy="1158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/>
          <p:cNvCxnSpPr>
            <a:stCxn id="83" idx="3"/>
            <a:endCxn id="99" idx="1"/>
          </p:cNvCxnSpPr>
          <p:nvPr/>
        </p:nvCxnSpPr>
        <p:spPr>
          <a:xfrm>
            <a:off x="8224740" y="3208942"/>
            <a:ext cx="947771" cy="706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/>
          <p:cNvCxnSpPr>
            <a:stCxn id="84" idx="3"/>
            <a:endCxn id="99" idx="1"/>
          </p:cNvCxnSpPr>
          <p:nvPr/>
        </p:nvCxnSpPr>
        <p:spPr>
          <a:xfrm>
            <a:off x="8224740" y="3660765"/>
            <a:ext cx="947771" cy="255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/>
          <p:cNvCxnSpPr>
            <a:stCxn id="85" idx="3"/>
            <a:endCxn id="99" idx="1"/>
          </p:cNvCxnSpPr>
          <p:nvPr/>
        </p:nvCxnSpPr>
        <p:spPr>
          <a:xfrm flipV="1">
            <a:off x="8224740" y="3915903"/>
            <a:ext cx="947771" cy="196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/>
          <p:cNvCxnSpPr>
            <a:stCxn id="98" idx="3"/>
            <a:endCxn id="99" idx="1"/>
          </p:cNvCxnSpPr>
          <p:nvPr/>
        </p:nvCxnSpPr>
        <p:spPr>
          <a:xfrm flipV="1">
            <a:off x="8224740" y="3915903"/>
            <a:ext cx="947771" cy="2032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/>
          <p:cNvCxnSpPr>
            <a:stCxn id="79" idx="3"/>
            <a:endCxn id="81" idx="1"/>
          </p:cNvCxnSpPr>
          <p:nvPr/>
        </p:nvCxnSpPr>
        <p:spPr>
          <a:xfrm flipV="1">
            <a:off x="5030866" y="2305296"/>
            <a:ext cx="1143403" cy="1611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/>
          <p:cNvCxnSpPr>
            <a:stCxn id="79" idx="3"/>
            <a:endCxn id="82" idx="1"/>
          </p:cNvCxnSpPr>
          <p:nvPr/>
        </p:nvCxnSpPr>
        <p:spPr>
          <a:xfrm flipV="1">
            <a:off x="5030866" y="2757119"/>
            <a:ext cx="1143403" cy="1159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/>
          <p:cNvCxnSpPr>
            <a:stCxn id="79" idx="3"/>
            <a:endCxn id="83" idx="1"/>
          </p:cNvCxnSpPr>
          <p:nvPr/>
        </p:nvCxnSpPr>
        <p:spPr>
          <a:xfrm flipV="1">
            <a:off x="5030866" y="3208942"/>
            <a:ext cx="1143403" cy="7076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/>
          <p:cNvCxnSpPr>
            <a:stCxn id="79" idx="3"/>
            <a:endCxn id="84" idx="1"/>
          </p:cNvCxnSpPr>
          <p:nvPr/>
        </p:nvCxnSpPr>
        <p:spPr>
          <a:xfrm flipV="1">
            <a:off x="5030866" y="3660765"/>
            <a:ext cx="1143403" cy="255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/>
          <p:cNvCxnSpPr>
            <a:stCxn id="79" idx="3"/>
            <a:endCxn id="85" idx="1"/>
          </p:cNvCxnSpPr>
          <p:nvPr/>
        </p:nvCxnSpPr>
        <p:spPr>
          <a:xfrm>
            <a:off x="5030866" y="3916598"/>
            <a:ext cx="1143403" cy="195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/>
          <p:cNvCxnSpPr>
            <a:stCxn id="79" idx="3"/>
            <a:endCxn id="98" idx="1"/>
          </p:cNvCxnSpPr>
          <p:nvPr/>
        </p:nvCxnSpPr>
        <p:spPr>
          <a:xfrm>
            <a:off x="5030866" y="3916598"/>
            <a:ext cx="1143403" cy="2032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/>
          <p:cNvSpPr/>
          <p:nvPr/>
        </p:nvSpPr>
        <p:spPr>
          <a:xfrm>
            <a:off x="167330" y="5745955"/>
            <a:ext cx="1052480" cy="439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UI</a:t>
            </a:r>
            <a:r>
              <a:rPr lang="ko-KR" altLang="en-US" dirty="0" smtClean="0"/>
              <a:t>화면</a:t>
            </a:r>
            <a:endParaRPr lang="ko-KR" altLang="en-US" dirty="0"/>
          </a:p>
        </p:txBody>
      </p:sp>
      <p:sp>
        <p:nvSpPr>
          <p:cNvPr id="119" name="직사각형 118"/>
          <p:cNvSpPr/>
          <p:nvPr/>
        </p:nvSpPr>
        <p:spPr>
          <a:xfrm>
            <a:off x="1276380" y="5745955"/>
            <a:ext cx="1052480" cy="439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UI</a:t>
            </a:r>
            <a:r>
              <a:rPr lang="ko-KR" altLang="en-US" dirty="0" smtClean="0"/>
              <a:t>화면</a:t>
            </a:r>
            <a:endParaRPr lang="ko-KR" altLang="en-US" dirty="0"/>
          </a:p>
        </p:txBody>
      </p:sp>
      <p:sp>
        <p:nvSpPr>
          <p:cNvPr id="120" name="직사각형 119"/>
          <p:cNvSpPr/>
          <p:nvPr/>
        </p:nvSpPr>
        <p:spPr>
          <a:xfrm>
            <a:off x="2376622" y="5745954"/>
            <a:ext cx="1052480" cy="439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UI</a:t>
            </a:r>
            <a:r>
              <a:rPr lang="ko-KR" altLang="en-US" dirty="0" smtClean="0"/>
              <a:t>화면</a:t>
            </a:r>
            <a:endParaRPr lang="ko-KR" altLang="en-US" dirty="0"/>
          </a:p>
        </p:txBody>
      </p:sp>
      <p:sp>
        <p:nvSpPr>
          <p:cNvPr id="121" name="직사각형 120"/>
          <p:cNvSpPr/>
          <p:nvPr/>
        </p:nvSpPr>
        <p:spPr>
          <a:xfrm>
            <a:off x="4581536" y="5745953"/>
            <a:ext cx="1052480" cy="439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UI</a:t>
            </a:r>
            <a:r>
              <a:rPr lang="ko-KR" altLang="en-US" dirty="0" smtClean="0"/>
              <a:t>화면</a:t>
            </a:r>
            <a:endParaRPr lang="ko-KR" altLang="en-US" dirty="0"/>
          </a:p>
        </p:txBody>
      </p:sp>
      <p:cxnSp>
        <p:nvCxnSpPr>
          <p:cNvPr id="122" name="직선 화살표 연결선 121"/>
          <p:cNvCxnSpPr>
            <a:stCxn id="79" idx="2"/>
            <a:endCxn id="118" idx="0"/>
          </p:cNvCxnSpPr>
          <p:nvPr/>
        </p:nvCxnSpPr>
        <p:spPr>
          <a:xfrm flipH="1">
            <a:off x="693570" y="4451926"/>
            <a:ext cx="3407776" cy="1294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화살표 연결선 122"/>
          <p:cNvCxnSpPr>
            <a:stCxn id="79" idx="2"/>
            <a:endCxn id="119" idx="0"/>
          </p:cNvCxnSpPr>
          <p:nvPr/>
        </p:nvCxnSpPr>
        <p:spPr>
          <a:xfrm flipH="1">
            <a:off x="1802620" y="4451926"/>
            <a:ext cx="2298726" cy="1294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/>
          <p:cNvCxnSpPr>
            <a:stCxn id="79" idx="2"/>
            <a:endCxn id="120" idx="0"/>
          </p:cNvCxnSpPr>
          <p:nvPr/>
        </p:nvCxnSpPr>
        <p:spPr>
          <a:xfrm flipH="1">
            <a:off x="2902862" y="4451926"/>
            <a:ext cx="1198484" cy="1294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/>
          <p:cNvCxnSpPr>
            <a:stCxn id="79" idx="2"/>
            <a:endCxn id="121" idx="0"/>
          </p:cNvCxnSpPr>
          <p:nvPr/>
        </p:nvCxnSpPr>
        <p:spPr>
          <a:xfrm>
            <a:off x="4101346" y="4451926"/>
            <a:ext cx="1006430" cy="1294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1743551" y="4837178"/>
            <a:ext cx="6273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>
                <a:latin typeface="+mn-ea"/>
              </a:rPr>
              <a:t>응답</a:t>
            </a:r>
            <a:endParaRPr lang="en-US" altLang="ko-KR" sz="1200" dirty="0" smtClean="0">
              <a:latin typeface="+mn-ea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4915917" y="1758766"/>
            <a:ext cx="13349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 smtClean="0">
                <a:latin typeface="+mn-ea"/>
              </a:rPr>
              <a:t>로직</a:t>
            </a:r>
            <a:r>
              <a:rPr lang="ko-KR" altLang="en-US" sz="1200" dirty="0" smtClean="0">
                <a:latin typeface="+mn-ea"/>
              </a:rPr>
              <a:t> 실행 지시</a:t>
            </a:r>
            <a:endParaRPr lang="en-US" altLang="ko-KR" sz="1200" dirty="0" smtClean="0">
              <a:latin typeface="+mn-ea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329606" y="1089364"/>
            <a:ext cx="160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err="1" smtClean="0">
                <a:latin typeface="+mn-ea"/>
              </a:rPr>
              <a:t>로직</a:t>
            </a:r>
            <a:r>
              <a:rPr lang="ko-KR" altLang="en-US" b="1" dirty="0" smtClean="0">
                <a:latin typeface="+mn-ea"/>
              </a:rPr>
              <a:t> 실행</a:t>
            </a:r>
            <a:endParaRPr lang="en-US" altLang="ko-KR" b="1" dirty="0" smtClean="0">
              <a:latin typeface="+mn-ea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112836" y="5010572"/>
            <a:ext cx="1375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 smtClean="0">
                <a:latin typeface="+mn-ea"/>
              </a:rPr>
              <a:t>화</a:t>
            </a:r>
            <a:r>
              <a:rPr lang="ko-KR" altLang="en-US" sz="2000" b="1" dirty="0">
                <a:latin typeface="+mn-ea"/>
              </a:rPr>
              <a:t>면</a:t>
            </a:r>
            <a:r>
              <a:rPr lang="ko-KR" altLang="en-US" sz="2000" b="1" dirty="0" smtClean="0">
                <a:latin typeface="+mn-ea"/>
              </a:rPr>
              <a:t> </a:t>
            </a:r>
            <a:r>
              <a:rPr lang="en-US" altLang="ko-KR" sz="2000" b="1" dirty="0" smtClean="0">
                <a:latin typeface="+mn-ea"/>
              </a:rPr>
              <a:t>UI</a:t>
            </a:r>
          </a:p>
        </p:txBody>
      </p:sp>
      <p:sp>
        <p:nvSpPr>
          <p:cNvPr id="130" name="직사각형 129"/>
          <p:cNvSpPr/>
          <p:nvPr/>
        </p:nvSpPr>
        <p:spPr>
          <a:xfrm>
            <a:off x="10193577" y="2933238"/>
            <a:ext cx="695397" cy="35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DTO</a:t>
            </a:r>
            <a:endParaRPr lang="ko-KR" altLang="en-US" dirty="0"/>
          </a:p>
        </p:txBody>
      </p:sp>
      <p:sp>
        <p:nvSpPr>
          <p:cNvPr id="131" name="TextBox 130"/>
          <p:cNvSpPr txBox="1"/>
          <p:nvPr/>
        </p:nvSpPr>
        <p:spPr>
          <a:xfrm>
            <a:off x="6638058" y="1531791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 smtClean="0"/>
              <a:t>인터페이스</a:t>
            </a:r>
            <a:endParaRPr lang="en-US" altLang="ko-KR" sz="1600" dirty="0" smtClean="0"/>
          </a:p>
          <a:p>
            <a:pPr algn="ctr"/>
            <a:r>
              <a:rPr lang="en-US" altLang="ko-KR" sz="1600" dirty="0" smtClean="0"/>
              <a:t>Service</a:t>
            </a:r>
            <a:endParaRPr lang="ko-KR" altLang="en-US" sz="1600" dirty="0"/>
          </a:p>
        </p:txBody>
      </p:sp>
      <p:sp>
        <p:nvSpPr>
          <p:cNvPr id="132" name="TextBox 131"/>
          <p:cNvSpPr txBox="1"/>
          <p:nvPr/>
        </p:nvSpPr>
        <p:spPr>
          <a:xfrm>
            <a:off x="247612" y="6210787"/>
            <a:ext cx="875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List.jsp</a:t>
            </a:r>
            <a:endParaRPr lang="ko-KR" altLang="en-US" dirty="0"/>
          </a:p>
        </p:txBody>
      </p:sp>
      <p:sp>
        <p:nvSpPr>
          <p:cNvPr id="133" name="TextBox 132"/>
          <p:cNvSpPr txBox="1"/>
          <p:nvPr/>
        </p:nvSpPr>
        <p:spPr>
          <a:xfrm>
            <a:off x="9130074" y="2060427"/>
            <a:ext cx="94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/>
              <a:t>Select</a:t>
            </a:r>
          </a:p>
          <a:p>
            <a:pPr algn="ctr"/>
            <a:r>
              <a:rPr lang="en-US" altLang="ko-KR" dirty="0" smtClean="0"/>
              <a:t>Insert</a:t>
            </a:r>
          </a:p>
          <a:p>
            <a:pPr algn="ctr"/>
            <a:r>
              <a:rPr lang="en-US" altLang="ko-KR" dirty="0" smtClean="0"/>
              <a:t>Update</a:t>
            </a:r>
          </a:p>
          <a:p>
            <a:pPr algn="ctr"/>
            <a:r>
              <a:rPr lang="en-US" altLang="ko-KR" dirty="0" smtClean="0"/>
              <a:t>delete</a:t>
            </a:r>
            <a:endParaRPr lang="ko-KR" altLang="en-US" dirty="0"/>
          </a:p>
        </p:txBody>
      </p:sp>
      <p:sp>
        <p:nvSpPr>
          <p:cNvPr id="134" name="TextBox 133"/>
          <p:cNvSpPr txBox="1"/>
          <p:nvPr/>
        </p:nvSpPr>
        <p:spPr>
          <a:xfrm>
            <a:off x="3719896" y="2741377"/>
            <a:ext cx="9412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*.do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373483" y="6215147"/>
            <a:ext cx="8933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 smtClean="0"/>
              <a:t>view.jsp</a:t>
            </a:r>
            <a:endParaRPr lang="ko-KR" altLang="en-US" sz="1600" dirty="0"/>
          </a:p>
        </p:txBody>
      </p:sp>
      <p:sp>
        <p:nvSpPr>
          <p:cNvPr id="136" name="TextBox 135"/>
          <p:cNvSpPr txBox="1"/>
          <p:nvPr/>
        </p:nvSpPr>
        <p:spPr>
          <a:xfrm>
            <a:off x="2472501" y="6215147"/>
            <a:ext cx="9459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 smtClean="0"/>
              <a:t>write.jsp</a:t>
            </a:r>
            <a:endParaRPr lang="ko-KR" altLang="en-US" sz="1600" dirty="0"/>
          </a:p>
        </p:txBody>
      </p:sp>
      <p:sp>
        <p:nvSpPr>
          <p:cNvPr id="137" name="직사각형 136"/>
          <p:cNvSpPr/>
          <p:nvPr/>
        </p:nvSpPr>
        <p:spPr>
          <a:xfrm>
            <a:off x="6174269" y="4366044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/>
              <a:t>BUpdateService</a:t>
            </a:r>
            <a:endParaRPr lang="ko-KR" altLang="en-US" sz="1600" dirty="0"/>
          </a:p>
        </p:txBody>
      </p:sp>
      <p:sp>
        <p:nvSpPr>
          <p:cNvPr id="138" name="직사각형 137"/>
          <p:cNvSpPr/>
          <p:nvPr/>
        </p:nvSpPr>
        <p:spPr>
          <a:xfrm>
            <a:off x="6174269" y="4817867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/>
              <a:t>BDoUpdateService</a:t>
            </a:r>
            <a:endParaRPr lang="ko-KR" altLang="en-US" sz="1600" dirty="0"/>
          </a:p>
        </p:txBody>
      </p:sp>
      <p:sp>
        <p:nvSpPr>
          <p:cNvPr id="139" name="직사각형 138"/>
          <p:cNvSpPr/>
          <p:nvPr/>
        </p:nvSpPr>
        <p:spPr>
          <a:xfrm>
            <a:off x="6174269" y="5276520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BReplyService</a:t>
            </a:r>
            <a:endParaRPr lang="ko-KR" altLang="en-US" dirty="0"/>
          </a:p>
        </p:txBody>
      </p:sp>
      <p:sp>
        <p:nvSpPr>
          <p:cNvPr id="140" name="TextBox 139"/>
          <p:cNvSpPr txBox="1"/>
          <p:nvPr/>
        </p:nvSpPr>
        <p:spPr>
          <a:xfrm>
            <a:off x="4660770" y="6215147"/>
            <a:ext cx="9342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 smtClean="0"/>
              <a:t>reply.jsp</a:t>
            </a:r>
            <a:endParaRPr lang="ko-KR" altLang="en-US" sz="1600" dirty="0"/>
          </a:p>
        </p:txBody>
      </p:sp>
      <p:sp>
        <p:nvSpPr>
          <p:cNvPr id="141" name="직사각형 140"/>
          <p:cNvSpPr/>
          <p:nvPr/>
        </p:nvSpPr>
        <p:spPr>
          <a:xfrm>
            <a:off x="3476864" y="5745954"/>
            <a:ext cx="1052480" cy="439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UI</a:t>
            </a:r>
            <a:r>
              <a:rPr lang="ko-KR" altLang="en-US" dirty="0" smtClean="0"/>
              <a:t>화면</a:t>
            </a:r>
            <a:endParaRPr lang="ko-KR" altLang="en-US" dirty="0"/>
          </a:p>
        </p:txBody>
      </p:sp>
      <p:cxnSp>
        <p:nvCxnSpPr>
          <p:cNvPr id="142" name="직선 화살표 연결선 141"/>
          <p:cNvCxnSpPr>
            <a:stCxn id="79" idx="2"/>
            <a:endCxn id="141" idx="0"/>
          </p:cNvCxnSpPr>
          <p:nvPr/>
        </p:nvCxnSpPr>
        <p:spPr>
          <a:xfrm flipH="1">
            <a:off x="4003104" y="4451926"/>
            <a:ext cx="98242" cy="1294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3504064" y="6215147"/>
            <a:ext cx="11703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 smtClean="0"/>
              <a:t>Update.jsp</a:t>
            </a:r>
            <a:endParaRPr lang="ko-KR" altLang="en-US" sz="1600" dirty="0"/>
          </a:p>
        </p:txBody>
      </p:sp>
      <p:cxnSp>
        <p:nvCxnSpPr>
          <p:cNvPr id="144" name="직선 화살표 연결선 143"/>
          <p:cNvCxnSpPr>
            <a:stCxn id="79" idx="3"/>
            <a:endCxn id="137" idx="1"/>
          </p:cNvCxnSpPr>
          <p:nvPr/>
        </p:nvCxnSpPr>
        <p:spPr>
          <a:xfrm>
            <a:off x="5030866" y="3916598"/>
            <a:ext cx="1143403" cy="652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화살표 연결선 144"/>
          <p:cNvCxnSpPr>
            <a:stCxn id="79" idx="3"/>
            <a:endCxn id="138" idx="1"/>
          </p:cNvCxnSpPr>
          <p:nvPr/>
        </p:nvCxnSpPr>
        <p:spPr>
          <a:xfrm>
            <a:off x="5030866" y="3916598"/>
            <a:ext cx="1143403" cy="1104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/>
          <p:cNvCxnSpPr>
            <a:stCxn id="79" idx="3"/>
            <a:endCxn id="139" idx="1"/>
          </p:cNvCxnSpPr>
          <p:nvPr/>
        </p:nvCxnSpPr>
        <p:spPr>
          <a:xfrm>
            <a:off x="5030866" y="3916598"/>
            <a:ext cx="1143403" cy="1562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/>
          <p:cNvCxnSpPr>
            <a:stCxn id="137" idx="3"/>
            <a:endCxn id="99" idx="1"/>
          </p:cNvCxnSpPr>
          <p:nvPr/>
        </p:nvCxnSpPr>
        <p:spPr>
          <a:xfrm flipV="1">
            <a:off x="8224740" y="3915903"/>
            <a:ext cx="947771" cy="652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147"/>
          <p:cNvCxnSpPr>
            <a:stCxn id="138" idx="3"/>
            <a:endCxn id="99" idx="1"/>
          </p:cNvCxnSpPr>
          <p:nvPr/>
        </p:nvCxnSpPr>
        <p:spPr>
          <a:xfrm flipV="1">
            <a:off x="8224740" y="3915903"/>
            <a:ext cx="947771" cy="1104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/>
          <p:cNvCxnSpPr>
            <a:endCxn id="99" idx="1"/>
          </p:cNvCxnSpPr>
          <p:nvPr/>
        </p:nvCxnSpPr>
        <p:spPr>
          <a:xfrm flipV="1">
            <a:off x="8237270" y="3915903"/>
            <a:ext cx="935241" cy="1557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316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61" y="2091624"/>
            <a:ext cx="7328740" cy="434528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kern="1200" baseline="0" dirty="0" err="1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FrontController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만들기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클라이언트의 요청을 받는 역할을 하는 </a:t>
            </a:r>
            <a:r>
              <a:rPr lang="en-US" altLang="ko-KR" sz="1100" dirty="0" smtClean="0">
                <a:latin typeface="+mn-ea"/>
              </a:rPr>
              <a:t>Controller</a:t>
            </a:r>
            <a:r>
              <a:rPr lang="ko-KR" altLang="en-US" sz="1100" dirty="0" smtClean="0">
                <a:latin typeface="+mn-ea"/>
              </a:rPr>
              <a:t>를 만들어 봅니다</a:t>
            </a:r>
            <a:r>
              <a:rPr lang="en-US" altLang="ko-KR" sz="1100" dirty="0" smtClean="0">
                <a:latin typeface="+mn-ea"/>
              </a:rPr>
              <a:t>.(</a:t>
            </a:r>
            <a:r>
              <a:rPr lang="en-US" altLang="ko-KR" sz="1100" dirty="0" err="1" smtClean="0">
                <a:latin typeface="+mn-ea"/>
              </a:rPr>
              <a:t>BFrontController</a:t>
            </a:r>
            <a:r>
              <a:rPr lang="en-US" altLang="ko-KR" sz="1100" dirty="0" smtClean="0">
                <a:latin typeface="+mn-ea"/>
              </a:rPr>
              <a:t>)</a:t>
            </a:r>
          </a:p>
          <a:p>
            <a:r>
              <a:rPr lang="ko-KR" altLang="en-US" sz="1100" dirty="0" smtClean="0">
                <a:latin typeface="+mn-ea"/>
              </a:rPr>
              <a:t>전체적인 예제는 </a:t>
            </a:r>
            <a:r>
              <a:rPr lang="en-US" altLang="ko-KR" sz="1100" dirty="0" smtClean="0">
                <a:latin typeface="+mn-ea"/>
              </a:rPr>
              <a:t>jsp_27_1_ex1_mvcboardex </a:t>
            </a:r>
            <a:r>
              <a:rPr lang="ko-KR" altLang="en-US" sz="1100" dirty="0" smtClean="0">
                <a:latin typeface="+mn-ea"/>
              </a:rPr>
              <a:t>입니다</a:t>
            </a:r>
            <a:r>
              <a:rPr lang="en-US" altLang="ko-KR" sz="1100" dirty="0" smtClean="0">
                <a:latin typeface="+mn-ea"/>
              </a:rPr>
              <a:t>.</a:t>
            </a:r>
            <a:r>
              <a:rPr lang="ko-KR" altLang="en-US" sz="1100" dirty="0" smtClean="0">
                <a:latin typeface="+mn-ea"/>
              </a:rPr>
              <a:t> </a:t>
            </a:r>
            <a:endParaRPr lang="en-US" altLang="ko-KR" sz="1100" dirty="0" smtClean="0">
              <a:latin typeface="+mn-ea"/>
            </a:endParaRPr>
          </a:p>
          <a:p>
            <a:endParaRPr lang="en-US" altLang="ko-KR" sz="1100" dirty="0">
              <a:latin typeface="+mn-ea"/>
            </a:endParaRPr>
          </a:p>
          <a:p>
            <a:r>
              <a:rPr lang="ko-KR" altLang="en-US" sz="1100" dirty="0" smtClean="0">
                <a:latin typeface="+mn-ea"/>
              </a:rPr>
              <a:t>패키지 </a:t>
            </a:r>
            <a:r>
              <a:rPr lang="en-US" altLang="ko-KR" sz="1100" dirty="0">
                <a:latin typeface="+mn-ea"/>
              </a:rPr>
              <a:t>: </a:t>
            </a:r>
            <a:r>
              <a:rPr lang="en-US" altLang="ko-KR" sz="1100" dirty="0" err="1" smtClean="0">
                <a:latin typeface="+mn-ea"/>
              </a:rPr>
              <a:t>com.javalec.ex.frontcontroller</a:t>
            </a:r>
            <a:endParaRPr lang="en-US" altLang="ko-KR" sz="1100" dirty="0" smtClean="0">
              <a:latin typeface="+mn-ea"/>
            </a:endParaRPr>
          </a:p>
          <a:p>
            <a:r>
              <a:rPr lang="ko-KR" altLang="en-US" sz="1100" dirty="0" err="1" smtClean="0">
                <a:latin typeface="+mn-ea"/>
              </a:rPr>
              <a:t>클래스명</a:t>
            </a:r>
            <a:r>
              <a:rPr lang="ko-KR" altLang="en-US" sz="1100" dirty="0" smtClean="0">
                <a:latin typeface="+mn-ea"/>
              </a:rPr>
              <a:t> </a:t>
            </a:r>
            <a:r>
              <a:rPr lang="en-US" altLang="ko-KR" sz="1100" dirty="0">
                <a:latin typeface="+mn-ea"/>
              </a:rPr>
              <a:t>: </a:t>
            </a:r>
            <a:r>
              <a:rPr lang="en-US" altLang="ko-KR" sz="1100" dirty="0" err="1">
                <a:latin typeface="+mn-ea"/>
              </a:rPr>
              <a:t>BFrontController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43698" y="4917991"/>
            <a:ext cx="2579596" cy="769441"/>
          </a:xfrm>
          <a:prstGeom prst="rect">
            <a:avLst/>
          </a:prstGeom>
          <a:noFill/>
          <a:ln w="127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‘write.do’</a:t>
            </a:r>
            <a:r>
              <a:rPr lang="ko-KR" altLang="en-US" sz="1100" dirty="0" smtClean="0">
                <a:latin typeface="+mn-ea"/>
              </a:rPr>
              <a:t> 요청이 들어오면 해당 </a:t>
            </a:r>
            <a:r>
              <a:rPr lang="en-US" altLang="ko-KR" sz="1100" dirty="0" smtClean="0">
                <a:latin typeface="+mn-ea"/>
              </a:rPr>
              <a:t>Command</a:t>
            </a:r>
            <a:r>
              <a:rPr lang="ko-KR" altLang="en-US" sz="1100" dirty="0" smtClean="0">
                <a:latin typeface="+mn-ea"/>
              </a:rPr>
              <a:t>를 생성하여 적절한 </a:t>
            </a:r>
            <a:r>
              <a:rPr lang="ko-KR" altLang="en-US" sz="1100" dirty="0" err="1" smtClean="0">
                <a:latin typeface="+mn-ea"/>
              </a:rPr>
              <a:t>로직을</a:t>
            </a:r>
            <a:r>
              <a:rPr lang="ko-KR" altLang="en-US" sz="1100" dirty="0" smtClean="0">
                <a:latin typeface="+mn-ea"/>
              </a:rPr>
              <a:t> 실행 후 </a:t>
            </a:r>
            <a:r>
              <a:rPr lang="en-US" altLang="ko-KR" sz="1100" dirty="0" smtClean="0">
                <a:latin typeface="+mn-ea"/>
              </a:rPr>
              <a:t>‘list.do’ </a:t>
            </a:r>
            <a:r>
              <a:rPr lang="ko-KR" altLang="en-US" sz="1100" dirty="0" smtClean="0">
                <a:latin typeface="+mn-ea"/>
              </a:rPr>
              <a:t>페이지로 </a:t>
            </a:r>
            <a:r>
              <a:rPr lang="ko-KR" altLang="en-US" sz="1100" dirty="0" err="1" smtClean="0">
                <a:latin typeface="+mn-ea"/>
              </a:rPr>
              <a:t>포워딩</a:t>
            </a:r>
            <a:r>
              <a:rPr lang="ko-KR" altLang="en-US" sz="1100" dirty="0" smtClean="0">
                <a:latin typeface="+mn-ea"/>
              </a:rPr>
              <a:t> 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cxnSp>
        <p:nvCxnSpPr>
          <p:cNvPr id="11" name="직선 화살표 연결선 10"/>
          <p:cNvCxnSpPr>
            <a:stCxn id="37" idx="1"/>
          </p:cNvCxnSpPr>
          <p:nvPr/>
        </p:nvCxnSpPr>
        <p:spPr>
          <a:xfrm flipH="1">
            <a:off x="4651132" y="5302712"/>
            <a:ext cx="209256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43698" y="4249073"/>
            <a:ext cx="2579596" cy="261610"/>
          </a:xfrm>
          <a:prstGeom prst="rect">
            <a:avLst/>
          </a:prstGeom>
          <a:noFill/>
          <a:ln w="127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 err="1" smtClean="0">
                <a:latin typeface="+mn-ea"/>
              </a:rPr>
              <a:t>웹브라우저에서</a:t>
            </a:r>
            <a:r>
              <a:rPr lang="ko-KR" altLang="en-US" sz="1100" dirty="0" smtClean="0">
                <a:latin typeface="+mn-ea"/>
              </a:rPr>
              <a:t> 글쓰기 </a:t>
            </a:r>
            <a:r>
              <a:rPr lang="en-US" altLang="ko-KR" sz="1100" dirty="0" smtClean="0">
                <a:latin typeface="+mn-ea"/>
              </a:rPr>
              <a:t>UI</a:t>
            </a:r>
            <a:r>
              <a:rPr lang="ko-KR" altLang="en-US" sz="1100" dirty="0" smtClean="0">
                <a:latin typeface="+mn-ea"/>
              </a:rPr>
              <a:t>화면 입니다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cxnSp>
        <p:nvCxnSpPr>
          <p:cNvPr id="15" name="직선 화살표 연결선 14"/>
          <p:cNvCxnSpPr/>
          <p:nvPr/>
        </p:nvCxnSpPr>
        <p:spPr>
          <a:xfrm flipH="1">
            <a:off x="4651132" y="4379877"/>
            <a:ext cx="209256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626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991" y="4383607"/>
            <a:ext cx="5446568" cy="201756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991" y="2086207"/>
            <a:ext cx="5077376" cy="171607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4.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Command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만들기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5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Command </a:t>
            </a:r>
            <a:r>
              <a:rPr lang="ko-KR" altLang="en-US" sz="1100" dirty="0" smtClean="0">
                <a:latin typeface="+mn-ea"/>
              </a:rPr>
              <a:t>인터페이스를 이용해서 </a:t>
            </a:r>
            <a:r>
              <a:rPr lang="en-US" altLang="ko-KR" sz="1100" dirty="0" smtClean="0">
                <a:latin typeface="+mn-ea"/>
              </a:rPr>
              <a:t>Command </a:t>
            </a:r>
            <a:r>
              <a:rPr lang="ko-KR" altLang="en-US" sz="1100" dirty="0" smtClean="0">
                <a:latin typeface="+mn-ea"/>
              </a:rPr>
              <a:t>클래스들을 만듭니다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endParaRPr lang="en-US" altLang="ko-KR" sz="1100" dirty="0">
              <a:latin typeface="+mn-ea"/>
            </a:endParaRPr>
          </a:p>
          <a:p>
            <a:r>
              <a:rPr lang="ko-KR" altLang="en-US" sz="1100" dirty="0" smtClean="0">
                <a:latin typeface="+mn-ea"/>
              </a:rPr>
              <a:t>패키지 </a:t>
            </a:r>
            <a:r>
              <a:rPr lang="en-US" altLang="ko-KR" sz="1100" dirty="0">
                <a:latin typeface="+mn-ea"/>
              </a:rPr>
              <a:t>: </a:t>
            </a:r>
            <a:r>
              <a:rPr lang="en-US" altLang="ko-KR" sz="1100" dirty="0" err="1" smtClean="0">
                <a:latin typeface="+mn-ea"/>
              </a:rPr>
              <a:t>com.javalec.ex.command</a:t>
            </a:r>
            <a:endParaRPr lang="en-US" altLang="ko-KR" sz="1100" dirty="0" smtClean="0">
              <a:latin typeface="+mn-ea"/>
            </a:endParaRPr>
          </a:p>
          <a:p>
            <a:r>
              <a:rPr lang="en-US" altLang="ko-KR" sz="1100" dirty="0" smtClean="0">
                <a:latin typeface="+mn-ea"/>
              </a:rPr>
              <a:t>Command </a:t>
            </a:r>
            <a:r>
              <a:rPr lang="ko-KR" altLang="en-US" sz="1100" dirty="0" smtClean="0">
                <a:latin typeface="+mn-ea"/>
              </a:rPr>
              <a:t>인터페이스 </a:t>
            </a:r>
            <a:r>
              <a:rPr lang="en-US" altLang="ko-KR" sz="1100" dirty="0">
                <a:latin typeface="+mn-ea"/>
              </a:rPr>
              <a:t>: </a:t>
            </a:r>
            <a:r>
              <a:rPr lang="en-US" altLang="ko-KR" sz="1100" dirty="0" err="1">
                <a:latin typeface="+mn-ea"/>
              </a:rPr>
              <a:t>BCommand</a:t>
            </a:r>
            <a:endParaRPr lang="en-US" altLang="ko-KR" sz="1100" dirty="0">
              <a:latin typeface="+mn-ea"/>
            </a:endParaRPr>
          </a:p>
          <a:p>
            <a:r>
              <a:rPr lang="en-US" altLang="ko-KR" sz="1100" dirty="0">
                <a:latin typeface="+mn-ea"/>
              </a:rPr>
              <a:t>W</a:t>
            </a:r>
            <a:r>
              <a:rPr lang="en-US" altLang="ko-KR" sz="1100" dirty="0" smtClean="0">
                <a:latin typeface="+mn-ea"/>
              </a:rPr>
              <a:t>rite Command </a:t>
            </a:r>
            <a:r>
              <a:rPr lang="ko-KR" altLang="en-US" sz="1100" dirty="0" smtClean="0">
                <a:latin typeface="+mn-ea"/>
              </a:rPr>
              <a:t>클래스 </a:t>
            </a:r>
            <a:r>
              <a:rPr lang="en-US" altLang="ko-KR" sz="1100" dirty="0">
                <a:latin typeface="+mn-ea"/>
              </a:rPr>
              <a:t>: </a:t>
            </a:r>
            <a:r>
              <a:rPr lang="en-US" altLang="ko-KR" sz="1100" dirty="0" err="1">
                <a:latin typeface="+mn-ea"/>
              </a:rPr>
              <a:t>BWriteCommand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226712" y="5701956"/>
            <a:ext cx="2494085" cy="430887"/>
          </a:xfrm>
          <a:prstGeom prst="rect">
            <a:avLst/>
          </a:prstGeom>
          <a:noFill/>
          <a:ln w="127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데이터 베이스와 연결하여 사용자가 입력한 내용을 </a:t>
            </a:r>
            <a:r>
              <a:rPr lang="en-US" altLang="ko-KR" sz="1100" dirty="0" smtClean="0">
                <a:latin typeface="+mn-ea"/>
              </a:rPr>
              <a:t>DB</a:t>
            </a:r>
            <a:r>
              <a:rPr lang="ko-KR" altLang="en-US" sz="1100" dirty="0" smtClean="0">
                <a:latin typeface="+mn-ea"/>
              </a:rPr>
              <a:t>에 </a:t>
            </a:r>
            <a:r>
              <a:rPr lang="en-US" altLang="ko-KR" sz="1100" dirty="0">
                <a:latin typeface="+mn-ea"/>
              </a:rPr>
              <a:t>I</a:t>
            </a:r>
            <a:r>
              <a:rPr lang="en-US" altLang="ko-KR" sz="1100" dirty="0" smtClean="0">
                <a:latin typeface="+mn-ea"/>
              </a:rPr>
              <a:t>nsert </a:t>
            </a:r>
            <a:r>
              <a:rPr lang="ko-KR" altLang="en-US" sz="1100" dirty="0" smtClean="0">
                <a:latin typeface="+mn-ea"/>
              </a:rPr>
              <a:t>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547353" y="3254481"/>
            <a:ext cx="792726" cy="27875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/>
          <p:cNvCxnSpPr/>
          <p:nvPr/>
        </p:nvCxnSpPr>
        <p:spPr>
          <a:xfrm flipH="1">
            <a:off x="3913239" y="6002038"/>
            <a:ext cx="33134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111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05" y="1915088"/>
            <a:ext cx="7840414" cy="209392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5.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 smtClean="0">
                <a:latin typeface="+mn-ea"/>
              </a:rPr>
              <a:t>DTO(Data Transfer Object)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만들기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6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데이터 베이스의 </a:t>
            </a:r>
            <a:r>
              <a:rPr lang="ko-KR" altLang="en-US" sz="1100" dirty="0" err="1" smtClean="0">
                <a:latin typeface="+mn-ea"/>
              </a:rPr>
              <a:t>테이터</a:t>
            </a:r>
            <a:r>
              <a:rPr lang="ko-KR" altLang="en-US" sz="1100" dirty="0" smtClean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DTO</a:t>
            </a:r>
            <a:r>
              <a:rPr lang="ko-KR" altLang="en-US" sz="1100" dirty="0" smtClean="0">
                <a:latin typeface="+mn-ea"/>
              </a:rPr>
              <a:t>객체를 만듭니다</a:t>
            </a:r>
            <a:r>
              <a:rPr lang="en-US" altLang="ko-KR" sz="1100" dirty="0" smtClean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  <a:p>
            <a:endParaRPr lang="en-US" altLang="ko-KR" sz="1100" dirty="0">
              <a:latin typeface="+mn-ea"/>
            </a:endParaRPr>
          </a:p>
          <a:p>
            <a:r>
              <a:rPr lang="ko-KR" altLang="en-US" sz="1100" dirty="0" smtClean="0">
                <a:latin typeface="+mn-ea"/>
              </a:rPr>
              <a:t>패키지 </a:t>
            </a:r>
            <a:r>
              <a:rPr lang="en-US" altLang="ko-KR" sz="1100" dirty="0">
                <a:latin typeface="+mn-ea"/>
              </a:rPr>
              <a:t>: </a:t>
            </a:r>
            <a:r>
              <a:rPr lang="en-US" altLang="ko-KR" sz="1100" dirty="0" err="1" smtClean="0">
                <a:latin typeface="+mn-ea"/>
              </a:rPr>
              <a:t>com.javalec.ex.dto</a:t>
            </a:r>
            <a:endParaRPr lang="en-US" altLang="ko-KR" sz="1100" dirty="0" smtClean="0">
              <a:latin typeface="+mn-ea"/>
            </a:endParaRPr>
          </a:p>
          <a:p>
            <a:r>
              <a:rPr lang="en-US" altLang="ko-KR" sz="1100" dirty="0" smtClean="0">
                <a:latin typeface="+mn-ea"/>
              </a:rPr>
              <a:t>DTO </a:t>
            </a:r>
            <a:r>
              <a:rPr lang="ko-KR" altLang="en-US" sz="1100" dirty="0" smtClean="0">
                <a:latin typeface="+mn-ea"/>
              </a:rPr>
              <a:t>클래스 </a:t>
            </a:r>
            <a:r>
              <a:rPr lang="en-US" altLang="ko-KR" sz="1100" dirty="0">
                <a:latin typeface="+mn-ea"/>
              </a:rPr>
              <a:t>: </a:t>
            </a:r>
            <a:r>
              <a:rPr lang="en-US" altLang="ko-KR" sz="1100" dirty="0" err="1">
                <a:latin typeface="+mn-ea"/>
              </a:rPr>
              <a:t>BDto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923075" y="5288083"/>
            <a:ext cx="1150372" cy="261610"/>
          </a:xfrm>
          <a:prstGeom prst="rect">
            <a:avLst/>
          </a:prstGeom>
          <a:noFill/>
          <a:ln w="127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Getter, Setter</a:t>
            </a:r>
          </a:p>
        </p:txBody>
      </p:sp>
      <p:cxnSp>
        <p:nvCxnSpPr>
          <p:cNvPr id="14" name="직선 화살표 연결선 13"/>
          <p:cNvCxnSpPr/>
          <p:nvPr/>
        </p:nvCxnSpPr>
        <p:spPr>
          <a:xfrm flipH="1">
            <a:off x="3146324" y="5418888"/>
            <a:ext cx="7767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30" y="4892775"/>
            <a:ext cx="1905000" cy="1333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60198" y="2570544"/>
            <a:ext cx="1460086" cy="261610"/>
          </a:xfrm>
          <a:prstGeom prst="rect">
            <a:avLst/>
          </a:prstGeom>
          <a:noFill/>
          <a:ln w="127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 err="1" smtClean="0">
                <a:latin typeface="+mn-ea"/>
              </a:rPr>
              <a:t>생성자</a:t>
            </a:r>
            <a:r>
              <a:rPr lang="ko-KR" altLang="en-US" sz="1100" dirty="0" smtClean="0">
                <a:latin typeface="+mn-ea"/>
              </a:rPr>
              <a:t> 및 속성 설정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16" name="직선 화살표 연결선 15"/>
          <p:cNvCxnSpPr/>
          <p:nvPr/>
        </p:nvCxnSpPr>
        <p:spPr>
          <a:xfrm flipH="1">
            <a:off x="4100052" y="2701349"/>
            <a:ext cx="55601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327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53" y="2065766"/>
            <a:ext cx="5611091" cy="212147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6.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 smtClean="0">
                <a:latin typeface="+mn-ea"/>
              </a:rPr>
              <a:t>DAO(Data Access Object)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만들기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7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데이터 베이스에 연결하여 필요한 </a:t>
            </a:r>
            <a:r>
              <a:rPr lang="ko-KR" altLang="en-US" sz="1100" dirty="0" err="1" smtClean="0">
                <a:latin typeface="+mn-ea"/>
              </a:rPr>
              <a:t>로직을</a:t>
            </a:r>
            <a:r>
              <a:rPr lang="ko-KR" altLang="en-US" sz="1100" dirty="0" smtClean="0">
                <a:latin typeface="+mn-ea"/>
              </a:rPr>
              <a:t> 수행하는 </a:t>
            </a:r>
            <a:r>
              <a:rPr lang="en-US" altLang="ko-KR" sz="1100" dirty="0" smtClean="0">
                <a:latin typeface="+mn-ea"/>
              </a:rPr>
              <a:t>DAO</a:t>
            </a:r>
            <a:r>
              <a:rPr lang="ko-KR" altLang="en-US" sz="1100" dirty="0" smtClean="0">
                <a:latin typeface="+mn-ea"/>
              </a:rPr>
              <a:t>클래스를 만듭니다</a:t>
            </a:r>
            <a:r>
              <a:rPr lang="en-US" altLang="ko-KR" sz="1100" dirty="0" smtClean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  <a:p>
            <a:endParaRPr lang="en-US" altLang="ko-KR" sz="1100" dirty="0">
              <a:latin typeface="+mn-ea"/>
            </a:endParaRPr>
          </a:p>
          <a:p>
            <a:r>
              <a:rPr lang="ko-KR" altLang="en-US" sz="1100" dirty="0" smtClean="0">
                <a:latin typeface="+mn-ea"/>
              </a:rPr>
              <a:t>패키지 </a:t>
            </a:r>
            <a:r>
              <a:rPr lang="en-US" altLang="ko-KR" sz="1100" dirty="0" err="1" smtClean="0">
                <a:latin typeface="+mn-ea"/>
              </a:rPr>
              <a:t>com.javalec.ex.dao</a:t>
            </a:r>
            <a:endParaRPr lang="en-US" altLang="ko-KR" sz="1100" dirty="0" smtClean="0">
              <a:latin typeface="+mn-ea"/>
            </a:endParaRPr>
          </a:p>
          <a:p>
            <a:r>
              <a:rPr lang="en-US" altLang="ko-KR" sz="1100" dirty="0" smtClean="0">
                <a:latin typeface="+mn-ea"/>
              </a:rPr>
              <a:t>DTO </a:t>
            </a:r>
            <a:r>
              <a:rPr lang="ko-KR" altLang="en-US" sz="1100" dirty="0" smtClean="0">
                <a:latin typeface="+mn-ea"/>
              </a:rPr>
              <a:t>클래스 </a:t>
            </a:r>
            <a:r>
              <a:rPr lang="en-US" altLang="ko-KR" sz="1100" dirty="0">
                <a:latin typeface="+mn-ea"/>
              </a:rPr>
              <a:t>: </a:t>
            </a:r>
            <a:r>
              <a:rPr lang="en-US" altLang="ko-KR" sz="1100" dirty="0" err="1">
                <a:latin typeface="+mn-ea"/>
              </a:rPr>
              <a:t>BDao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688830" y="5118805"/>
            <a:ext cx="2507223" cy="600164"/>
          </a:xfrm>
          <a:prstGeom prst="rect">
            <a:avLst/>
          </a:prstGeom>
          <a:noFill/>
          <a:ln w="127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DBCP</a:t>
            </a:r>
            <a:r>
              <a:rPr lang="ko-KR" altLang="en-US" sz="1100" dirty="0" smtClean="0">
                <a:latin typeface="+mn-ea"/>
              </a:rPr>
              <a:t>로부터 </a:t>
            </a:r>
            <a:r>
              <a:rPr lang="en-US" altLang="ko-KR" sz="1100" dirty="0" smtClean="0">
                <a:latin typeface="+mn-ea"/>
              </a:rPr>
              <a:t>Connection</a:t>
            </a:r>
            <a:r>
              <a:rPr lang="ko-KR" altLang="en-US" sz="1100" dirty="0" smtClean="0">
                <a:latin typeface="+mn-ea"/>
              </a:rPr>
              <a:t>을 얻고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데이터 베이스와 관련한 필요한 작업을 시작 합니다</a:t>
            </a:r>
            <a:r>
              <a:rPr lang="en-US" altLang="ko-KR" sz="1100" dirty="0" smtClean="0">
                <a:latin typeface="+mn-ea"/>
              </a:rPr>
              <a:t>.</a:t>
            </a:r>
            <a:r>
              <a:rPr lang="ko-KR" altLang="en-US" sz="1100" dirty="0" smtClean="0">
                <a:latin typeface="+mn-ea"/>
              </a:rPr>
              <a:t> 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14" name="직선 화살표 연결선 13"/>
          <p:cNvCxnSpPr/>
          <p:nvPr/>
        </p:nvCxnSpPr>
        <p:spPr>
          <a:xfrm flipH="1">
            <a:off x="5034116" y="5418888"/>
            <a:ext cx="26547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44465" y="2570544"/>
            <a:ext cx="2104103" cy="261610"/>
          </a:xfrm>
          <a:prstGeom prst="rect">
            <a:avLst/>
          </a:prstGeom>
          <a:noFill/>
          <a:ln w="127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 err="1" smtClean="0">
                <a:latin typeface="+mn-ea"/>
              </a:rPr>
              <a:t>생성자에서</a:t>
            </a:r>
            <a:r>
              <a:rPr lang="ko-KR" altLang="en-US" sz="1100" dirty="0" smtClean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DBCP</a:t>
            </a:r>
            <a:r>
              <a:rPr lang="ko-KR" altLang="en-US" sz="1100" dirty="0" smtClean="0">
                <a:latin typeface="+mn-ea"/>
              </a:rPr>
              <a:t>를 만듭니다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cxnSp>
        <p:nvCxnSpPr>
          <p:cNvPr id="16" name="직선 화살표 연결선 15"/>
          <p:cNvCxnSpPr/>
          <p:nvPr/>
        </p:nvCxnSpPr>
        <p:spPr>
          <a:xfrm flipH="1">
            <a:off x="6912078" y="2701349"/>
            <a:ext cx="10323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35" y="4366662"/>
            <a:ext cx="4117005" cy="235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248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423" y="3166851"/>
            <a:ext cx="4101260" cy="142481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40" y="2297311"/>
            <a:ext cx="4943475" cy="364807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7.</a:t>
            </a:r>
            <a:r>
              <a:rPr lang="en-US" altLang="ko-KR" sz="1600" b="1" kern="1200" baseline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 smtClean="0">
                <a:latin typeface="+mn-ea"/>
              </a:rPr>
              <a:t>View </a:t>
            </a:r>
            <a:r>
              <a:rPr lang="ko-KR" altLang="en-US" sz="1600" b="1" dirty="0" smtClean="0">
                <a:latin typeface="+mn-ea"/>
              </a:rPr>
              <a:t>페이지 만들기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8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클라이언트의 요청에 대해서 </a:t>
            </a:r>
            <a:r>
              <a:rPr lang="en-US" altLang="ko-KR" sz="1100" dirty="0" err="1" smtClean="0">
                <a:latin typeface="+mn-ea"/>
              </a:rPr>
              <a:t>FrontController</a:t>
            </a:r>
            <a:r>
              <a:rPr lang="ko-KR" altLang="en-US" sz="1100" dirty="0" smtClean="0">
                <a:latin typeface="+mn-ea"/>
              </a:rPr>
              <a:t>에서 작업을 분기하고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해당 </a:t>
            </a:r>
            <a:r>
              <a:rPr lang="en-US" altLang="ko-KR" sz="1100" dirty="0" smtClean="0">
                <a:latin typeface="+mn-ea"/>
              </a:rPr>
              <a:t>Command</a:t>
            </a:r>
            <a:r>
              <a:rPr lang="ko-KR" altLang="en-US" sz="1100" dirty="0" smtClean="0">
                <a:latin typeface="+mn-ea"/>
              </a:rPr>
              <a:t>클래스가 작동하여 </a:t>
            </a:r>
            <a:r>
              <a:rPr lang="en-US" altLang="ko-KR" sz="1100" dirty="0" smtClean="0">
                <a:latin typeface="+mn-ea"/>
              </a:rPr>
              <a:t>DAO</a:t>
            </a:r>
            <a:r>
              <a:rPr lang="ko-KR" altLang="en-US" sz="1100" dirty="0" smtClean="0">
                <a:latin typeface="+mn-ea"/>
              </a:rPr>
              <a:t>를 이용한 데이터 베이스 작업을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DAO</a:t>
            </a:r>
            <a:r>
              <a:rPr lang="ko-KR" altLang="en-US" sz="1100" dirty="0" smtClean="0">
                <a:latin typeface="+mn-ea"/>
              </a:rPr>
              <a:t>클래스의 결과물로 </a:t>
            </a:r>
            <a:r>
              <a:rPr lang="en-US" altLang="ko-KR" sz="1100" dirty="0" smtClean="0">
                <a:latin typeface="+mn-ea"/>
              </a:rPr>
              <a:t>DTO</a:t>
            </a:r>
            <a:r>
              <a:rPr lang="ko-KR" altLang="en-US" sz="1100" dirty="0" smtClean="0">
                <a:latin typeface="+mn-ea"/>
              </a:rPr>
              <a:t>객체가 </a:t>
            </a:r>
            <a:r>
              <a:rPr lang="en-US" altLang="ko-KR" sz="1100" dirty="0" smtClean="0">
                <a:latin typeface="+mn-ea"/>
              </a:rPr>
              <a:t>View(.</a:t>
            </a:r>
            <a:r>
              <a:rPr lang="en-US" altLang="ko-KR" sz="1100" dirty="0" err="1" smtClean="0">
                <a:latin typeface="+mn-ea"/>
              </a:rPr>
              <a:t>jsp</a:t>
            </a:r>
            <a:r>
              <a:rPr lang="ko-KR" altLang="en-US" sz="1100" dirty="0" smtClean="0">
                <a:latin typeface="+mn-ea"/>
              </a:rPr>
              <a:t>페이지</a:t>
            </a:r>
            <a:r>
              <a:rPr lang="en-US" altLang="ko-KR" sz="1100" dirty="0" smtClean="0">
                <a:latin typeface="+mn-ea"/>
              </a:rPr>
              <a:t>)</a:t>
            </a:r>
            <a:r>
              <a:rPr lang="ko-KR" altLang="en-US" sz="1100" dirty="0" smtClean="0">
                <a:latin typeface="+mn-ea"/>
              </a:rPr>
              <a:t>로 전달되며</a:t>
            </a:r>
            <a:r>
              <a:rPr lang="en-US" altLang="ko-KR" sz="1100" dirty="0" smtClean="0">
                <a:latin typeface="+mn-ea"/>
              </a:rPr>
              <a:t>, View</a:t>
            </a:r>
            <a:r>
              <a:rPr lang="ko-KR" altLang="en-US" sz="1100" dirty="0" smtClean="0">
                <a:latin typeface="+mn-ea"/>
              </a:rPr>
              <a:t>에서는 클라이언트의 요청에 대한 응답으로 화면</a:t>
            </a:r>
            <a:r>
              <a:rPr lang="en-US" altLang="ko-KR" sz="1100" dirty="0" smtClean="0">
                <a:latin typeface="+mn-ea"/>
              </a:rPr>
              <a:t>(UI)</a:t>
            </a:r>
            <a:r>
              <a:rPr lang="ko-KR" altLang="en-US" sz="1100" dirty="0" smtClean="0">
                <a:latin typeface="+mn-ea"/>
              </a:rPr>
              <a:t>를</a:t>
            </a:r>
            <a:r>
              <a:rPr lang="en-US" altLang="ko-KR" sz="1100" dirty="0">
                <a:latin typeface="+mn-ea"/>
              </a:rPr>
              <a:t> </a:t>
            </a:r>
            <a:r>
              <a:rPr lang="ko-KR" altLang="en-US" sz="1100" dirty="0" smtClean="0">
                <a:latin typeface="+mn-ea"/>
              </a:rPr>
              <a:t>구성하여 출력 합니다</a:t>
            </a:r>
            <a:r>
              <a:rPr lang="en-US" altLang="ko-KR" sz="1100" dirty="0" smtClean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  <a:p>
            <a:endParaRPr lang="en-US" altLang="ko-KR" sz="1100" dirty="0">
              <a:latin typeface="+mn-ea"/>
            </a:endParaRPr>
          </a:p>
          <a:p>
            <a:r>
              <a:rPr lang="en-US" altLang="ko-KR" sz="1100" dirty="0" smtClean="0">
                <a:latin typeface="+mn-ea"/>
              </a:rPr>
              <a:t>View </a:t>
            </a:r>
            <a:r>
              <a:rPr lang="ko-KR" altLang="en-US" sz="1100" dirty="0" smtClean="0">
                <a:latin typeface="+mn-ea"/>
              </a:rPr>
              <a:t>파일 </a:t>
            </a:r>
            <a:r>
              <a:rPr lang="en-US" altLang="ko-KR" sz="1100" dirty="0" smtClean="0">
                <a:latin typeface="+mn-ea"/>
              </a:rPr>
              <a:t>: </a:t>
            </a:r>
            <a:r>
              <a:rPr lang="en-US" altLang="ko-KR" sz="1100" dirty="0" err="1">
                <a:latin typeface="+mn-ea"/>
              </a:rPr>
              <a:t>list.jsp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9" name="오른쪽 화살표 8"/>
          <p:cNvSpPr/>
          <p:nvPr/>
        </p:nvSpPr>
        <p:spPr>
          <a:xfrm>
            <a:off x="5726215" y="3156155"/>
            <a:ext cx="550606" cy="14355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8154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8.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글 목록 페이지 만들기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9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지난 시간에 이어서 </a:t>
            </a:r>
            <a:r>
              <a:rPr lang="en-US" altLang="ko-KR" sz="1100" dirty="0" smtClean="0">
                <a:latin typeface="+mn-ea"/>
              </a:rPr>
              <a:t>(jsp_27_1_ex1_mvcboardex) </a:t>
            </a:r>
            <a:r>
              <a:rPr lang="ko-KR" altLang="en-US" sz="1100" dirty="0" smtClean="0">
                <a:latin typeface="+mn-ea"/>
              </a:rPr>
              <a:t>소스에 추가 하도록 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075765" y="2285999"/>
            <a:ext cx="1694329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r>
              <a:rPr lang="en-US" altLang="ko-KR" dirty="0" smtClean="0"/>
              <a:t>ist.do </a:t>
            </a:r>
            <a:r>
              <a:rPr lang="ko-KR" altLang="en-US" dirty="0" smtClean="0"/>
              <a:t>요청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3567953" y="2285999"/>
            <a:ext cx="2259106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BFrontController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67953" y="2843818"/>
            <a:ext cx="22591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 smtClean="0">
                <a:latin typeface="+mn-ea"/>
              </a:rPr>
              <a:t>글 목록 </a:t>
            </a:r>
            <a:r>
              <a:rPr lang="ko-KR" altLang="en-US" sz="1050" b="1" dirty="0" err="1" smtClean="0">
                <a:latin typeface="+mn-ea"/>
              </a:rPr>
              <a:t>로직</a:t>
            </a:r>
            <a:r>
              <a:rPr lang="ko-KR" altLang="en-US" sz="1050" b="1" dirty="0" smtClean="0">
                <a:latin typeface="+mn-ea"/>
              </a:rPr>
              <a:t> 분기</a:t>
            </a:r>
            <a:endParaRPr lang="en-US" altLang="ko-KR" sz="1050" b="1" dirty="0" smtClean="0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624918" y="2285999"/>
            <a:ext cx="2259106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BListService</a:t>
            </a:r>
            <a:endParaRPr lang="ko-KR" altLang="en-US" dirty="0"/>
          </a:p>
        </p:txBody>
      </p:sp>
      <p:cxnSp>
        <p:nvCxnSpPr>
          <p:cNvPr id="10" name="직선 화살표 연결선 9"/>
          <p:cNvCxnSpPr>
            <a:stCxn id="6" idx="3"/>
            <a:endCxn id="14" idx="1"/>
          </p:cNvCxnSpPr>
          <p:nvPr/>
        </p:nvCxnSpPr>
        <p:spPr>
          <a:xfrm>
            <a:off x="2770094" y="2559422"/>
            <a:ext cx="7978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5827059" y="2563904"/>
            <a:ext cx="7978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640607" y="2843818"/>
            <a:ext cx="22591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 smtClean="0">
                <a:latin typeface="+mn-ea"/>
              </a:rPr>
              <a:t>DAO</a:t>
            </a:r>
            <a:r>
              <a:rPr lang="ko-KR" altLang="en-US" sz="1050" b="1" dirty="0" smtClean="0">
                <a:latin typeface="+mn-ea"/>
              </a:rPr>
              <a:t>에 글 목록 생성 요청</a:t>
            </a:r>
            <a:endParaRPr lang="en-US" altLang="ko-KR" sz="1050" b="1" dirty="0" smtClean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9681883" y="2285999"/>
            <a:ext cx="995083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BDao</a:t>
            </a:r>
            <a:endParaRPr lang="ko-KR" altLang="en-US" dirty="0"/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8884024" y="2559422"/>
            <a:ext cx="7978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81882" y="2846187"/>
            <a:ext cx="995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 smtClean="0">
                <a:latin typeface="+mn-ea"/>
              </a:rPr>
              <a:t>DB</a:t>
            </a:r>
            <a:r>
              <a:rPr lang="ko-KR" altLang="en-US" sz="1050" b="1" dirty="0" smtClean="0">
                <a:latin typeface="+mn-ea"/>
              </a:rPr>
              <a:t>작업 </a:t>
            </a:r>
            <a:endParaRPr lang="en-US" altLang="ko-KR" sz="1050" b="1" dirty="0" smtClean="0">
              <a:latin typeface="+mn-ea"/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 flipH="1">
            <a:off x="8884024" y="2725269"/>
            <a:ext cx="7978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 flipH="1">
            <a:off x="5827059" y="2734234"/>
            <a:ext cx="7978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15" idx="2"/>
          </p:cNvCxnSpPr>
          <p:nvPr/>
        </p:nvCxnSpPr>
        <p:spPr>
          <a:xfrm>
            <a:off x="4697506" y="3105428"/>
            <a:ext cx="0" cy="1179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3567953" y="4285128"/>
            <a:ext cx="2259106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l</a:t>
            </a:r>
            <a:r>
              <a:rPr lang="en-US" altLang="ko-KR" dirty="0" err="1" smtClean="0"/>
              <a:t>ist.jsp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3567953" y="4831974"/>
            <a:ext cx="22591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 smtClean="0">
                <a:latin typeface="+mn-ea"/>
              </a:rPr>
              <a:t>리스트 화면</a:t>
            </a:r>
            <a:endParaRPr lang="en-US" altLang="ko-KR" sz="1050" b="1" dirty="0" smtClean="0">
              <a:latin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601134" y="3525316"/>
            <a:ext cx="7597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 smtClean="0">
                <a:latin typeface="+mn-ea"/>
              </a:rPr>
              <a:t>list.do</a:t>
            </a:r>
          </a:p>
        </p:txBody>
      </p:sp>
    </p:spTree>
    <p:extLst>
      <p:ext uri="{BB962C8B-B14F-4D97-AF65-F5344CB8AC3E}">
        <p14:creationId xmlns:p14="http://schemas.microsoft.com/office/powerpoint/2010/main" val="2769000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9.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글 </a:t>
            </a:r>
            <a:r>
              <a:rPr lang="ko-KR" altLang="en-US" sz="1600" b="1" dirty="0" smtClean="0">
                <a:latin typeface="+mn-ea"/>
              </a:rPr>
              <a:t>내용 보기</a:t>
            </a:r>
            <a:r>
              <a:rPr lang="ko-KR" altLang="en-US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페이지 만들기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10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896471" y="2285999"/>
            <a:ext cx="1873623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content_view.do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6472" y="2843818"/>
            <a:ext cx="18579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 smtClean="0">
                <a:latin typeface="+mn-ea"/>
              </a:rPr>
              <a:t>글 내용 보기 요청</a:t>
            </a:r>
            <a:endParaRPr lang="en-US" altLang="ko-KR" sz="1050" b="1" dirty="0" smtClean="0"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67953" y="2285999"/>
            <a:ext cx="2259106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BFrontController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67953" y="2843818"/>
            <a:ext cx="22591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 smtClean="0">
                <a:latin typeface="+mn-ea"/>
              </a:rPr>
              <a:t>글 내용 보기 </a:t>
            </a:r>
            <a:r>
              <a:rPr lang="ko-KR" altLang="en-US" sz="1050" b="1" dirty="0" err="1" smtClean="0">
                <a:latin typeface="+mn-ea"/>
              </a:rPr>
              <a:t>로직</a:t>
            </a:r>
            <a:r>
              <a:rPr lang="ko-KR" altLang="en-US" sz="1050" b="1" dirty="0" smtClean="0">
                <a:latin typeface="+mn-ea"/>
              </a:rPr>
              <a:t> 분기</a:t>
            </a:r>
            <a:endParaRPr lang="en-US" altLang="ko-KR" sz="1050" b="1" dirty="0" smtClean="0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624918" y="2285999"/>
            <a:ext cx="2259106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BContentService</a:t>
            </a:r>
            <a:endParaRPr lang="ko-KR" altLang="en-US" dirty="0"/>
          </a:p>
        </p:txBody>
      </p:sp>
      <p:cxnSp>
        <p:nvCxnSpPr>
          <p:cNvPr id="10" name="직선 화살표 연결선 9"/>
          <p:cNvCxnSpPr>
            <a:stCxn id="6" idx="3"/>
            <a:endCxn id="14" idx="1"/>
          </p:cNvCxnSpPr>
          <p:nvPr/>
        </p:nvCxnSpPr>
        <p:spPr>
          <a:xfrm>
            <a:off x="2770094" y="2559422"/>
            <a:ext cx="7978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5827059" y="2563904"/>
            <a:ext cx="7978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640607" y="2843818"/>
            <a:ext cx="22591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 smtClean="0">
                <a:latin typeface="+mn-ea"/>
              </a:rPr>
              <a:t>DAO</a:t>
            </a:r>
            <a:r>
              <a:rPr lang="ko-KR" altLang="en-US" sz="1050" b="1" dirty="0" smtClean="0">
                <a:latin typeface="+mn-ea"/>
              </a:rPr>
              <a:t>에 글 내용 보기 지시</a:t>
            </a:r>
            <a:endParaRPr lang="en-US" altLang="ko-KR" sz="1050" b="1" dirty="0" smtClean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9681883" y="2285999"/>
            <a:ext cx="995083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BDao</a:t>
            </a:r>
            <a:endParaRPr lang="ko-KR" altLang="en-US" dirty="0"/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8884024" y="2559422"/>
            <a:ext cx="7978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81882" y="2846187"/>
            <a:ext cx="995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 smtClean="0">
                <a:latin typeface="+mn-ea"/>
              </a:rPr>
              <a:t>DB</a:t>
            </a:r>
            <a:r>
              <a:rPr lang="ko-KR" altLang="en-US" sz="1050" b="1" dirty="0" smtClean="0">
                <a:latin typeface="+mn-ea"/>
              </a:rPr>
              <a:t>작업 </a:t>
            </a:r>
            <a:endParaRPr lang="en-US" altLang="ko-KR" sz="1050" b="1" dirty="0" smtClean="0">
              <a:latin typeface="+mn-ea"/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 flipH="1">
            <a:off x="8884024" y="2725269"/>
            <a:ext cx="7978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 flipH="1">
            <a:off x="5827059" y="2734234"/>
            <a:ext cx="7978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15" idx="2"/>
          </p:cNvCxnSpPr>
          <p:nvPr/>
        </p:nvCxnSpPr>
        <p:spPr>
          <a:xfrm>
            <a:off x="4697506" y="3105428"/>
            <a:ext cx="0" cy="1179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3567953" y="4285128"/>
            <a:ext cx="2259106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c</a:t>
            </a:r>
            <a:r>
              <a:rPr lang="en-US" altLang="ko-KR" dirty="0" err="1" smtClean="0"/>
              <a:t>ontent_view.jsp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3567953" y="4831974"/>
            <a:ext cx="22591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 smtClean="0">
                <a:latin typeface="+mn-ea"/>
              </a:rPr>
              <a:t>글 내용 보기 화면</a:t>
            </a:r>
            <a:endParaRPr lang="en-US" altLang="ko-KR" sz="105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56747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10.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글 </a:t>
            </a:r>
            <a:r>
              <a:rPr lang="ko-KR" altLang="en-US" sz="1600" b="1" dirty="0" smtClean="0">
                <a:latin typeface="+mn-ea"/>
              </a:rPr>
              <a:t>내용 수정</a:t>
            </a:r>
            <a:r>
              <a:rPr lang="ko-KR" altLang="en-US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페이지 만들기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11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677009" y="2285999"/>
            <a:ext cx="2093086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content_view.jsp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7008" y="2843818"/>
            <a:ext cx="20773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 smtClean="0">
                <a:latin typeface="+mn-ea"/>
              </a:rPr>
              <a:t>글 내용 보기 화면</a:t>
            </a:r>
            <a:endParaRPr lang="en-US" altLang="ko-KR" sz="1050" b="1" dirty="0" smtClean="0"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67953" y="2285999"/>
            <a:ext cx="2259106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BFrontController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67953" y="2843818"/>
            <a:ext cx="22591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 smtClean="0">
                <a:latin typeface="+mn-ea"/>
              </a:rPr>
              <a:t>글쓰기 </a:t>
            </a:r>
            <a:r>
              <a:rPr lang="ko-KR" altLang="en-US" sz="1050" b="1" dirty="0" err="1" smtClean="0">
                <a:latin typeface="+mn-ea"/>
              </a:rPr>
              <a:t>로직</a:t>
            </a:r>
            <a:r>
              <a:rPr lang="ko-KR" altLang="en-US" sz="1050" b="1" dirty="0" smtClean="0">
                <a:latin typeface="+mn-ea"/>
              </a:rPr>
              <a:t> 분기</a:t>
            </a:r>
            <a:endParaRPr lang="en-US" altLang="ko-KR" sz="1050" b="1" dirty="0" smtClean="0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624918" y="2285999"/>
            <a:ext cx="2259106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BUpdateService</a:t>
            </a:r>
            <a:endParaRPr lang="ko-KR" altLang="en-US" dirty="0"/>
          </a:p>
        </p:txBody>
      </p:sp>
      <p:cxnSp>
        <p:nvCxnSpPr>
          <p:cNvPr id="10" name="직선 화살표 연결선 9"/>
          <p:cNvCxnSpPr>
            <a:stCxn id="6" idx="3"/>
            <a:endCxn id="14" idx="1"/>
          </p:cNvCxnSpPr>
          <p:nvPr/>
        </p:nvCxnSpPr>
        <p:spPr>
          <a:xfrm>
            <a:off x="2770095" y="2559422"/>
            <a:ext cx="7978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5827059" y="2563904"/>
            <a:ext cx="7978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640607" y="2843818"/>
            <a:ext cx="22591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 smtClean="0">
                <a:latin typeface="+mn-ea"/>
              </a:rPr>
              <a:t>DAO</a:t>
            </a:r>
            <a:r>
              <a:rPr lang="ko-KR" altLang="en-US" sz="1050" b="1" dirty="0" smtClean="0">
                <a:latin typeface="+mn-ea"/>
              </a:rPr>
              <a:t>에 글 수정 지시</a:t>
            </a:r>
            <a:endParaRPr lang="en-US" altLang="ko-KR" sz="1050" b="1" dirty="0" smtClean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9681883" y="2285999"/>
            <a:ext cx="995083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BDao</a:t>
            </a:r>
            <a:endParaRPr lang="ko-KR" altLang="en-US" dirty="0"/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8884024" y="2559422"/>
            <a:ext cx="7978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81882" y="2846187"/>
            <a:ext cx="995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 smtClean="0">
                <a:latin typeface="+mn-ea"/>
              </a:rPr>
              <a:t>DB</a:t>
            </a:r>
            <a:r>
              <a:rPr lang="ko-KR" altLang="en-US" sz="1050" b="1" dirty="0" smtClean="0">
                <a:latin typeface="+mn-ea"/>
              </a:rPr>
              <a:t>작업 </a:t>
            </a:r>
            <a:endParaRPr lang="en-US" altLang="ko-KR" sz="1050" b="1" dirty="0" smtClean="0">
              <a:latin typeface="+mn-ea"/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 flipH="1">
            <a:off x="8884024" y="2725269"/>
            <a:ext cx="7978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 flipH="1">
            <a:off x="5827059" y="2734234"/>
            <a:ext cx="7978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15" idx="2"/>
          </p:cNvCxnSpPr>
          <p:nvPr/>
        </p:nvCxnSpPr>
        <p:spPr>
          <a:xfrm>
            <a:off x="4697506" y="3105428"/>
            <a:ext cx="0" cy="1179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3567953" y="4285128"/>
            <a:ext cx="2259106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l</a:t>
            </a:r>
            <a:r>
              <a:rPr lang="en-US" altLang="ko-KR" dirty="0" err="1" smtClean="0"/>
              <a:t>ist.jsp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3567953" y="4831974"/>
            <a:ext cx="22591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 smtClean="0">
                <a:latin typeface="+mn-ea"/>
              </a:rPr>
              <a:t>리스트 화면</a:t>
            </a:r>
            <a:endParaRPr lang="en-US" altLang="ko-KR" sz="1050" b="1" dirty="0" smtClean="0">
              <a:latin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601134" y="3525316"/>
            <a:ext cx="7597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 smtClean="0">
                <a:latin typeface="+mn-ea"/>
              </a:rPr>
              <a:t>list.do</a:t>
            </a:r>
          </a:p>
        </p:txBody>
      </p:sp>
    </p:spTree>
    <p:extLst>
      <p:ext uri="{BB962C8B-B14F-4D97-AF65-F5344CB8AC3E}">
        <p14:creationId xmlns:p14="http://schemas.microsoft.com/office/powerpoint/2010/main" val="14720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11. </a:t>
            </a:r>
            <a:r>
              <a:rPr lang="ko-KR" altLang="en-US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글 </a:t>
            </a:r>
            <a:r>
              <a:rPr lang="ko-KR" altLang="en-US" sz="1600" b="1" dirty="0" smtClean="0">
                <a:latin typeface="+mn-ea"/>
              </a:rPr>
              <a:t>삭제 </a:t>
            </a:r>
            <a:r>
              <a:rPr lang="ko-KR" altLang="en-US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페이지 만들기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870439" y="2285999"/>
            <a:ext cx="1899656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content_view.jsp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70440" y="2843818"/>
            <a:ext cx="18839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 smtClean="0">
                <a:latin typeface="+mn-ea"/>
              </a:rPr>
              <a:t>글 내용 보기 화면</a:t>
            </a:r>
            <a:endParaRPr lang="en-US" altLang="ko-KR" sz="1050" b="1" dirty="0" smtClean="0"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67953" y="2285999"/>
            <a:ext cx="2259106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BFrontController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67953" y="2843818"/>
            <a:ext cx="22591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 smtClean="0">
                <a:latin typeface="+mn-ea"/>
              </a:rPr>
              <a:t>글 삭제 </a:t>
            </a:r>
            <a:r>
              <a:rPr lang="ko-KR" altLang="en-US" sz="1050" b="1" dirty="0" err="1" smtClean="0">
                <a:latin typeface="+mn-ea"/>
              </a:rPr>
              <a:t>로직</a:t>
            </a:r>
            <a:r>
              <a:rPr lang="ko-KR" altLang="en-US" sz="1050" b="1" dirty="0" smtClean="0">
                <a:latin typeface="+mn-ea"/>
              </a:rPr>
              <a:t> 분기</a:t>
            </a:r>
            <a:endParaRPr lang="en-US" altLang="ko-KR" sz="1050" b="1" dirty="0" smtClean="0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624918" y="2285999"/>
            <a:ext cx="2259106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BDeleteService</a:t>
            </a:r>
            <a:endParaRPr lang="ko-KR" altLang="en-US" dirty="0"/>
          </a:p>
        </p:txBody>
      </p:sp>
      <p:cxnSp>
        <p:nvCxnSpPr>
          <p:cNvPr id="10" name="직선 화살표 연결선 9"/>
          <p:cNvCxnSpPr>
            <a:stCxn id="6" idx="3"/>
            <a:endCxn id="14" idx="1"/>
          </p:cNvCxnSpPr>
          <p:nvPr/>
        </p:nvCxnSpPr>
        <p:spPr>
          <a:xfrm>
            <a:off x="2770095" y="2559422"/>
            <a:ext cx="7978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5827059" y="2563904"/>
            <a:ext cx="7978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640607" y="2843818"/>
            <a:ext cx="22591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 smtClean="0">
                <a:latin typeface="+mn-ea"/>
              </a:rPr>
              <a:t>DAO</a:t>
            </a:r>
            <a:r>
              <a:rPr lang="ko-KR" altLang="en-US" sz="1050" b="1" dirty="0" smtClean="0">
                <a:latin typeface="+mn-ea"/>
              </a:rPr>
              <a:t>에 글 삭제 지시</a:t>
            </a:r>
            <a:endParaRPr lang="en-US" altLang="ko-KR" sz="1050" b="1" dirty="0" smtClean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9681883" y="2285999"/>
            <a:ext cx="995083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BDao</a:t>
            </a:r>
            <a:endParaRPr lang="ko-KR" altLang="en-US" dirty="0"/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8884024" y="2559422"/>
            <a:ext cx="7978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81882" y="2846187"/>
            <a:ext cx="995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 smtClean="0">
                <a:latin typeface="+mn-ea"/>
              </a:rPr>
              <a:t>DB</a:t>
            </a:r>
            <a:r>
              <a:rPr lang="ko-KR" altLang="en-US" sz="1050" b="1" dirty="0" smtClean="0">
                <a:latin typeface="+mn-ea"/>
              </a:rPr>
              <a:t>작업 </a:t>
            </a:r>
            <a:endParaRPr lang="en-US" altLang="ko-KR" sz="1050" b="1" dirty="0" smtClean="0">
              <a:latin typeface="+mn-ea"/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 flipH="1">
            <a:off x="8884024" y="2725269"/>
            <a:ext cx="7978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 flipH="1">
            <a:off x="5827059" y="2734234"/>
            <a:ext cx="7978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15" idx="2"/>
          </p:cNvCxnSpPr>
          <p:nvPr/>
        </p:nvCxnSpPr>
        <p:spPr>
          <a:xfrm>
            <a:off x="4697506" y="3105428"/>
            <a:ext cx="0" cy="1179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3567953" y="4285128"/>
            <a:ext cx="2259106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l</a:t>
            </a:r>
            <a:r>
              <a:rPr lang="en-US" altLang="ko-KR" dirty="0" err="1" smtClean="0"/>
              <a:t>ist.jsp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3567953" y="4831974"/>
            <a:ext cx="22591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 smtClean="0">
                <a:latin typeface="+mn-ea"/>
              </a:rPr>
              <a:t>리스트 화면</a:t>
            </a:r>
            <a:endParaRPr lang="en-US" altLang="ko-KR" sz="1050" b="1" dirty="0" smtClean="0">
              <a:latin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601134" y="3525316"/>
            <a:ext cx="7597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 smtClean="0">
                <a:latin typeface="+mn-ea"/>
              </a:rPr>
              <a:t>list.do</a:t>
            </a:r>
          </a:p>
        </p:txBody>
      </p:sp>
    </p:spTree>
    <p:extLst>
      <p:ext uri="{BB962C8B-B14F-4D97-AF65-F5344CB8AC3E}">
        <p14:creationId xmlns:p14="http://schemas.microsoft.com/office/powerpoint/2010/main" val="319772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12.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글</a:t>
            </a:r>
            <a:r>
              <a:rPr lang="ko-KR" altLang="en-US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답변 달기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지난 시간에 이어서 </a:t>
            </a:r>
            <a:r>
              <a:rPr lang="en-US" altLang="ko-KR" sz="1100" dirty="0" smtClean="0">
                <a:latin typeface="+mn-ea"/>
              </a:rPr>
              <a:t>(jsp_27_1_ex1_mvcboardex) </a:t>
            </a:r>
            <a:r>
              <a:rPr lang="ko-KR" altLang="en-US" sz="1100" dirty="0" smtClean="0">
                <a:latin typeface="+mn-ea"/>
              </a:rPr>
              <a:t>소스에 추가 하도록 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509955" y="2215661"/>
            <a:ext cx="2260140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c</a:t>
            </a:r>
            <a:r>
              <a:rPr lang="en-US" altLang="ko-KR" dirty="0" err="1" smtClean="0"/>
              <a:t>ontent_view.jsp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3567953" y="2215661"/>
            <a:ext cx="2259106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BFrontController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67953" y="2773480"/>
            <a:ext cx="22591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 smtClean="0">
                <a:latin typeface="+mn-ea"/>
              </a:rPr>
              <a:t>답변 </a:t>
            </a:r>
            <a:r>
              <a:rPr lang="ko-KR" altLang="en-US" sz="1050" b="1" dirty="0" err="1" smtClean="0">
                <a:latin typeface="+mn-ea"/>
              </a:rPr>
              <a:t>로직</a:t>
            </a:r>
            <a:r>
              <a:rPr lang="ko-KR" altLang="en-US" sz="1050" b="1" dirty="0" smtClean="0">
                <a:latin typeface="+mn-ea"/>
              </a:rPr>
              <a:t> 분기</a:t>
            </a:r>
            <a:endParaRPr lang="en-US" altLang="ko-KR" sz="1050" b="1" dirty="0" smtClean="0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624918" y="2215661"/>
            <a:ext cx="2259106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BReplyService</a:t>
            </a:r>
            <a:endParaRPr lang="ko-KR" altLang="en-US" dirty="0"/>
          </a:p>
        </p:txBody>
      </p:sp>
      <p:cxnSp>
        <p:nvCxnSpPr>
          <p:cNvPr id="10" name="직선 화살표 연결선 9"/>
          <p:cNvCxnSpPr>
            <a:stCxn id="6" idx="3"/>
            <a:endCxn id="14" idx="1"/>
          </p:cNvCxnSpPr>
          <p:nvPr/>
        </p:nvCxnSpPr>
        <p:spPr>
          <a:xfrm>
            <a:off x="2770095" y="2489084"/>
            <a:ext cx="7978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5827059" y="2493566"/>
            <a:ext cx="7978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640607" y="2773480"/>
            <a:ext cx="22591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 smtClean="0">
                <a:latin typeface="+mn-ea"/>
              </a:rPr>
              <a:t>DAO</a:t>
            </a:r>
            <a:r>
              <a:rPr lang="ko-KR" altLang="en-US" sz="1050" b="1" dirty="0" smtClean="0">
                <a:latin typeface="+mn-ea"/>
              </a:rPr>
              <a:t>에 답변 저장 요청</a:t>
            </a:r>
            <a:endParaRPr lang="en-US" altLang="ko-KR" sz="1050" b="1" dirty="0" smtClean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9681883" y="2215661"/>
            <a:ext cx="995083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BDao</a:t>
            </a:r>
            <a:endParaRPr lang="ko-KR" altLang="en-US" dirty="0"/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8884024" y="2489084"/>
            <a:ext cx="7978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81882" y="2775849"/>
            <a:ext cx="995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 smtClean="0">
                <a:latin typeface="+mn-ea"/>
              </a:rPr>
              <a:t>DB</a:t>
            </a:r>
            <a:r>
              <a:rPr lang="ko-KR" altLang="en-US" sz="1050" b="1" dirty="0" smtClean="0">
                <a:latin typeface="+mn-ea"/>
              </a:rPr>
              <a:t>작업 </a:t>
            </a:r>
            <a:endParaRPr lang="en-US" altLang="ko-KR" sz="1050" b="1" dirty="0" smtClean="0">
              <a:latin typeface="+mn-ea"/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 flipH="1">
            <a:off x="8884024" y="2654931"/>
            <a:ext cx="7978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 flipH="1">
            <a:off x="5827059" y="2663896"/>
            <a:ext cx="7978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15" idx="2"/>
          </p:cNvCxnSpPr>
          <p:nvPr/>
        </p:nvCxnSpPr>
        <p:spPr>
          <a:xfrm>
            <a:off x="4697506" y="3035090"/>
            <a:ext cx="0" cy="1179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3567953" y="4214790"/>
            <a:ext cx="2259106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l</a:t>
            </a:r>
            <a:r>
              <a:rPr lang="en-US" altLang="ko-KR" dirty="0" err="1" smtClean="0"/>
              <a:t>ist.jsp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3567953" y="4761636"/>
            <a:ext cx="22591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 smtClean="0">
                <a:latin typeface="+mn-ea"/>
              </a:rPr>
              <a:t>리스트 화면</a:t>
            </a:r>
            <a:endParaRPr lang="en-US" altLang="ko-KR" sz="1050" b="1" dirty="0" smtClean="0">
              <a:latin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601134" y="3454978"/>
            <a:ext cx="7597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 smtClean="0">
                <a:latin typeface="+mn-ea"/>
              </a:rPr>
              <a:t>list.do</a:t>
            </a:r>
          </a:p>
        </p:txBody>
      </p:sp>
    </p:spTree>
    <p:extLst>
      <p:ext uri="{BB962C8B-B14F-4D97-AF65-F5344CB8AC3E}">
        <p14:creationId xmlns:p14="http://schemas.microsoft.com/office/powerpoint/2010/main" val="4008273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5669</TotalTime>
  <Words>513</Words>
  <Application>Microsoft Office PowerPoint</Application>
  <PresentationFormat>와이드스크린</PresentationFormat>
  <Paragraphs>169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KOREAVC Professor</cp:lastModifiedBy>
  <cp:revision>1514</cp:revision>
  <dcterms:created xsi:type="dcterms:W3CDTF">2014-12-01T08:37:15Z</dcterms:created>
  <dcterms:modified xsi:type="dcterms:W3CDTF">2023-11-15T08:47:27Z</dcterms:modified>
</cp:coreProperties>
</file>