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3" r:id="rId2"/>
    <p:sldId id="281" r:id="rId3"/>
    <p:sldId id="282" r:id="rId4"/>
    <p:sldId id="283" r:id="rId5"/>
    <p:sldId id="287" r:id="rId6"/>
    <p:sldId id="286" r:id="rId7"/>
    <p:sldId id="289" r:id="rId8"/>
    <p:sldId id="288" r:id="rId9"/>
    <p:sldId id="28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93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44449-C531-4B45-A8F0-BC06554877CA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ADE76-ADCE-4662-B118-A76299EC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251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23</a:t>
            </a:r>
            <a:r>
              <a:rPr lang="ko-KR" altLang="en-US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EL(Expression Language)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lolak.tistory.com/428" TargetMode="Externa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23</a:t>
            </a:r>
            <a:r>
              <a:rPr lang="ko-KR" altLang="en-US" sz="2400" spc="-150" dirty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. EL(Expression Language)</a:t>
            </a:r>
            <a:endParaRPr lang="ko-KR" altLang="en-US" sz="24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EL(Expression Language)?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EL(Expression Language)</a:t>
            </a:r>
            <a:r>
              <a:rPr lang="ko-KR" altLang="en-US" sz="1100" dirty="0">
                <a:latin typeface="+mn-ea"/>
              </a:rPr>
              <a:t>란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 err="1">
                <a:latin typeface="+mn-ea"/>
              </a:rPr>
              <a:t>표현식</a:t>
            </a:r>
            <a:r>
              <a:rPr lang="ko-KR" altLang="en-US" sz="1100" dirty="0">
                <a:latin typeface="+mn-ea"/>
              </a:rPr>
              <a:t> 또는 액션 태그를 대신해서 값을 표현하는 언어 입니다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(jsp_23_1_ex1_elex)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173018" y="1911927"/>
            <a:ext cx="2475346" cy="794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&lt;%= value %&gt;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705927" y="1911927"/>
            <a:ext cx="2475346" cy="794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${ value }</a:t>
            </a:r>
            <a:endParaRPr lang="ko-KR" altLang="en-US" dirty="0"/>
          </a:p>
        </p:txBody>
      </p:sp>
      <p:cxnSp>
        <p:nvCxnSpPr>
          <p:cNvPr id="8" name="직선 화살표 연결선 7"/>
          <p:cNvCxnSpPr>
            <a:stCxn id="4" idx="3"/>
            <a:endCxn id="7" idx="1"/>
          </p:cNvCxnSpPr>
          <p:nvPr/>
        </p:nvCxnSpPr>
        <p:spPr>
          <a:xfrm>
            <a:off x="3648364" y="2309091"/>
            <a:ext cx="10575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92522" y="2706255"/>
            <a:ext cx="10363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>
                <a:latin typeface="+mn-ea"/>
              </a:rPr>
              <a:t>표현식</a:t>
            </a:r>
            <a:endParaRPr lang="en-US" altLang="ko-KR" sz="1100" dirty="0"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97235" y="2706255"/>
            <a:ext cx="10363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+mn-ea"/>
              </a:rPr>
              <a:t>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631" y="3594038"/>
            <a:ext cx="10317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EL </a:t>
            </a:r>
            <a:r>
              <a:rPr lang="ko-KR" altLang="en-US" sz="1100" dirty="0">
                <a:latin typeface="+mn-ea"/>
              </a:rPr>
              <a:t>연산자</a:t>
            </a:r>
            <a:r>
              <a:rPr lang="en-US" altLang="ko-KR" sz="1100" dirty="0">
                <a:latin typeface="+mn-ea"/>
              </a:rPr>
              <a:t> (jsp_23_1_ex1_elex)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838644" y="3855648"/>
            <a:ext cx="10281938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1173018" y="4025987"/>
            <a:ext cx="6008255" cy="1295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산술 </a:t>
            </a:r>
            <a:r>
              <a:rPr lang="en-US" altLang="ko-KR" dirty="0"/>
              <a:t>: +, -, *, / %</a:t>
            </a:r>
          </a:p>
          <a:p>
            <a:r>
              <a:rPr lang="ko-KR" altLang="en-US" dirty="0" err="1"/>
              <a:t>관계형</a:t>
            </a:r>
            <a:r>
              <a:rPr lang="ko-KR" altLang="en-US" dirty="0"/>
              <a:t> </a:t>
            </a:r>
            <a:r>
              <a:rPr lang="en-US" altLang="ko-KR" dirty="0"/>
              <a:t>: ==, != &lt;, &gt;, &lt;=, &gt;=</a:t>
            </a:r>
          </a:p>
          <a:p>
            <a:r>
              <a:rPr lang="ko-KR" altLang="en-US" dirty="0"/>
              <a:t>조건 </a:t>
            </a:r>
            <a:r>
              <a:rPr lang="en-US" altLang="ko-KR" dirty="0"/>
              <a:t>: a? b : c</a:t>
            </a:r>
          </a:p>
          <a:p>
            <a:r>
              <a:rPr lang="ko-KR" altLang="en-US" dirty="0"/>
              <a:t>논리 </a:t>
            </a:r>
            <a:r>
              <a:rPr lang="en-US" altLang="ko-KR" dirty="0"/>
              <a:t>: &amp;&amp;, ||</a:t>
            </a:r>
          </a:p>
        </p:txBody>
      </p:sp>
    </p:spTree>
    <p:extLst>
      <p:ext uri="{BB962C8B-B14F-4D97-AF65-F5344CB8AC3E}">
        <p14:creationId xmlns:p14="http://schemas.microsoft.com/office/powerpoint/2010/main" val="3009549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액션태그로 사용되는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EL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(jsp_23_2_ex1_elex)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173017" y="1911927"/>
            <a:ext cx="6991927" cy="794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</a:t>
            </a:r>
            <a:r>
              <a:rPr lang="en-US" altLang="ko-KR" dirty="0" err="1"/>
              <a:t>jsp:getProperty</a:t>
            </a:r>
            <a:r>
              <a:rPr lang="en-US" altLang="ko-KR" dirty="0"/>
              <a:t> name=</a:t>
            </a:r>
            <a:r>
              <a:rPr lang="en-US" altLang="ko-KR" i="1" dirty="0"/>
              <a:t>"member" property="name"/&gt;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1173017" y="3652982"/>
            <a:ext cx="6991927" cy="794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${member.name }</a:t>
            </a:r>
            <a:endParaRPr lang="ko-KR" altLang="en-US" dirty="0"/>
          </a:p>
        </p:txBody>
      </p:sp>
      <p:cxnSp>
        <p:nvCxnSpPr>
          <p:cNvPr id="9" name="직선 화살표 연결선 8"/>
          <p:cNvCxnSpPr>
            <a:stCxn id="14" idx="2"/>
            <a:endCxn id="16" idx="0"/>
          </p:cNvCxnSpPr>
          <p:nvPr/>
        </p:nvCxnSpPr>
        <p:spPr>
          <a:xfrm>
            <a:off x="4668981" y="2706255"/>
            <a:ext cx="0" cy="946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796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내장객체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(jsp_23_3_ex1_elex)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775853" y="1514763"/>
            <a:ext cx="6991927" cy="29279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/>
              <a:t>pageScope</a:t>
            </a:r>
            <a:r>
              <a:rPr lang="en-US" altLang="ko-KR" dirty="0"/>
              <a:t> : page</a:t>
            </a:r>
            <a:r>
              <a:rPr lang="ko-KR" altLang="en-US" dirty="0"/>
              <a:t>객체를 참조하는 객체</a:t>
            </a:r>
            <a:endParaRPr lang="en-US" altLang="ko-KR" dirty="0"/>
          </a:p>
          <a:p>
            <a:r>
              <a:rPr lang="en-US" altLang="ko-KR" dirty="0" err="1"/>
              <a:t>requestScope</a:t>
            </a:r>
            <a:r>
              <a:rPr lang="en-US" altLang="ko-KR" dirty="0"/>
              <a:t> : request</a:t>
            </a:r>
            <a:r>
              <a:rPr lang="ko-KR" altLang="en-US" dirty="0"/>
              <a:t>객체를 참조하는 객체</a:t>
            </a:r>
            <a:endParaRPr lang="en-US" altLang="ko-KR" dirty="0"/>
          </a:p>
          <a:p>
            <a:r>
              <a:rPr lang="en-US" altLang="ko-KR" dirty="0" err="1"/>
              <a:t>sessionScope</a:t>
            </a:r>
            <a:r>
              <a:rPr lang="en-US" altLang="ko-KR" dirty="0"/>
              <a:t> : session</a:t>
            </a:r>
            <a:r>
              <a:rPr lang="ko-KR" altLang="en-US" dirty="0"/>
              <a:t>객체를 참조하는 객체</a:t>
            </a:r>
            <a:endParaRPr lang="en-US" altLang="ko-KR" dirty="0"/>
          </a:p>
          <a:p>
            <a:r>
              <a:rPr lang="en-US" altLang="ko-KR" dirty="0" err="1"/>
              <a:t>applicationScope</a:t>
            </a:r>
            <a:r>
              <a:rPr lang="en-US" altLang="ko-KR" dirty="0"/>
              <a:t> : application</a:t>
            </a:r>
            <a:r>
              <a:rPr lang="ko-KR" altLang="en-US" dirty="0"/>
              <a:t>객체를 참조하는 객체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param</a:t>
            </a:r>
            <a:r>
              <a:rPr lang="en-US" altLang="ko-KR" dirty="0"/>
              <a:t> : </a:t>
            </a:r>
            <a:r>
              <a:rPr lang="ko-KR" altLang="en-US" dirty="0"/>
              <a:t>요청 </a:t>
            </a:r>
            <a:r>
              <a:rPr lang="ko-KR" altLang="en-US" dirty="0" err="1"/>
              <a:t>파라미터를</a:t>
            </a:r>
            <a:r>
              <a:rPr lang="ko-KR" altLang="en-US" dirty="0"/>
              <a:t> 참조하는 </a:t>
            </a:r>
            <a:r>
              <a:rPr lang="ko-KR" altLang="en-US" dirty="0" err="1"/>
              <a:t>객제</a:t>
            </a:r>
            <a:endParaRPr lang="en-US" altLang="ko-KR" dirty="0"/>
          </a:p>
          <a:p>
            <a:r>
              <a:rPr lang="en-US" altLang="ko-KR" dirty="0" err="1"/>
              <a:t>paramValues</a:t>
            </a:r>
            <a:r>
              <a:rPr lang="en-US" altLang="ko-KR" dirty="0"/>
              <a:t> : </a:t>
            </a:r>
            <a:r>
              <a:rPr lang="ko-KR" altLang="en-US" dirty="0"/>
              <a:t>요청 </a:t>
            </a:r>
            <a:r>
              <a:rPr lang="ko-KR" altLang="en-US" dirty="0" err="1"/>
              <a:t>파라미터</a:t>
            </a:r>
            <a:r>
              <a:rPr lang="en-US" altLang="ko-KR" dirty="0"/>
              <a:t>(</a:t>
            </a:r>
            <a:r>
              <a:rPr lang="ko-KR" altLang="en-US" dirty="0"/>
              <a:t>배열</a:t>
            </a:r>
            <a:r>
              <a:rPr lang="en-US" altLang="ko-KR" dirty="0"/>
              <a:t>)</a:t>
            </a:r>
            <a:r>
              <a:rPr lang="ko-KR" altLang="en-US" dirty="0"/>
              <a:t>를 참조하는 </a:t>
            </a:r>
            <a:r>
              <a:rPr lang="ko-KR" altLang="en-US" dirty="0" err="1"/>
              <a:t>객제</a:t>
            </a:r>
            <a:endParaRPr lang="en-US" altLang="ko-KR" dirty="0"/>
          </a:p>
          <a:p>
            <a:r>
              <a:rPr lang="en-US" altLang="ko-KR" dirty="0" err="1"/>
              <a:t>initParam</a:t>
            </a:r>
            <a:r>
              <a:rPr lang="en-US" altLang="ko-KR" dirty="0"/>
              <a:t> : </a:t>
            </a:r>
            <a:r>
              <a:rPr lang="ko-KR" altLang="en-US" dirty="0"/>
              <a:t>초기화 파라미터를 참조하는 </a:t>
            </a:r>
            <a:r>
              <a:rPr lang="ko-KR" altLang="en-US"/>
              <a:t>객체 </a:t>
            </a:r>
            <a:r>
              <a:rPr lang="en-US" altLang="ko-KR"/>
              <a:t>– 8</a:t>
            </a:r>
            <a:r>
              <a:rPr lang="ko-KR" altLang="en-US"/>
              <a:t>강참조</a:t>
            </a:r>
            <a:endParaRPr lang="en-US" altLang="ko-KR" dirty="0"/>
          </a:p>
          <a:p>
            <a:r>
              <a:rPr lang="en-US" altLang="ko-KR" dirty="0"/>
              <a:t>cookie : cookie</a:t>
            </a:r>
            <a:r>
              <a:rPr lang="ko-KR" altLang="en-US" dirty="0"/>
              <a:t>객체를 참조하는 객체</a:t>
            </a:r>
            <a:endParaRPr lang="en-US" altLang="ko-KR" dirty="0"/>
          </a:p>
        </p:txBody>
      </p:sp>
      <p:sp>
        <p:nvSpPr>
          <p:cNvPr id="4" name="직사각형 3"/>
          <p:cNvSpPr/>
          <p:nvPr/>
        </p:nvSpPr>
        <p:spPr>
          <a:xfrm>
            <a:off x="775853" y="4690150"/>
            <a:ext cx="10114569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page </a:t>
            </a:r>
            <a:r>
              <a:rPr lang="ko-KR" altLang="en-US" b="1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내부 </a:t>
            </a:r>
            <a:r>
              <a:rPr lang="ko-KR" altLang="en-US" b="1" dirty="0" smtClean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객체 </a:t>
            </a:r>
            <a:r>
              <a:rPr lang="en-US" altLang="ko-KR" b="1" dirty="0" smtClean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(</a:t>
            </a:r>
            <a:r>
              <a:rPr lang="ko-KR" altLang="en-US" b="1" dirty="0" smtClean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 </a:t>
            </a:r>
            <a:r>
              <a:rPr lang="en-US" altLang="ko-KR" b="1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JSP </a:t>
            </a:r>
            <a:r>
              <a:rPr lang="ko-KR" altLang="en-US" b="1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페이지 그 자체를 나타내는 </a:t>
            </a:r>
            <a:r>
              <a:rPr lang="ko-KR" altLang="en-US" b="1" dirty="0" smtClean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객체 </a:t>
            </a:r>
            <a:r>
              <a:rPr lang="en-US" altLang="ko-KR" b="1" dirty="0" smtClean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)</a:t>
            </a:r>
            <a:endParaRPr lang="ko-KR" altLang="en-US" b="1" dirty="0">
              <a:solidFill>
                <a:srgbClr val="333333"/>
              </a:solidFill>
              <a:latin typeface="NanumGothic" panose="020D0604000000000000" pitchFamily="50" charset="-127"/>
              <a:ea typeface="NanumGothic" panose="020D0604000000000000" pitchFamily="50" charset="-127"/>
            </a:endParaRPr>
          </a:p>
          <a:p>
            <a:endParaRPr lang="ko-KR" altLang="en-US" sz="1400" dirty="0">
              <a:solidFill>
                <a:srgbClr val="333333"/>
              </a:solidFill>
              <a:latin typeface="NanumGothic" panose="020D0604000000000000" pitchFamily="50" charset="-127"/>
              <a:ea typeface="NanumGothic" panose="020D0604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 smtClean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JSP </a:t>
            </a:r>
            <a:r>
              <a:rPr lang="ko-KR" altLang="en-US" sz="1400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페이지 내에서 </a:t>
            </a:r>
            <a:r>
              <a:rPr lang="en-US" altLang="ko-KR" sz="1400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page </a:t>
            </a:r>
            <a:r>
              <a:rPr lang="ko-KR" altLang="en-US" sz="1400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객체는 </a:t>
            </a:r>
            <a:r>
              <a:rPr lang="en-US" altLang="ko-KR" sz="1400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this </a:t>
            </a:r>
            <a:r>
              <a:rPr lang="ko-KR" altLang="en-US" sz="1400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키워드</a:t>
            </a:r>
            <a:r>
              <a:rPr lang="en-US" altLang="ko-KR" sz="1400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(this : </a:t>
            </a:r>
            <a:r>
              <a:rPr lang="ko-KR" altLang="en-US" sz="1400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자바에서 자기 자신을 가리키는 </a:t>
            </a:r>
            <a:r>
              <a:rPr lang="ko-KR" altLang="en-US" sz="1400" dirty="0" err="1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레퍼런스</a:t>
            </a:r>
            <a:r>
              <a:rPr lang="en-US" altLang="ko-KR" sz="1400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)</a:t>
            </a:r>
            <a:r>
              <a:rPr lang="ko-KR" altLang="en-US" sz="1400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로 자기 자신을 </a:t>
            </a:r>
            <a:r>
              <a:rPr lang="ko-KR" altLang="en-US" sz="1400" dirty="0" smtClean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참조</a:t>
            </a:r>
            <a:endParaRPr lang="en-US" altLang="ko-KR" sz="1400" dirty="0" smtClean="0">
              <a:solidFill>
                <a:srgbClr val="333333"/>
              </a:solidFill>
              <a:latin typeface="NanumGothic" panose="020D0604000000000000" pitchFamily="50" charset="-127"/>
              <a:ea typeface="NanumGothic" panose="020D0604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 smtClean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 smtClean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page </a:t>
            </a:r>
            <a:r>
              <a:rPr lang="ko-KR" altLang="en-US" sz="1400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객체는 </a:t>
            </a:r>
            <a:r>
              <a:rPr lang="en-US" altLang="ko-KR" sz="1400" dirty="0" err="1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javax.servlet.jsp.HttpJspPage</a:t>
            </a:r>
            <a:r>
              <a:rPr lang="en-US" altLang="ko-KR" sz="1400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 </a:t>
            </a:r>
            <a:r>
              <a:rPr lang="ko-KR" altLang="en-US" sz="1400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객체 타입으로 </a:t>
            </a:r>
            <a:r>
              <a:rPr lang="en-US" altLang="ko-KR" sz="1400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JSP </a:t>
            </a:r>
            <a:r>
              <a:rPr lang="ko-KR" altLang="en-US" sz="1400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내장 </a:t>
            </a:r>
            <a:r>
              <a:rPr lang="ko-KR" altLang="en-US" sz="1400" dirty="0" smtClean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객체</a:t>
            </a:r>
            <a:r>
              <a:rPr lang="en-US" altLang="ko-KR" sz="1400" dirty="0" smtClean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sz="1400" dirty="0" smtClean="0">
              <a:solidFill>
                <a:srgbClr val="333333"/>
              </a:solidFill>
              <a:latin typeface="NanumGothic" panose="020D0604000000000000" pitchFamily="50" charset="-127"/>
              <a:ea typeface="NanumGothic" panose="020D0604000000000000" pitchFamily="50" charset="-127"/>
            </a:endParaRPr>
          </a:p>
          <a:p>
            <a:r>
              <a:rPr lang="en-US" altLang="ko-KR" sz="1400" dirty="0" smtClean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-    </a:t>
            </a:r>
            <a:r>
              <a:rPr lang="ko-KR" altLang="en-US" sz="1400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웹 컨테이너는 자바만을 스크립트 언어로 지원하기 때문에 </a:t>
            </a:r>
            <a:r>
              <a:rPr lang="en-US" altLang="ko-KR" sz="1400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page </a:t>
            </a:r>
            <a:r>
              <a:rPr lang="ko-KR" altLang="en-US" sz="1400" dirty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객체는 현재 거의 사용되지 않는 내부 </a:t>
            </a:r>
            <a:r>
              <a:rPr lang="ko-KR" altLang="en-US" sz="1400" dirty="0" smtClean="0">
                <a:solidFill>
                  <a:srgbClr val="333333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객체</a:t>
            </a:r>
            <a:endParaRPr lang="ko-KR" altLang="en-US" sz="1400" dirty="0">
              <a:solidFill>
                <a:srgbClr val="333333"/>
              </a:solidFill>
              <a:latin typeface="NanumGothic" panose="020D0604000000000000" pitchFamily="50" charset="-127"/>
              <a:ea typeface="NanumGothic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361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* 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참조 </a:t>
            </a:r>
            <a:r>
              <a:rPr lang="en-US" altLang="ko-KR" sz="1600" b="1" dirty="0" smtClean="0">
                <a:latin typeface="+mn-ea"/>
              </a:rPr>
              <a:t>: request</a:t>
            </a:r>
            <a:r>
              <a:rPr lang="ko-KR" altLang="en-US" sz="1600" b="1" dirty="0" smtClean="0">
                <a:latin typeface="+mn-ea"/>
              </a:rPr>
              <a:t>객체 사용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>
                <a:latin typeface="+mn-ea"/>
              </a:rPr>
              <a:t>웹브라우저를</a:t>
            </a:r>
            <a:r>
              <a:rPr lang="ko-KR" altLang="en-US" sz="1100" dirty="0" smtClean="0">
                <a:latin typeface="+mn-ea"/>
              </a:rPr>
              <a:t> 통해 서버에 어떤 </a:t>
            </a:r>
            <a:r>
              <a:rPr lang="ko-KR" altLang="en-US" sz="1100" smtClean="0">
                <a:latin typeface="+mn-ea"/>
              </a:rPr>
              <a:t>정보를 요청하는 것을 </a:t>
            </a:r>
            <a:r>
              <a:rPr lang="en-US" altLang="ko-KR" sz="1100" dirty="0" smtClean="0">
                <a:latin typeface="+mn-ea"/>
              </a:rPr>
              <a:t>request</a:t>
            </a:r>
            <a:r>
              <a:rPr lang="ko-KR" altLang="en-US" sz="1100" dirty="0" smtClean="0">
                <a:latin typeface="+mn-ea"/>
              </a:rPr>
              <a:t>라고 합니다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그리고 이러한 요청 정보는 </a:t>
            </a:r>
            <a:r>
              <a:rPr lang="en-US" altLang="ko-KR" sz="1100" dirty="0" smtClean="0">
                <a:latin typeface="+mn-ea"/>
              </a:rPr>
              <a:t>request</a:t>
            </a:r>
            <a:r>
              <a:rPr lang="ko-KR" altLang="en-US" sz="1100" dirty="0" smtClean="0">
                <a:latin typeface="+mn-ea"/>
              </a:rPr>
              <a:t>객체가 관리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008" y="2030405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Request</a:t>
            </a:r>
            <a:r>
              <a:rPr lang="ko-KR" altLang="en-US" sz="1100" dirty="0" smtClean="0">
                <a:latin typeface="+mn-ea"/>
              </a:rPr>
              <a:t>객체 관련 </a:t>
            </a:r>
            <a:r>
              <a:rPr lang="ko-KR" altLang="en-US" sz="1100" dirty="0" err="1" smtClean="0">
                <a:latin typeface="+mn-ea"/>
              </a:rPr>
              <a:t>메소드</a:t>
            </a:r>
            <a:r>
              <a:rPr lang="en-US" altLang="ko-KR" sz="1100" dirty="0" smtClean="0">
                <a:latin typeface="+mn-ea"/>
              </a:rPr>
              <a:t>(</a:t>
            </a:r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jsp_11_1_ex1_requestobj)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730798" y="2292015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0798" y="2456674"/>
            <a:ext cx="10089604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getContextPath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웹어플리케이션의 컨텍스트 패스를 얻습니다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getServerName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서버의 이름을 얻습니다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getServerPort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포트번호를 얻습니다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getMethod</a:t>
            </a:r>
            <a:r>
              <a:rPr lang="en-US" altLang="ko-KR" sz="1100" dirty="0" smtClean="0">
                <a:latin typeface="+mn-ea"/>
              </a:rPr>
              <a:t>() : get</a:t>
            </a:r>
            <a:r>
              <a:rPr lang="ko-KR" altLang="en-US" sz="1100" dirty="0" smtClean="0">
                <a:latin typeface="+mn-ea"/>
              </a:rPr>
              <a:t>방식과 </a:t>
            </a:r>
            <a:r>
              <a:rPr lang="en-US" altLang="ko-KR" sz="1100" dirty="0" smtClean="0">
                <a:latin typeface="+mn-ea"/>
              </a:rPr>
              <a:t>post</a:t>
            </a:r>
            <a:r>
              <a:rPr lang="ko-KR" altLang="en-US" sz="1100" dirty="0" smtClean="0">
                <a:latin typeface="+mn-ea"/>
              </a:rPr>
              <a:t>방식을 구분할 수 있습니다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getSession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세션 객체를 얻습니다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getProtocol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해당 프로토콜을 얻습니다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>
                <a:latin typeface="+mn-ea"/>
              </a:rPr>
              <a:t>getRequestURL</a:t>
            </a:r>
            <a:r>
              <a:rPr lang="en-US" altLang="ko-KR" sz="1100" dirty="0">
                <a:latin typeface="+mn-ea"/>
              </a:rPr>
              <a:t>() : </a:t>
            </a:r>
            <a:r>
              <a:rPr lang="ko-KR" altLang="en-US" sz="1100" dirty="0">
                <a:latin typeface="+mn-ea"/>
              </a:rPr>
              <a:t>요청 </a:t>
            </a:r>
            <a:r>
              <a:rPr lang="en-US" altLang="ko-KR" sz="1100" dirty="0">
                <a:latin typeface="+mn-ea"/>
              </a:rPr>
              <a:t>URL</a:t>
            </a:r>
            <a:r>
              <a:rPr lang="ko-KR" altLang="en-US" sz="1100" dirty="0">
                <a:latin typeface="+mn-ea"/>
              </a:rPr>
              <a:t>를 얻습니다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 err="1">
                <a:latin typeface="+mn-ea"/>
              </a:rPr>
              <a:t>getRequestURI</a:t>
            </a:r>
            <a:r>
              <a:rPr lang="en-US" altLang="ko-KR" sz="1100" dirty="0">
                <a:latin typeface="+mn-ea"/>
              </a:rPr>
              <a:t>() : </a:t>
            </a:r>
            <a:r>
              <a:rPr lang="ko-KR" altLang="en-US" sz="1100" dirty="0">
                <a:latin typeface="+mn-ea"/>
              </a:rPr>
              <a:t>요청 </a:t>
            </a:r>
            <a:r>
              <a:rPr lang="en-US" altLang="ko-KR" sz="1100" dirty="0">
                <a:latin typeface="+mn-ea"/>
              </a:rPr>
              <a:t>URI</a:t>
            </a:r>
            <a:r>
              <a:rPr lang="ko-KR" altLang="en-US" sz="1100" dirty="0">
                <a:latin typeface="+mn-ea"/>
              </a:rPr>
              <a:t>를 얻습니다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 err="1">
                <a:latin typeface="+mn-ea"/>
              </a:rPr>
              <a:t>getQueryString</a:t>
            </a:r>
            <a:r>
              <a:rPr lang="en-US" altLang="ko-KR" sz="1100" dirty="0">
                <a:latin typeface="+mn-ea"/>
              </a:rPr>
              <a:t>() : </a:t>
            </a:r>
            <a:r>
              <a:rPr lang="ko-KR" altLang="en-US" sz="1100" dirty="0">
                <a:latin typeface="+mn-ea"/>
              </a:rPr>
              <a:t>쿼리스트링을 얻습니다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endParaRPr lang="en-US" altLang="ko-KR" sz="1100" dirty="0" smtClean="0">
              <a:latin typeface="+mn-ea"/>
            </a:endParaRPr>
          </a:p>
          <a:p>
            <a:r>
              <a:rPr lang="en-US" altLang="ko-KR" sz="1100" dirty="0" err="1" smtClean="0">
                <a:latin typeface="+mn-ea"/>
              </a:rPr>
              <a:t>getRemoteAddr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err="1" smtClean="0">
                <a:latin typeface="+mn-ea"/>
              </a:rPr>
              <a:t>웹서버에</a:t>
            </a:r>
            <a:r>
              <a:rPr lang="ko-KR" altLang="en-US" sz="1100" dirty="0" smtClean="0">
                <a:latin typeface="+mn-ea"/>
              </a:rPr>
              <a:t> 연결한 클라이언트 </a:t>
            </a:r>
            <a:r>
              <a:rPr lang="en-US" altLang="ko-KR" sz="1100" dirty="0" err="1" smtClean="0">
                <a:latin typeface="+mn-ea"/>
              </a:rPr>
              <a:t>ip</a:t>
            </a:r>
            <a:r>
              <a:rPr lang="ko-KR" altLang="en-US" sz="1100" dirty="0" smtClean="0">
                <a:latin typeface="+mn-ea"/>
              </a:rPr>
              <a:t>주소를 얻습니다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977" y="2548430"/>
            <a:ext cx="4494140" cy="168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27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* </a:t>
            </a:r>
            <a:r>
              <a:rPr lang="ko-KR" altLang="en-US" sz="1600" b="1" dirty="0">
                <a:latin typeface="+mn-ea"/>
              </a:rPr>
              <a:t>참조 </a:t>
            </a:r>
            <a:r>
              <a:rPr lang="en-US" altLang="ko-KR" sz="1600" b="1" dirty="0">
                <a:latin typeface="+mn-ea"/>
              </a:rPr>
              <a:t>: request</a:t>
            </a:r>
            <a:r>
              <a:rPr lang="ko-KR" altLang="en-US" sz="1600" b="1" dirty="0">
                <a:latin typeface="+mn-ea"/>
              </a:rPr>
              <a:t>객체 사용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AB2C425-13FB-4A05-A679-39340A253A12}"/>
              </a:ext>
            </a:extLst>
          </p:cNvPr>
          <p:cNvSpPr txBox="1"/>
          <p:nvPr/>
        </p:nvSpPr>
        <p:spPr>
          <a:xfrm>
            <a:off x="677008" y="1339861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request </a:t>
            </a:r>
            <a:r>
              <a:rPr lang="ko-KR" altLang="en-US" sz="1600" b="1" dirty="0">
                <a:latin typeface="+mn-ea"/>
              </a:rPr>
              <a:t>내장 객체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xmlns="" id="{3824183D-F0AA-4E04-A0D7-0E68C4A7E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369215"/>
              </p:ext>
            </p:extLst>
          </p:nvPr>
        </p:nvGraphicFramePr>
        <p:xfrm>
          <a:off x="677008" y="1825627"/>
          <a:ext cx="10543218" cy="4721420"/>
        </p:xfrm>
        <a:graphic>
          <a:graphicData uri="http://schemas.openxmlformats.org/drawingml/2006/table">
            <a:tbl>
              <a:tblPr/>
              <a:tblGrid>
                <a:gridCol w="2797712">
                  <a:extLst>
                    <a:ext uri="{9D8B030D-6E8A-4147-A177-3AD203B41FA5}">
                      <a16:colId xmlns:a16="http://schemas.microsoft.com/office/drawing/2014/main" xmlns="" val="2380794841"/>
                    </a:ext>
                  </a:extLst>
                </a:gridCol>
                <a:gridCol w="7745506">
                  <a:extLst>
                    <a:ext uri="{9D8B030D-6E8A-4147-A177-3AD203B41FA5}">
                      <a16:colId xmlns:a16="http://schemas.microsoft.com/office/drawing/2014/main" xmlns="" val="1820096953"/>
                    </a:ext>
                  </a:extLst>
                </a:gridCol>
              </a:tblGrid>
              <a:tr h="58408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>
                          <a:effectLst/>
                        </a:rPr>
                        <a:t>메소드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effectLst/>
                        </a:rPr>
                        <a:t>설명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47639441"/>
                  </a:ext>
                </a:extLst>
              </a:tr>
              <a:tr h="428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String </a:t>
                      </a:r>
                      <a:r>
                        <a:rPr lang="en-US" sz="1200" dirty="0" err="1">
                          <a:effectLst/>
                        </a:rPr>
                        <a:t>getProtocol</a:t>
                      </a:r>
                      <a:r>
                        <a:rPr lang="en-US" sz="1200" dirty="0">
                          <a:effectLst/>
                        </a:rPr>
                        <a:t>()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 웹 서버로 요청 시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사용 중인 프로토콜을 </a:t>
                      </a:r>
                      <a:r>
                        <a:rPr lang="ko-KR" altLang="en-US" sz="1200" dirty="0" err="1">
                          <a:effectLst/>
                        </a:rPr>
                        <a:t>리턴한다</a:t>
                      </a:r>
                      <a:r>
                        <a:rPr lang="en-US" altLang="ko-KR" sz="1200" dirty="0">
                          <a:effectLst/>
                        </a:rPr>
                        <a:t>.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07207218"/>
                  </a:ext>
                </a:extLst>
              </a:tr>
              <a:tr h="428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String </a:t>
                      </a:r>
                      <a:r>
                        <a:rPr lang="en-US" sz="1200" dirty="0" err="1">
                          <a:effectLst/>
                        </a:rPr>
                        <a:t>getServerName</a:t>
                      </a:r>
                      <a:r>
                        <a:rPr lang="en-US" sz="1200" dirty="0">
                          <a:effectLst/>
                        </a:rPr>
                        <a:t>()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서버로 요청 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서버의 도메인 이름을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리턴한다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64426697"/>
                  </a:ext>
                </a:extLst>
              </a:tr>
              <a:tr h="42800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String getMethod()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서버로 요청 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요청에 사용된 요청 방식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(GET, POST, PUT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리턴한다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1586762"/>
                  </a:ext>
                </a:extLst>
              </a:tr>
              <a:tr h="42800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String getQueryString()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서버로 요청 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요청에 사용된 </a:t>
                      </a:r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QueryString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리턴한다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41840801"/>
                  </a:ext>
                </a:extLst>
              </a:tr>
              <a:tr h="42800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String getRequestURI()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서버로 요청 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요청에 사용된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URL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로부터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URI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값을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리턴한다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82127041"/>
                  </a:ext>
                </a:extLst>
              </a:tr>
              <a:tr h="42800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String getRemoteAddr()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서버로 정보를 요청한 웹 브라우저의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주소를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리턴한다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18957565"/>
                  </a:ext>
                </a:extLst>
              </a:tr>
              <a:tr h="42800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int getServerPort()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서버로 요청 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서버의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Port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번호를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리턴한다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34166267"/>
                  </a:ext>
                </a:extLst>
              </a:tr>
              <a:tr h="42800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String getContextPath()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JSP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페이지가 속한 웹 어플리케이션의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콘텍스트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경로를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리턴한다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65545792"/>
                  </a:ext>
                </a:extLst>
              </a:tr>
              <a:tr h="42800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String getHeader(name)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서버로 요청 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HTTP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헤더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(header)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헤더 이름인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해당하는 속성값을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리턴한다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1988984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Enumeration </a:t>
                      </a:r>
                      <a:r>
                        <a:rPr lang="en-US" sz="1200" dirty="0" err="1">
                          <a:effectLst/>
                        </a:rPr>
                        <a:t>getHeaderNames</a:t>
                      </a:r>
                      <a:r>
                        <a:rPr lang="en-US" sz="1200" dirty="0">
                          <a:effectLst/>
                        </a:rPr>
                        <a:t>()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서버로 요청 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HTTP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헤더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(header)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있는 모든 헤더 이름을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리턴한다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333" marR="71333" marT="35667" marB="3566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2132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412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* </a:t>
            </a:r>
            <a:r>
              <a:rPr lang="ko-KR" altLang="en-US" sz="1600" b="1" dirty="0">
                <a:latin typeface="+mn-ea"/>
              </a:rPr>
              <a:t>참조 </a:t>
            </a:r>
            <a:r>
              <a:rPr lang="en-US" altLang="ko-KR" sz="1600" b="1" dirty="0">
                <a:latin typeface="+mn-ea"/>
              </a:rPr>
              <a:t>: application </a:t>
            </a:r>
            <a:r>
              <a:rPr lang="ko-KR" altLang="en-US" sz="1600" b="1" dirty="0">
                <a:latin typeface="+mn-ea"/>
              </a:rPr>
              <a:t>기본 </a:t>
            </a:r>
            <a:r>
              <a:rPr lang="ko-KR" altLang="en-US" sz="1600" b="1" dirty="0" smtClean="0">
                <a:latin typeface="+mn-ea"/>
              </a:rPr>
              <a:t>객체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AB2C425-13FB-4A05-A679-39340A253A12}"/>
              </a:ext>
            </a:extLst>
          </p:cNvPr>
          <p:cNvSpPr txBox="1"/>
          <p:nvPr/>
        </p:nvSpPr>
        <p:spPr>
          <a:xfrm>
            <a:off x="677008" y="1339861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application </a:t>
            </a:r>
            <a:r>
              <a:rPr lang="ko-KR" altLang="en-US" sz="1600" b="1" dirty="0">
                <a:latin typeface="+mn-ea"/>
              </a:rPr>
              <a:t>기본 객체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DC20C82-727E-4FDA-9457-5D57F0697EC9}"/>
              </a:ext>
            </a:extLst>
          </p:cNvPr>
          <p:cNvSpPr txBox="1"/>
          <p:nvPr/>
        </p:nvSpPr>
        <p:spPr>
          <a:xfrm>
            <a:off x="677008" y="1904225"/>
            <a:ext cx="106767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application </a:t>
            </a:r>
            <a:r>
              <a:rPr lang="ko-KR" altLang="en-US" dirty="0"/>
              <a:t>내장 객체는 웹 어플리케이션의 설정 정보를 갖는 </a:t>
            </a:r>
            <a:r>
              <a:rPr lang="en-US" altLang="ko-KR" dirty="0"/>
              <a:t>context </a:t>
            </a:r>
            <a:r>
              <a:rPr lang="ko-KR" altLang="en-US" dirty="0"/>
              <a:t>와 관련이 있는 객체</a:t>
            </a:r>
          </a:p>
          <a:p>
            <a:r>
              <a:rPr lang="en-US" altLang="ko-KR" dirty="0"/>
              <a:t>- application </a:t>
            </a:r>
            <a:r>
              <a:rPr lang="ko-KR" altLang="en-US" dirty="0"/>
              <a:t>객체는 웹 어플리케이션이 실행되는 서버의 설정 정보 및 자원에 대한 정보를 얻어내거나 어플리케이션이 실행되고 있는 동안에 발생할 수 있는 이벤트 로그 정보와 관련된 기능들을 제공</a:t>
            </a:r>
            <a:br>
              <a:rPr lang="ko-KR" altLang="en-US" dirty="0"/>
            </a:br>
            <a:r>
              <a:rPr lang="en-US" altLang="ko-KR" dirty="0"/>
              <a:t>- application </a:t>
            </a:r>
            <a:r>
              <a:rPr lang="ko-KR" altLang="en-US" dirty="0"/>
              <a:t>객체는 </a:t>
            </a:r>
            <a:r>
              <a:rPr lang="en-US" altLang="ko-KR" dirty="0" err="1"/>
              <a:t>javax.servlet.ServletContext</a:t>
            </a:r>
            <a:r>
              <a:rPr lang="en-US" altLang="ko-KR" dirty="0"/>
              <a:t> </a:t>
            </a:r>
            <a:r>
              <a:rPr lang="ko-KR" altLang="en-US" dirty="0"/>
              <a:t>객체 타입으로 제공하고 </a:t>
            </a:r>
            <a:r>
              <a:rPr lang="en-US" altLang="ko-KR" dirty="0"/>
              <a:t>application </a:t>
            </a:r>
            <a:r>
              <a:rPr lang="ko-KR" altLang="en-US" dirty="0"/>
              <a:t>객체 형태로 사용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070269"/>
              </p:ext>
            </p:extLst>
          </p:nvPr>
        </p:nvGraphicFramePr>
        <p:xfrm>
          <a:off x="837040" y="3607363"/>
          <a:ext cx="10214374" cy="3048000"/>
        </p:xfrm>
        <a:graphic>
          <a:graphicData uri="http://schemas.openxmlformats.org/drawingml/2006/table">
            <a:tbl>
              <a:tblPr/>
              <a:tblGrid>
                <a:gridCol w="2713468"/>
                <a:gridCol w="1845275"/>
                <a:gridCol w="5655631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메서드</a:t>
                      </a:r>
                      <a:endParaRPr lang="ko-KR" alt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469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9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9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B7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반환타입</a:t>
                      </a:r>
                      <a:endParaRPr lang="ko-KR" altLang="en-US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469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9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9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B7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469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9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92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B7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getInitParameterNames</a:t>
                      </a:r>
                      <a:r>
                        <a:rPr 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Enumeration&lt;String&gt;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</a:t>
                      </a:r>
                      <a:r>
                        <a:rPr lang="ko-KR" alt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파라미터</a:t>
                      </a:r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이름 목록을 </a:t>
                      </a:r>
                      <a:r>
                        <a:rPr lang="ko-KR" alt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리턴합니다</a:t>
                      </a:r>
                      <a:r>
                        <a:rPr lang="en-US" altLang="ko-KR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getInitParameter</a:t>
                      </a:r>
                      <a:r>
                        <a:rPr 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(String </a:t>
                      </a:r>
                      <a:r>
                        <a:rPr 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paramName</a:t>
                      </a:r>
                      <a:r>
                        <a:rPr 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</a:t>
                      </a:r>
                      <a:r>
                        <a:rPr lang="ko-KR" alt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파라미터명을</a:t>
                      </a:r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인자로 전달하면 그에 따른 값이 문자열로 </a:t>
                      </a:r>
                      <a:r>
                        <a:rPr lang="ko-KR" alt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리턴됩니다</a:t>
                      </a:r>
                      <a:r>
                        <a:rPr lang="en-US" altLang="ko-KR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getServerInfo</a:t>
                      </a:r>
                      <a:r>
                        <a:rPr 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동작하고 있는 서버 정보를 </a:t>
                      </a:r>
                      <a:r>
                        <a:rPr lang="ko-KR" alt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리턴합니다</a:t>
                      </a:r>
                      <a:r>
                        <a:rPr lang="en-US" altLang="ko-KR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getMajorVersion()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지원하는 </a:t>
                      </a:r>
                      <a:r>
                        <a:rPr lang="ko-KR" alt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서블릿</a:t>
                      </a:r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스펙의</a:t>
                      </a:r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major </a:t>
                      </a:r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버전을 </a:t>
                      </a:r>
                      <a:r>
                        <a:rPr lang="ko-KR" alt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리턴합니다</a:t>
                      </a:r>
                      <a:r>
                        <a:rPr lang="en-US" altLang="ko-KR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getMinorVersion</a:t>
                      </a:r>
                      <a:r>
                        <a:rPr 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지원하는 </a:t>
                      </a:r>
                      <a:r>
                        <a:rPr lang="ko-KR" alt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서블릿</a:t>
                      </a:r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스펙의</a:t>
                      </a:r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minor </a:t>
                      </a:r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버전을 </a:t>
                      </a:r>
                      <a:r>
                        <a:rPr lang="ko-KR" alt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리턴합니다</a:t>
                      </a:r>
                      <a:r>
                        <a:rPr lang="en-US" altLang="ko-KR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log(String text)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void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 로그 파일에 로그 내용을 기록합니다</a:t>
                      </a:r>
                      <a:r>
                        <a:rPr lang="en-US" altLang="ko-KR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log(String text, Throwable t)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void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 로그파일에 로그 내용을 기록하며</a:t>
                      </a:r>
                      <a:r>
                        <a:rPr lang="en-US" altLang="ko-KR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두번째</a:t>
                      </a:r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인자로 넘긴 예외정보와 </a:t>
                      </a:r>
                      <a:r>
                        <a:rPr lang="ko-KR" alt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스택트레이스</a:t>
                      </a:r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정보를 기록합니다</a:t>
                      </a:r>
                      <a:r>
                        <a:rPr lang="en-US" altLang="ko-KR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 </a:t>
                      </a:r>
                      <a:endParaRPr lang="ko-KR" altLang="en-US" dirty="0">
                        <a:effectLst/>
                      </a:endParaRPr>
                    </a:p>
                    <a:p>
                      <a:pPr algn="l"/>
                      <a:r>
                        <a:rPr lang="en-US" altLang="ko-KR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try{ } catch(){} </a:t>
                      </a:r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예외처리 하여 잡은 예외를 기록할 때 </a:t>
                      </a:r>
                      <a:r>
                        <a:rPr lang="ko-KR" alt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유용합</a:t>
                      </a:r>
                      <a:endParaRPr lang="ko-KR" alt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911233" y="3232848"/>
            <a:ext cx="21419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hlinkClick r:id="rId2"/>
              </a:rPr>
              <a:t>https://dololak.tistory.com/428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14190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* </a:t>
            </a:r>
            <a:r>
              <a:rPr lang="ko-KR" altLang="en-US" sz="1600" b="1" dirty="0">
                <a:latin typeface="+mn-ea"/>
              </a:rPr>
              <a:t>참조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en-US" altLang="ko-KR" sz="1600" b="1" dirty="0" smtClean="0">
                <a:latin typeface="+mn-ea"/>
              </a:rPr>
              <a:t>session</a:t>
            </a:r>
            <a:r>
              <a:rPr lang="ko-KR" altLang="en-US" sz="1600" b="1" smtClean="0">
                <a:latin typeface="+mn-ea"/>
              </a:rPr>
              <a:t>객체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7008" y="1342573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세션 관련 </a:t>
            </a:r>
            <a:r>
              <a:rPr lang="ko-KR" altLang="en-US" sz="1100" dirty="0" err="1" smtClean="0">
                <a:latin typeface="+mn-ea"/>
              </a:rPr>
              <a:t>메소드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730798" y="1572411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0798" y="1577583"/>
            <a:ext cx="10089604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setAttribute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세션에 데이터를 저장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getAttribute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세션에서 데이터를 얻습니다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getAttributeNames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세션에 저장되어 있는 모든 데이터의 이름</a:t>
            </a:r>
            <a:r>
              <a:rPr lang="en-US" altLang="ko-KR" sz="1100" dirty="0" smtClean="0">
                <a:latin typeface="+mn-ea"/>
              </a:rPr>
              <a:t>(</a:t>
            </a:r>
            <a:r>
              <a:rPr lang="ko-KR" altLang="en-US" sz="1100" dirty="0" err="1" smtClean="0">
                <a:latin typeface="+mn-ea"/>
              </a:rPr>
              <a:t>유니크한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ko-KR" altLang="en-US" sz="1100" dirty="0" err="1" smtClean="0">
                <a:latin typeface="+mn-ea"/>
              </a:rPr>
              <a:t>키값</a:t>
            </a:r>
            <a:r>
              <a:rPr lang="en-US" altLang="ko-KR" sz="1100" dirty="0" smtClean="0">
                <a:latin typeface="+mn-ea"/>
              </a:rPr>
              <a:t>)</a:t>
            </a:r>
            <a:r>
              <a:rPr lang="ko-KR" altLang="en-US" sz="1100" dirty="0" smtClean="0">
                <a:latin typeface="+mn-ea"/>
              </a:rPr>
              <a:t>을 얻습니다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getId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자동 생성된 세션의 </a:t>
            </a:r>
            <a:r>
              <a:rPr lang="ko-KR" altLang="en-US" sz="1100" dirty="0" err="1" smtClean="0">
                <a:latin typeface="+mn-ea"/>
              </a:rPr>
              <a:t>유니크한</a:t>
            </a:r>
            <a:r>
              <a:rPr lang="ko-KR" altLang="en-US" sz="1100" dirty="0" smtClean="0">
                <a:latin typeface="+mn-ea"/>
              </a:rPr>
              <a:t> 아이디를 얻습니다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isNew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세션이 최초 생성되었는지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이전에 생성된 세션인지를 구분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getMaxInactiveInterval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세션의 유효시간을 얻습니다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가장 최근 </a:t>
            </a:r>
            <a:r>
              <a:rPr lang="ko-KR" altLang="en-US" sz="1100" b="1" dirty="0" smtClean="0">
                <a:latin typeface="+mn-ea"/>
              </a:rPr>
              <a:t>요청시점을 기준으로 카운트 </a:t>
            </a:r>
            <a:r>
              <a:rPr lang="ko-KR" altLang="en-US" sz="1100" dirty="0" smtClean="0">
                <a:latin typeface="+mn-ea"/>
              </a:rPr>
              <a:t>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(C:\</a:t>
            </a:r>
            <a:r>
              <a:rPr lang="en-US" altLang="ko-KR" sz="1100" dirty="0" smtClean="0">
                <a:latin typeface="+mn-ea"/>
              </a:rPr>
              <a:t>javalec\apache-tomcat-7.0.57\apache-tomcat-7.0.57\conf\web.xml </a:t>
            </a:r>
            <a:r>
              <a:rPr lang="ko-KR" altLang="en-US" sz="1100" dirty="0" smtClean="0">
                <a:latin typeface="+mn-ea"/>
              </a:rPr>
              <a:t>참조</a:t>
            </a:r>
            <a:r>
              <a:rPr lang="en-US" altLang="ko-KR" sz="1100" dirty="0" smtClean="0">
                <a:latin typeface="+mn-ea"/>
              </a:rPr>
              <a:t>)</a:t>
            </a:r>
          </a:p>
          <a:p>
            <a:r>
              <a:rPr lang="en-US" altLang="ko-KR" sz="1100" dirty="0" err="1" smtClean="0">
                <a:latin typeface="+mn-ea"/>
              </a:rPr>
              <a:t>removeAttribute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세션에서 특정 데이터 제거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Invalidate() : </a:t>
            </a:r>
            <a:r>
              <a:rPr lang="ko-KR" altLang="en-US" sz="1100" dirty="0" smtClean="0">
                <a:latin typeface="+mn-ea"/>
              </a:rPr>
              <a:t>세션의</a:t>
            </a:r>
            <a:r>
              <a:rPr lang="en-US" altLang="ko-KR" sz="1100" dirty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모든 데이터를 삭제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218" y="3614451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세션 예제</a:t>
            </a:r>
            <a:r>
              <a:rPr lang="en-US" altLang="ko-KR" sz="1100" dirty="0">
                <a:latin typeface="+mn-ea"/>
              </a:rPr>
              <a:t>(jsp_14_2_ex1_sessionex)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677008" y="3844289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7008" y="3849461"/>
            <a:ext cx="100896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s</a:t>
            </a:r>
            <a:r>
              <a:rPr lang="en-US" altLang="ko-KR" sz="1100" dirty="0" smtClean="0">
                <a:latin typeface="+mn-ea"/>
              </a:rPr>
              <a:t>ession </a:t>
            </a:r>
            <a:r>
              <a:rPr lang="ko-KR" altLang="en-US" sz="1100" dirty="0" err="1" smtClean="0">
                <a:latin typeface="+mn-ea"/>
              </a:rPr>
              <a:t>메소드를</a:t>
            </a:r>
            <a:r>
              <a:rPr lang="ko-KR" altLang="en-US" sz="1100" dirty="0" smtClean="0">
                <a:latin typeface="+mn-ea"/>
              </a:rPr>
              <a:t> 이용해서 데이터를 저장 및 삭제해 봅니다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0798" y="4505513"/>
            <a:ext cx="100896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&lt;%</a:t>
            </a:r>
          </a:p>
          <a:p>
            <a:r>
              <a:rPr lang="en-US" altLang="ko-KR" dirty="0" err="1"/>
              <a:t>session.setAttribute</a:t>
            </a:r>
            <a:r>
              <a:rPr lang="en-US" altLang="ko-KR" dirty="0"/>
              <a:t>("</a:t>
            </a:r>
            <a:r>
              <a:rPr lang="en-US" altLang="ko-KR" dirty="0" err="1"/>
              <a:t>mySessionName</a:t>
            </a:r>
            <a:r>
              <a:rPr lang="en-US" altLang="ko-KR" dirty="0"/>
              <a:t>", "</a:t>
            </a:r>
            <a:r>
              <a:rPr lang="en-US" altLang="ko-KR" dirty="0" err="1"/>
              <a:t>mySessionData</a:t>
            </a:r>
            <a:r>
              <a:rPr lang="en-US" altLang="ko-KR" dirty="0"/>
              <a:t>");</a:t>
            </a:r>
          </a:p>
          <a:p>
            <a:r>
              <a:rPr lang="en-US" altLang="ko-KR" dirty="0" err="1"/>
              <a:t>session.setAttribute</a:t>
            </a:r>
            <a:r>
              <a:rPr lang="en-US" altLang="ko-KR" dirty="0"/>
              <a:t>("</a:t>
            </a:r>
            <a:r>
              <a:rPr lang="en-US" altLang="ko-KR" dirty="0" err="1"/>
              <a:t>myNum</a:t>
            </a:r>
            <a:r>
              <a:rPr lang="en-US" altLang="ko-KR" dirty="0"/>
              <a:t>", 12345);</a:t>
            </a:r>
          </a:p>
          <a:p>
            <a:r>
              <a:rPr lang="en-US" altLang="ko-KR" dirty="0" err="1"/>
              <a:t>session.setAttribute</a:t>
            </a:r>
            <a:r>
              <a:rPr lang="en-US" altLang="ko-KR" dirty="0"/>
              <a:t>("</a:t>
            </a:r>
            <a:r>
              <a:rPr lang="en-US" altLang="ko-KR" dirty="0" err="1"/>
              <a:t>user_id</a:t>
            </a:r>
            <a:r>
              <a:rPr lang="en-US" altLang="ko-KR" dirty="0"/>
              <a:t>", "</a:t>
            </a:r>
            <a:r>
              <a:rPr lang="en-US" altLang="ko-KR" dirty="0" err="1"/>
              <a:t>abcde</a:t>
            </a:r>
            <a:r>
              <a:rPr lang="en-US" altLang="ko-KR" dirty="0"/>
              <a:t>");</a:t>
            </a:r>
          </a:p>
          <a:p>
            <a:r>
              <a:rPr lang="en-US" altLang="ko-KR" dirty="0" err="1"/>
              <a:t>session.setAttribute</a:t>
            </a:r>
            <a:r>
              <a:rPr lang="en-US" altLang="ko-KR" dirty="0"/>
              <a:t>("</a:t>
            </a:r>
            <a:r>
              <a:rPr lang="en-US" altLang="ko-KR" dirty="0" err="1"/>
              <a:t>authuser</a:t>
            </a:r>
            <a:r>
              <a:rPr lang="en-US" altLang="ko-KR" dirty="0"/>
              <a:t>", "</a:t>
            </a:r>
            <a:r>
              <a:rPr lang="en-US" altLang="ko-KR" dirty="0" err="1"/>
              <a:t>abcde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%&gt;</a:t>
            </a:r>
            <a:endParaRPr lang="en-US" altLang="ko-KR" sz="11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02080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23-3.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내장객체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9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AB2C425-13FB-4A05-A679-39340A253A12}"/>
              </a:ext>
            </a:extLst>
          </p:cNvPr>
          <p:cNvSpPr txBox="1"/>
          <p:nvPr/>
        </p:nvSpPr>
        <p:spPr>
          <a:xfrm>
            <a:off x="677008" y="1339861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세션</a:t>
            </a:r>
            <a:r>
              <a:rPr lang="en-US" altLang="ko-KR" sz="1600" b="1" dirty="0">
                <a:latin typeface="+mn-ea"/>
              </a:rPr>
              <a:t>(Session) </a:t>
            </a:r>
            <a:r>
              <a:rPr lang="ko-KR" altLang="en-US" sz="1600" b="1" dirty="0">
                <a:latin typeface="+mn-ea"/>
              </a:rPr>
              <a:t>메소드 리스트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xmlns="" id="{FBB53929-2522-4B4B-9736-07629DCD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027541"/>
              </p:ext>
            </p:extLst>
          </p:nvPr>
        </p:nvGraphicFramePr>
        <p:xfrm>
          <a:off x="796066" y="1825624"/>
          <a:ext cx="10676791" cy="4653316"/>
        </p:xfrm>
        <a:graphic>
          <a:graphicData uri="http://schemas.openxmlformats.org/drawingml/2006/table">
            <a:tbl>
              <a:tblPr/>
              <a:tblGrid>
                <a:gridCol w="2829261">
                  <a:extLst>
                    <a:ext uri="{9D8B030D-6E8A-4147-A177-3AD203B41FA5}">
                      <a16:colId xmlns:a16="http://schemas.microsoft.com/office/drawing/2014/main" xmlns="" val="2087734790"/>
                    </a:ext>
                  </a:extLst>
                </a:gridCol>
                <a:gridCol w="1569368">
                  <a:extLst>
                    <a:ext uri="{9D8B030D-6E8A-4147-A177-3AD203B41FA5}">
                      <a16:colId xmlns:a16="http://schemas.microsoft.com/office/drawing/2014/main" xmlns="" val="4065152669"/>
                    </a:ext>
                  </a:extLst>
                </a:gridCol>
                <a:gridCol w="6278162">
                  <a:extLst>
                    <a:ext uri="{9D8B030D-6E8A-4147-A177-3AD203B41FA5}">
                      <a16:colId xmlns:a16="http://schemas.microsoft.com/office/drawing/2014/main" xmlns="" val="2327837436"/>
                    </a:ext>
                  </a:extLst>
                </a:gridCol>
              </a:tblGrid>
              <a:tr h="5195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effectLst/>
                        </a:rPr>
                        <a:t> 메소드 이름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effectLst/>
                        </a:rPr>
                        <a:t>리턴 타입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effectLst/>
                        </a:rPr>
                        <a:t>설명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97749633"/>
                  </a:ext>
                </a:extLst>
              </a:tr>
              <a:tr h="65270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effectLst/>
                        </a:rPr>
                        <a:t>getAttribute</a:t>
                      </a:r>
                      <a:r>
                        <a:rPr lang="en-US" sz="1200" dirty="0">
                          <a:effectLst/>
                        </a:rPr>
                        <a:t>(String name)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java.lang.Object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effectLst/>
                        </a:rPr>
                        <a:t> 세션 속성명이 </a:t>
                      </a:r>
                      <a:r>
                        <a:rPr lang="en-US" altLang="ko-KR" sz="1200">
                          <a:effectLst/>
                        </a:rPr>
                        <a:t>name</a:t>
                      </a:r>
                      <a:r>
                        <a:rPr lang="ko-KR" altLang="en-US" sz="1200">
                          <a:effectLst/>
                        </a:rPr>
                        <a:t>인 속성의 값을 </a:t>
                      </a:r>
                      <a:r>
                        <a:rPr lang="en-US" altLang="ko-KR" sz="1200">
                          <a:effectLst/>
                        </a:rPr>
                        <a:t>Object </a:t>
                      </a:r>
                      <a:r>
                        <a:rPr lang="ko-KR" altLang="en-US" sz="1200">
                          <a:effectLst/>
                        </a:rPr>
                        <a:t>타입으로 리턴한다</a:t>
                      </a:r>
                      <a:r>
                        <a:rPr lang="en-US" altLang="ko-KR" sz="1200">
                          <a:effectLst/>
                        </a:rPr>
                        <a:t>. </a:t>
                      </a:r>
                      <a:r>
                        <a:rPr lang="ko-KR" altLang="en-US" sz="1200">
                          <a:effectLst/>
                        </a:rPr>
                        <a:t>해당 되는 속성명이 없을 경우에는 </a:t>
                      </a:r>
                      <a:r>
                        <a:rPr lang="en-US" altLang="ko-KR" sz="1200">
                          <a:effectLst/>
                        </a:rPr>
                        <a:t>null </a:t>
                      </a:r>
                      <a:r>
                        <a:rPr lang="ko-KR" altLang="en-US" sz="1200">
                          <a:effectLst/>
                        </a:rPr>
                        <a:t>값을 리턴한다</a:t>
                      </a:r>
                      <a:r>
                        <a:rPr lang="en-US" altLang="ko-KR" sz="1200">
                          <a:effectLst/>
                        </a:rPr>
                        <a:t>.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98091615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effectLst/>
                        </a:rPr>
                        <a:t>getAttributeNames</a:t>
                      </a:r>
                      <a:r>
                        <a:rPr lang="en-US" sz="1200" dirty="0">
                          <a:effectLst/>
                        </a:rPr>
                        <a:t>()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effectLst/>
                        </a:rPr>
                        <a:t>java.util.Enumeration</a:t>
                      </a: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effectLst/>
                        </a:rPr>
                        <a:t> 세션 속성의 이름들을 </a:t>
                      </a:r>
                      <a:r>
                        <a:rPr lang="en-US" altLang="ko-KR" sz="1200">
                          <a:effectLst/>
                        </a:rPr>
                        <a:t>Enumeration </a:t>
                      </a:r>
                      <a:r>
                        <a:rPr lang="ko-KR" altLang="en-US" sz="1200">
                          <a:effectLst/>
                        </a:rPr>
                        <a:t>객체 타입으로 리턴한다</a:t>
                      </a:r>
                      <a:r>
                        <a:rPr lang="en-US" altLang="ko-KR" sz="1200">
                          <a:effectLst/>
                        </a:rPr>
                        <a:t>.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42896270"/>
                  </a:ext>
                </a:extLst>
              </a:tr>
              <a:tr h="65270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getCreationTime()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long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effectLst/>
                        </a:rPr>
                        <a:t>1970</a:t>
                      </a:r>
                      <a:r>
                        <a:rPr lang="ko-KR" altLang="en-US" sz="1200" dirty="0">
                          <a:effectLst/>
                        </a:rPr>
                        <a:t>년 </a:t>
                      </a:r>
                      <a:r>
                        <a:rPr lang="en-US" altLang="ko-KR" sz="1200" dirty="0">
                          <a:effectLst/>
                        </a:rPr>
                        <a:t>1</a:t>
                      </a:r>
                      <a:r>
                        <a:rPr lang="ko-KR" altLang="en-US" sz="1200" dirty="0">
                          <a:effectLst/>
                        </a:rPr>
                        <a:t>월 </a:t>
                      </a:r>
                      <a:r>
                        <a:rPr lang="en-US" altLang="ko-KR" sz="1200" dirty="0">
                          <a:effectLst/>
                        </a:rPr>
                        <a:t>1</a:t>
                      </a:r>
                      <a:r>
                        <a:rPr lang="ko-KR" altLang="en-US" sz="1200" dirty="0">
                          <a:effectLst/>
                        </a:rPr>
                        <a:t>일 </a:t>
                      </a:r>
                      <a:r>
                        <a:rPr lang="en-US" altLang="ko-KR" sz="1200" dirty="0">
                          <a:effectLst/>
                        </a:rPr>
                        <a:t>0</a:t>
                      </a:r>
                      <a:r>
                        <a:rPr lang="ko-KR" altLang="en-US" sz="1200" dirty="0">
                          <a:effectLst/>
                        </a:rPr>
                        <a:t>시 </a:t>
                      </a:r>
                      <a:r>
                        <a:rPr lang="en-US" altLang="ko-KR" sz="1200" dirty="0">
                          <a:effectLst/>
                        </a:rPr>
                        <a:t>0</a:t>
                      </a:r>
                      <a:r>
                        <a:rPr lang="ko-KR" altLang="en-US" sz="1200" dirty="0">
                          <a:effectLst/>
                        </a:rPr>
                        <a:t>초를 기준으로 하여 현재 세션이 생성된 시간까지 경과한 시간을 계산하여 </a:t>
                      </a:r>
                      <a:r>
                        <a:rPr lang="en-US" altLang="ko-KR" sz="1200" dirty="0">
                          <a:effectLst/>
                        </a:rPr>
                        <a:t>1/1000</a:t>
                      </a:r>
                      <a:r>
                        <a:rPr lang="ko-KR" altLang="en-US" sz="1200" dirty="0">
                          <a:effectLst/>
                        </a:rPr>
                        <a:t>초 값으로 </a:t>
                      </a:r>
                      <a:r>
                        <a:rPr lang="ko-KR" altLang="en-US" sz="1200" dirty="0" err="1">
                          <a:effectLst/>
                        </a:rPr>
                        <a:t>리턴한다</a:t>
                      </a:r>
                      <a:r>
                        <a:rPr lang="en-US" altLang="ko-KR" sz="1200" dirty="0">
                          <a:effectLst/>
                        </a:rPr>
                        <a:t>.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47965109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effectLst/>
                        </a:rPr>
                        <a:t>getId</a:t>
                      </a:r>
                      <a:r>
                        <a:rPr lang="en-US" sz="1200" dirty="0">
                          <a:effectLst/>
                        </a:rPr>
                        <a:t>()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java.lang.String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세션에 할당된 고유 식별자를 </a:t>
                      </a:r>
                      <a:r>
                        <a:rPr lang="en-US" altLang="ko-KR" sz="1200" dirty="0">
                          <a:effectLst/>
                        </a:rPr>
                        <a:t>String </a:t>
                      </a:r>
                      <a:r>
                        <a:rPr lang="ko-KR" altLang="en-US" sz="1200" dirty="0">
                          <a:effectLst/>
                        </a:rPr>
                        <a:t>타입으로 </a:t>
                      </a:r>
                      <a:r>
                        <a:rPr lang="ko-KR" altLang="en-US" sz="1200" dirty="0" err="1">
                          <a:effectLst/>
                        </a:rPr>
                        <a:t>리턴한다</a:t>
                      </a:r>
                      <a:r>
                        <a:rPr lang="en-US" altLang="ko-KR" sz="1200" dirty="0">
                          <a:effectLst/>
                        </a:rPr>
                        <a:t>.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84589079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getMaxInactiveInterval()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int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현재 생성된 세션을 유지하기 위해 설정된 세션 유지시간을 </a:t>
                      </a:r>
                      <a:r>
                        <a:rPr lang="en-US" altLang="ko-KR" sz="1200" dirty="0">
                          <a:effectLst/>
                        </a:rPr>
                        <a:t>int</a:t>
                      </a:r>
                      <a:r>
                        <a:rPr lang="ko-KR" altLang="en-US" sz="1200" dirty="0">
                          <a:effectLst/>
                        </a:rPr>
                        <a:t>형으로 </a:t>
                      </a:r>
                      <a:r>
                        <a:rPr lang="ko-KR" altLang="en-US" sz="1200" dirty="0" err="1">
                          <a:effectLst/>
                        </a:rPr>
                        <a:t>리턴한다</a:t>
                      </a:r>
                      <a:r>
                        <a:rPr lang="en-US" altLang="ko-KR" sz="1200" dirty="0">
                          <a:effectLst/>
                        </a:rPr>
                        <a:t>.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137298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invalidate()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void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현재 생성된 세션을 무효화 시킨다</a:t>
                      </a:r>
                      <a:r>
                        <a:rPr lang="en-US" altLang="ko-KR" sz="1200" dirty="0">
                          <a:effectLst/>
                        </a:rPr>
                        <a:t>.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92793160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removeAttribute(String.name)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void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세션 속성명이 </a:t>
                      </a:r>
                      <a:r>
                        <a:rPr lang="en-US" altLang="ko-KR" sz="1200" dirty="0">
                          <a:effectLst/>
                        </a:rPr>
                        <a:t>name</a:t>
                      </a:r>
                      <a:r>
                        <a:rPr lang="ko-KR" altLang="en-US" sz="1200" dirty="0">
                          <a:effectLst/>
                        </a:rPr>
                        <a:t>인 속성을 제거한다</a:t>
                      </a:r>
                      <a:r>
                        <a:rPr lang="en-US" altLang="ko-KR" sz="1200" dirty="0">
                          <a:effectLst/>
                        </a:rPr>
                        <a:t>.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92207405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setAttribute(String name, Object value)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void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세션 속성명이 </a:t>
                      </a:r>
                      <a:r>
                        <a:rPr lang="en-US" altLang="ko-KR" sz="1200" dirty="0">
                          <a:effectLst/>
                        </a:rPr>
                        <a:t>name</a:t>
                      </a:r>
                      <a:r>
                        <a:rPr lang="ko-KR" altLang="en-US" sz="1200" dirty="0">
                          <a:effectLst/>
                        </a:rPr>
                        <a:t>인 속성에 속성값으로 </a:t>
                      </a:r>
                      <a:r>
                        <a:rPr lang="en-US" altLang="ko-KR" sz="1200" dirty="0">
                          <a:effectLst/>
                        </a:rPr>
                        <a:t>value</a:t>
                      </a:r>
                      <a:r>
                        <a:rPr lang="ko-KR" altLang="en-US" sz="1200" dirty="0">
                          <a:effectLst/>
                        </a:rPr>
                        <a:t>를 할당한다</a:t>
                      </a:r>
                      <a:r>
                        <a:rPr lang="en-US" altLang="ko-KR" sz="1200" dirty="0">
                          <a:effectLst/>
                        </a:rPr>
                        <a:t>.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58597880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setMaxInactiveInterval(int interval)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void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세션을 유지하기 위한 세션 유지시간을 초 단위로 설정한다</a:t>
                      </a:r>
                      <a:r>
                        <a:rPr lang="en-US" altLang="ko-KR" sz="1200" dirty="0">
                          <a:effectLst/>
                        </a:rPr>
                        <a:t>.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20928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74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4438</TotalTime>
  <Words>896</Words>
  <Application>Microsoft Office PowerPoint</Application>
  <PresentationFormat>와이드스크린</PresentationFormat>
  <Paragraphs>162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NanumGothic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005</cp:lastModifiedBy>
  <cp:revision>1279</cp:revision>
  <dcterms:created xsi:type="dcterms:W3CDTF">2014-12-01T08:37:15Z</dcterms:created>
  <dcterms:modified xsi:type="dcterms:W3CDTF">2023-07-27T07:01:23Z</dcterms:modified>
</cp:coreProperties>
</file>