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3" r:id="rId2"/>
    <p:sldId id="281" r:id="rId3"/>
    <p:sldId id="282" r:id="rId4"/>
    <p:sldId id="283" r:id="rId5"/>
    <p:sldId id="284" r:id="rId6"/>
    <p:sldId id="290" r:id="rId7"/>
    <p:sldId id="286" r:id="rId8"/>
    <p:sldId id="288" r:id="rId9"/>
    <p:sldId id="287" r:id="rId10"/>
    <p:sldId id="28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22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파일 업로드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servlets.com/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kutar37.tistory.com/entry/%EC%9B%B9%EC%97%90%EC%84%9C-%ED%8C%8C%EC%9D%BC-%EC%97%85%EB%A1%9C%EB%93%9C-%EA%B5%AC%ED%98%84%ED%95%98%EA%B8%B0-1" TargetMode="Externa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ding-factory.tistory.com/34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22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파일 업로드</a:t>
            </a: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파일 업로드 라이브러리 설치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웹에서 파일업로드 기능은 많이 볼 수 있습니다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자료실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사진인화 서비스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게시판 등등</a:t>
            </a:r>
            <a:r>
              <a:rPr lang="en-US" altLang="ko-KR" sz="1100" dirty="0">
                <a:latin typeface="+mn-ea"/>
              </a:rPr>
              <a:t>…</a:t>
            </a:r>
            <a:r>
              <a:rPr lang="ko-KR" altLang="en-US" sz="1100" dirty="0">
                <a:latin typeface="+mn-ea"/>
              </a:rPr>
              <a:t>에서 볼 수 있습니다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ko-KR" altLang="en-US" sz="1100" dirty="0">
                <a:latin typeface="+mn-ea"/>
              </a:rPr>
              <a:t>파일 업로드 구현에 대해서 살펴 봅니다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815788" y="2411502"/>
            <a:ext cx="10121153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788" y="2151523"/>
            <a:ext cx="10121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파일 업로드 라이브러리 다운로드 및 설치</a:t>
            </a:r>
            <a:endParaRPr lang="en-US" altLang="ko-KR" sz="1100" dirty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5788" y="2539924"/>
            <a:ext cx="502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  <a:hlinkClick r:id="rId2"/>
              </a:rPr>
              <a:t>http://www.servlets.com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접속 후 좌측의 </a:t>
            </a:r>
            <a:r>
              <a:rPr lang="en-US" altLang="ko-KR" sz="1100" dirty="0" err="1">
                <a:latin typeface="+mn-ea"/>
              </a:rPr>
              <a:t>com.oreilly.servlet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클릭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8" y="2847586"/>
            <a:ext cx="6349566" cy="3792825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25620" y="4721798"/>
            <a:ext cx="1030941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80" y="2092017"/>
            <a:ext cx="5145360" cy="274800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파일 업로드 라이브러리 설치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815788" y="1620194"/>
            <a:ext cx="10121153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788" y="1360215"/>
            <a:ext cx="10121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파일 업로드 라이브러리 다운로드 및 설치</a:t>
            </a:r>
            <a:endParaRPr lang="en-US" altLang="ko-KR" sz="1100" dirty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372" y="1810160"/>
            <a:ext cx="502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cos-26Dec2008.zip </a:t>
            </a:r>
            <a:r>
              <a:rPr lang="ko-KR" altLang="en-US" sz="1100" dirty="0">
                <a:latin typeface="+mn-ea"/>
              </a:rPr>
              <a:t>파일 다운로드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36635" y="3956866"/>
            <a:ext cx="1161442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97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578" y="2384559"/>
            <a:ext cx="1514475" cy="7905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파일 업로드 라이브러리 설치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815788" y="1620194"/>
            <a:ext cx="10121153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788" y="1360215"/>
            <a:ext cx="10121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다운로드 받은 라이브러리</a:t>
            </a:r>
            <a:r>
              <a:rPr lang="en-US" altLang="ko-KR" sz="1100" dirty="0">
                <a:latin typeface="+mn-ea"/>
              </a:rPr>
              <a:t>(cos.jar)</a:t>
            </a:r>
            <a:r>
              <a:rPr lang="ko-KR" altLang="en-US" sz="1100" dirty="0">
                <a:latin typeface="+mn-ea"/>
              </a:rPr>
              <a:t> 복사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7164" y="1881804"/>
            <a:ext cx="502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다운로드 받은 파일을 </a:t>
            </a:r>
            <a:r>
              <a:rPr lang="en-US" altLang="ko-KR" sz="1100" dirty="0">
                <a:latin typeface="+mn-ea"/>
              </a:rPr>
              <a:t>WEB-INF&gt;lib</a:t>
            </a:r>
            <a:r>
              <a:rPr lang="ko-KR" altLang="en-US" sz="1100" dirty="0">
                <a:latin typeface="+mn-ea"/>
              </a:rPr>
              <a:t>에 복사 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71" y="2290385"/>
            <a:ext cx="2235620" cy="72421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2096712" y="2787317"/>
            <a:ext cx="748203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431986" y="2782978"/>
            <a:ext cx="748203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>
            <a:stCxn id="14" idx="3"/>
          </p:cNvCxnSpPr>
          <p:nvPr/>
        </p:nvCxnSpPr>
        <p:spPr>
          <a:xfrm flipV="1">
            <a:off x="2844915" y="2909063"/>
            <a:ext cx="14683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75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파일 업로드 프로그래밍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815788" y="1620194"/>
            <a:ext cx="10121153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788" y="1360215"/>
            <a:ext cx="10121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파일 업로드 프로그래밍 </a:t>
            </a:r>
            <a:r>
              <a:rPr lang="en-US" altLang="ko-KR" sz="1100">
                <a:latin typeface="+mn-ea"/>
              </a:rPr>
              <a:t>((jsp_22_2_ex1_fileex</a:t>
            </a:r>
            <a:r>
              <a:rPr lang="en-US" altLang="ko-KR" sz="1100" dirty="0">
                <a:latin typeface="+mn-ea"/>
              </a:rPr>
              <a:t>)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341076" y="2664320"/>
            <a:ext cx="8115300" cy="23713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22" y="3192394"/>
            <a:ext cx="2920475" cy="1448430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350" y="3208393"/>
            <a:ext cx="4274442" cy="1346095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4832364" y="3689606"/>
            <a:ext cx="748203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8009863" y="3672021"/>
            <a:ext cx="748203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3847237" y="3226466"/>
            <a:ext cx="2527185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6989022" y="3199319"/>
            <a:ext cx="4068770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4298296" y="2921334"/>
            <a:ext cx="159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직접 생성한 폴더 경로</a:t>
            </a:r>
            <a:endParaRPr lang="en-US" altLang="ko-KR" sz="11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211699" y="2899182"/>
            <a:ext cx="3462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실제 업로드 파일 경로</a:t>
            </a:r>
            <a:endParaRPr lang="en-US" altLang="ko-KR" sz="11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08" y="3046912"/>
            <a:ext cx="1704975" cy="17907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05656" y="2664320"/>
            <a:ext cx="2076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업로드 파일 저장 폴더 생성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063027" y="3288876"/>
            <a:ext cx="748203" cy="2434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99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</a:t>
            </a:r>
            <a:r>
              <a:rPr lang="en-US" altLang="ko-KR" sz="1600" b="1" dirty="0" smtClean="0">
                <a:latin typeface="+mn-ea"/>
              </a:rPr>
              <a:t>html 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</a:rPr>
              <a:t>form</a:t>
            </a:r>
            <a:r>
              <a:rPr lang="ko-KR" altLang="en-US" sz="1600" b="1" dirty="0" smtClean="0">
                <a:latin typeface="+mn-ea"/>
              </a:rPr>
              <a:t>페이지 설정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783D8ED-0575-4F14-B825-26A5B16FE88A}"/>
              </a:ext>
            </a:extLst>
          </p:cNvPr>
          <p:cNvSpPr txBox="1"/>
          <p:nvPr/>
        </p:nvSpPr>
        <p:spPr>
          <a:xfrm>
            <a:off x="815788" y="2659495"/>
            <a:ext cx="10538012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&lt;</a:t>
            </a:r>
            <a:r>
              <a:rPr lang="en-US" altLang="ko-KR" sz="2000" dirty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form action="http://</a:t>
            </a: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localhost/upload.do" </a:t>
            </a:r>
            <a:r>
              <a:rPr lang="en-US" altLang="ko-KR" sz="2000" dirty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method="post" </a:t>
            </a:r>
            <a:r>
              <a:rPr lang="en-US" altLang="ko-KR" sz="2000" dirty="0" err="1">
                <a:solidFill>
                  <a:srgbClr val="FF0000"/>
                </a:solidFill>
                <a:latin typeface="Arial Unicode MS" panose="020B0604020202020204" pitchFamily="50" charset="-127"/>
                <a:ea typeface="Courier"/>
              </a:rPr>
              <a:t>enctype</a:t>
            </a:r>
            <a:r>
              <a:rPr lang="en-US" altLang="ko-KR" sz="2000" dirty="0">
                <a:solidFill>
                  <a:srgbClr val="FF0000"/>
                </a:solidFill>
                <a:latin typeface="Arial Unicode MS" panose="020B0604020202020204" pitchFamily="50" charset="-127"/>
                <a:ea typeface="Courier"/>
              </a:rPr>
              <a:t>="multipart/form-data"&gt;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     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 </a:t>
            </a: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     &lt;</a:t>
            </a:r>
            <a:r>
              <a:rPr lang="en-US" altLang="ko-KR" sz="2000" dirty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input type="file" name="</a:t>
            </a: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profile1"&gt;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      &lt;</a:t>
            </a:r>
            <a:r>
              <a:rPr lang="en-US" altLang="ko-KR" sz="2000" dirty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input type="file" name="</a:t>
            </a: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profile2"&gt;</a:t>
            </a:r>
            <a:endParaRPr lang="en-US" altLang="ko-KR" sz="2000" dirty="0">
              <a:solidFill>
                <a:srgbClr val="000000"/>
              </a:solidFill>
              <a:latin typeface="Arial Unicode MS" panose="020B0604020202020204" pitchFamily="50" charset="-127"/>
              <a:ea typeface="Courier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      &lt;</a:t>
            </a:r>
            <a:r>
              <a:rPr lang="en-US" altLang="ko-KR" sz="2000" dirty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input type="submit</a:t>
            </a: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"&gt;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2000" dirty="0">
              <a:solidFill>
                <a:srgbClr val="000000"/>
              </a:solidFill>
              <a:latin typeface="Arial Unicode MS" panose="020B0604020202020204" pitchFamily="50" charset="-127"/>
              <a:ea typeface="Courier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&lt;/form</a:t>
            </a:r>
            <a:r>
              <a:rPr lang="en-US" altLang="ko-KR" sz="20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Courier"/>
              </a:rPr>
              <a:t>&gt;</a:t>
            </a:r>
            <a:endParaRPr lang="en-US" altLang="ko-KR" sz="2000" dirty="0">
              <a:solidFill>
                <a:srgbClr val="000000"/>
              </a:solidFill>
              <a:latin typeface="Arial Unicode MS" panose="020B0604020202020204" pitchFamily="50" charset="-127"/>
              <a:ea typeface="Courier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15788" y="1955030"/>
            <a:ext cx="583422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ko-KR" b="1" dirty="0"/>
              <a:t>* Html form </a:t>
            </a:r>
            <a:r>
              <a:rPr lang="ko-KR" altLang="en-US" b="1" dirty="0"/>
              <a:t>페이지 </a:t>
            </a:r>
            <a:r>
              <a:rPr lang="en-US" altLang="ko-KR" b="1" dirty="0"/>
              <a:t>– </a:t>
            </a:r>
            <a:r>
              <a:rPr lang="en-US" altLang="ko-KR" b="1" dirty="0" err="1"/>
              <a:t>enctype</a:t>
            </a:r>
            <a:r>
              <a:rPr lang="ko-KR" altLang="en-US" b="1" dirty="0"/>
              <a:t>을 반드시 설정해야 함</a:t>
            </a:r>
            <a:r>
              <a:rPr lang="en-US" altLang="ko-K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103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파일 업로드 프로그래밍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783D8ED-0575-4F14-B825-26A5B16FE88A}"/>
              </a:ext>
            </a:extLst>
          </p:cNvPr>
          <p:cNvSpPr txBox="1"/>
          <p:nvPr/>
        </p:nvSpPr>
        <p:spPr>
          <a:xfrm>
            <a:off x="815788" y="1611608"/>
            <a:ext cx="1083366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 err="1"/>
              <a:t>MultipartRequest</a:t>
            </a:r>
            <a:r>
              <a:rPr lang="en-US" altLang="ko-KR" sz="1400" b="1" dirty="0"/>
              <a:t> multi = new </a:t>
            </a:r>
            <a:r>
              <a:rPr lang="en-US" altLang="ko-KR" sz="1400" b="1" dirty="0" err="1"/>
              <a:t>MultipartRequest</a:t>
            </a:r>
            <a:r>
              <a:rPr lang="en-US" altLang="ko-KR" sz="1400" b="1" dirty="0"/>
              <a:t>(request, </a:t>
            </a:r>
            <a:r>
              <a:rPr lang="en-US" altLang="ko-KR" sz="1400" b="1" dirty="0" err="1"/>
              <a:t>saveDir</a:t>
            </a:r>
            <a:r>
              <a:rPr lang="en-US" altLang="ko-KR" sz="1400" b="1" dirty="0"/>
              <a:t>, </a:t>
            </a:r>
            <a:r>
              <a:rPr lang="en-US" altLang="ko-KR" sz="1400" b="1" dirty="0" err="1"/>
              <a:t>maxSize</a:t>
            </a:r>
            <a:r>
              <a:rPr lang="en-US" altLang="ko-KR" sz="1400" b="1" dirty="0"/>
              <a:t>, encoding, new </a:t>
            </a:r>
            <a:r>
              <a:rPr lang="en-US" altLang="ko-KR" sz="1400" b="1" dirty="0" err="1"/>
              <a:t>DefaultFileRenamePolicy</a:t>
            </a:r>
            <a:r>
              <a:rPr lang="en-US" altLang="ko-KR" sz="1400" b="1" dirty="0"/>
              <a:t>());</a:t>
            </a:r>
            <a:endParaRPr lang="en-US" altLang="ko-KR" sz="10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="" xmlns:a16="http://schemas.microsoft.com/office/drawing/2014/main" id="{6FC00F3A-29B5-4F41-BDD1-D0AE99B8F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292090"/>
              </p:ext>
            </p:extLst>
          </p:nvPr>
        </p:nvGraphicFramePr>
        <p:xfrm>
          <a:off x="963292" y="2177239"/>
          <a:ext cx="9598028" cy="2072640"/>
        </p:xfrm>
        <a:graphic>
          <a:graphicData uri="http://schemas.openxmlformats.org/drawingml/2006/table">
            <a:tbl>
              <a:tblPr/>
              <a:tblGrid>
                <a:gridCol w="4799014">
                  <a:extLst>
                    <a:ext uri="{9D8B030D-6E8A-4147-A177-3AD203B41FA5}">
                      <a16:colId xmlns="" xmlns:a16="http://schemas.microsoft.com/office/drawing/2014/main" val="2120090525"/>
                    </a:ext>
                  </a:extLst>
                </a:gridCol>
                <a:gridCol w="4799014">
                  <a:extLst>
                    <a:ext uri="{9D8B030D-6E8A-4147-A177-3AD203B41FA5}">
                      <a16:colId xmlns="" xmlns:a16="http://schemas.microsoft.com/office/drawing/2014/main" val="3718053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dirty="0">
                          <a:effectLst/>
                          <a:latin typeface="배달의민족 주아"/>
                        </a:rPr>
                        <a:t>매개변수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dirty="0">
                          <a:effectLst/>
                          <a:latin typeface="배달의민족 주아"/>
                        </a:rPr>
                        <a:t>설명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5222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request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MultipartRequest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와 연결한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en-US" sz="1200">
                          <a:effectLst/>
                          <a:latin typeface="배달의민족 주아"/>
                        </a:rPr>
                        <a:t>request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객체</a:t>
                      </a:r>
                      <a:endParaRPr lang="ko-KR" alt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82262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saveDirectory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  <a:latin typeface="배달의민족 주아"/>
                        </a:rPr>
                        <a:t>서버 측에 저장될 경로</a:t>
                      </a:r>
                      <a:endParaRPr lang="ko-KR" alt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24641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maxPostSize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  <a:latin typeface="배달의민족 주아"/>
                        </a:rPr>
                        <a:t>파일의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최대 크기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en-US" altLang="ko-KR" sz="1200">
                          <a:effectLst/>
                          <a:latin typeface="배달의민족 주아"/>
                        </a:rPr>
                        <a:t>(Bytes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단위</a:t>
                      </a:r>
                      <a:r>
                        <a:rPr lang="en-US" altLang="ko-KR" sz="1200">
                          <a:effectLst/>
                          <a:latin typeface="배달의민족 주아"/>
                        </a:rPr>
                        <a:t>) ex)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en-US" altLang="ko-KR" sz="1200">
                          <a:solidFill>
                            <a:srgbClr val="FF4519"/>
                          </a:solidFill>
                          <a:effectLst/>
                          <a:latin typeface="배달의민족 주아"/>
                        </a:rPr>
                        <a:t>3MB = 3 * 1024 * 1024</a:t>
                      </a:r>
                      <a:endParaRPr lang="ko-KR" alt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5053786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encoding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  <a:latin typeface="배달의민족 주아"/>
                        </a:rPr>
                        <a:t>파일의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인코딩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방식</a:t>
                      </a:r>
                      <a:r>
                        <a:rPr lang="en-US" altLang="ko-KR" sz="1200">
                          <a:effectLst/>
                          <a:latin typeface="배달의민족 주아"/>
                        </a:rPr>
                        <a:t>(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파일명이 한글일 경우</a:t>
                      </a:r>
                      <a:r>
                        <a:rPr lang="en-US" altLang="ko-KR" sz="1200">
                          <a:effectLst/>
                          <a:latin typeface="배달의민족 주아"/>
                        </a:rPr>
                        <a:t>)</a:t>
                      </a:r>
                      <a:endParaRPr lang="ko-KR" alt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7263407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배달의민족 주아"/>
                        </a:rPr>
                        <a:t>new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err="1">
                          <a:effectLst/>
                          <a:latin typeface="배달의민족 주아"/>
                        </a:rPr>
                        <a:t>DefaultFileRenamePolicy</a:t>
                      </a:r>
                      <a:r>
                        <a:rPr lang="en-US" sz="1200" dirty="0">
                          <a:effectLst/>
                          <a:latin typeface="배달의민족 주아"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업로드 될 파일명이 중복될 경우 덮어쓰기를 방지하기 위한 방법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013615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75A6615-F304-4A80-88DB-A08B7C6602F9}"/>
              </a:ext>
            </a:extLst>
          </p:cNvPr>
          <p:cNvSpPr txBox="1"/>
          <p:nvPr/>
        </p:nvSpPr>
        <p:spPr>
          <a:xfrm>
            <a:off x="427839" y="6266576"/>
            <a:ext cx="93185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hlinkClick r:id="rId2"/>
              </a:rPr>
              <a:t>https://kutar37.tistory.com/entry/%EC%9B%B9%EC%97%90%EC%84%9C-%ED%8C%8C%EC%9D%BC-%EC%97%85%EB%A1%9C%EB%93%9C-%EA%B5%AC%ED%98%84%ED%95%98%EA%B8%B0-1</a:t>
            </a:r>
            <a:endParaRPr lang="ko-KR" altLang="en-US" sz="800" dirty="0"/>
          </a:p>
        </p:txBody>
      </p:sp>
      <p:sp>
        <p:nvSpPr>
          <p:cNvPr id="4" name="직사각형 3"/>
          <p:cNvSpPr/>
          <p:nvPr/>
        </p:nvSpPr>
        <p:spPr>
          <a:xfrm>
            <a:off x="963291" y="4592950"/>
            <a:ext cx="9852989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rgbClr val="333333"/>
                </a:solidFill>
                <a:latin typeface="Avenir"/>
              </a:rPr>
              <a:t>[ </a:t>
            </a:r>
            <a:r>
              <a:rPr lang="en-US" altLang="ko-KR" dirty="0" err="1" smtClean="0">
                <a:solidFill>
                  <a:srgbClr val="333333"/>
                </a:solidFill>
                <a:latin typeface="Avenir"/>
              </a:rPr>
              <a:t>getRealPath</a:t>
            </a:r>
            <a:r>
              <a:rPr lang="en-US" altLang="ko-KR" dirty="0" smtClean="0">
                <a:solidFill>
                  <a:srgbClr val="333333"/>
                </a:solidFill>
                <a:latin typeface="Avenir"/>
              </a:rPr>
              <a:t>(“/upload”) ]</a:t>
            </a:r>
            <a:endParaRPr lang="en-US" altLang="ko-KR" dirty="0">
              <a:solidFill>
                <a:srgbClr val="333333"/>
              </a:solidFill>
              <a:latin typeface="Avenir"/>
            </a:endParaRPr>
          </a:p>
          <a:p>
            <a:r>
              <a:rPr lang="en-US" altLang="ko-KR" dirty="0" smtClean="0">
                <a:solidFill>
                  <a:srgbClr val="333333"/>
                </a:solidFill>
                <a:latin typeface="Avenir"/>
              </a:rPr>
              <a:t>JAVA </a:t>
            </a:r>
            <a:r>
              <a:rPr lang="ko-KR" altLang="en-US" dirty="0" smtClean="0">
                <a:solidFill>
                  <a:srgbClr val="333333"/>
                </a:solidFill>
                <a:latin typeface="Avenir"/>
              </a:rPr>
              <a:t>에서 </a:t>
            </a:r>
            <a:r>
              <a:rPr lang="en-US" altLang="ko-KR" dirty="0" err="1" smtClean="0">
                <a:solidFill>
                  <a:srgbClr val="333333"/>
                </a:solidFill>
                <a:latin typeface="Avenir"/>
              </a:rPr>
              <a:t>request.getRealPath</a:t>
            </a:r>
            <a:r>
              <a:rPr lang="en-US" altLang="ko-KR" dirty="0">
                <a:solidFill>
                  <a:srgbClr val="333333"/>
                </a:solidFill>
                <a:latin typeface="Avenir"/>
              </a:rPr>
              <a:t>("/"); </a:t>
            </a:r>
            <a:r>
              <a:rPr lang="en-US" altLang="ko-KR" dirty="0" smtClean="0">
                <a:solidFill>
                  <a:srgbClr val="333333"/>
                </a:solidFill>
                <a:latin typeface="Avenir"/>
              </a:rPr>
              <a:t>deprecated.</a:t>
            </a:r>
            <a:endParaRPr lang="en-US" altLang="ko-KR" dirty="0">
              <a:solidFill>
                <a:srgbClr val="333333"/>
              </a:solidFill>
              <a:latin typeface="Avenir"/>
            </a:endParaRPr>
          </a:p>
          <a:p>
            <a:r>
              <a:rPr lang="en-US" altLang="ko-KR" sz="1400" dirty="0" smtClean="0">
                <a:solidFill>
                  <a:srgbClr val="333333"/>
                </a:solidFill>
                <a:latin typeface="Avenir"/>
              </a:rPr>
              <a:t>( </a:t>
            </a:r>
            <a:r>
              <a:rPr lang="en-US" altLang="ko-KR" sz="1400" dirty="0" err="1" smtClean="0">
                <a:solidFill>
                  <a:srgbClr val="333333"/>
                </a:solidFill>
                <a:latin typeface="Avenir"/>
              </a:rPr>
              <a:t>ServletContext</a:t>
            </a:r>
            <a:r>
              <a:rPr lang="ko-KR" altLang="en-US" sz="1400" dirty="0">
                <a:solidFill>
                  <a:srgbClr val="333333"/>
                </a:solidFill>
                <a:latin typeface="Avenir"/>
              </a:rPr>
              <a:t>에서도 있는걸 중복으로 가지고 </a:t>
            </a:r>
            <a:r>
              <a:rPr lang="ko-KR" altLang="en-US" sz="1400" dirty="0" smtClean="0">
                <a:solidFill>
                  <a:srgbClr val="333333"/>
                </a:solidFill>
                <a:latin typeface="Avenir"/>
              </a:rPr>
              <a:t>있어서 발생 </a:t>
            </a:r>
            <a:r>
              <a:rPr lang="en-US" altLang="ko-KR" sz="1400" dirty="0" smtClean="0">
                <a:solidFill>
                  <a:srgbClr val="333333"/>
                </a:solidFill>
                <a:latin typeface="Avenir"/>
              </a:rPr>
              <a:t>)</a:t>
            </a:r>
          </a:p>
          <a:p>
            <a:r>
              <a:rPr lang="ko-KR" altLang="en-US" dirty="0" smtClean="0">
                <a:solidFill>
                  <a:srgbClr val="333333"/>
                </a:solidFill>
                <a:latin typeface="Avenir"/>
              </a:rPr>
              <a:t> </a:t>
            </a:r>
            <a:endParaRPr lang="en-US" altLang="ko-KR" dirty="0">
              <a:solidFill>
                <a:srgbClr val="333333"/>
              </a:solidFill>
              <a:latin typeface="Avenir"/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  <a:latin typeface="Avenir"/>
              </a:rPr>
              <a:t>request.getSession</a:t>
            </a:r>
            <a:r>
              <a:rPr lang="en-US" altLang="ko-KR" b="1" dirty="0">
                <a:solidFill>
                  <a:srgbClr val="FF0000"/>
                </a:solidFill>
                <a:latin typeface="Avenir"/>
              </a:rPr>
              <a:t>().</a:t>
            </a:r>
            <a:r>
              <a:rPr lang="en-US" altLang="ko-KR" b="1" dirty="0" err="1">
                <a:solidFill>
                  <a:srgbClr val="FF0000"/>
                </a:solidFill>
                <a:latin typeface="Avenir"/>
              </a:rPr>
              <a:t>getServletContext</a:t>
            </a:r>
            <a:r>
              <a:rPr lang="en-US" altLang="ko-KR" b="1" dirty="0">
                <a:solidFill>
                  <a:srgbClr val="FF0000"/>
                </a:solidFill>
                <a:latin typeface="Avenir"/>
              </a:rPr>
              <a:t>().</a:t>
            </a:r>
            <a:r>
              <a:rPr lang="en-US" altLang="ko-KR" b="1" dirty="0" err="1">
                <a:solidFill>
                  <a:srgbClr val="FF0000"/>
                </a:solidFill>
                <a:latin typeface="Avenir"/>
              </a:rPr>
              <a:t>getRealPath</a:t>
            </a:r>
            <a:r>
              <a:rPr lang="en-US" altLang="ko-KR" b="1" dirty="0" smtClean="0">
                <a:solidFill>
                  <a:srgbClr val="FF0000"/>
                </a:solidFill>
                <a:latin typeface="Avenir"/>
              </a:rPr>
              <a:t>("/");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7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</a:t>
            </a:r>
            <a:r>
              <a:rPr lang="en-US" altLang="ko-KR" sz="1600" b="1" dirty="0" err="1"/>
              <a:t>MultipartRequest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클래스의 </a:t>
            </a:r>
            <a:r>
              <a:rPr lang="ko-KR" altLang="en-US" sz="1600" b="1" dirty="0" err="1" smtClean="0"/>
              <a:t>메소드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783D8ED-0575-4F14-B825-26A5B16FE88A}"/>
              </a:ext>
            </a:extLst>
          </p:cNvPr>
          <p:cNvSpPr txBox="1"/>
          <p:nvPr/>
        </p:nvSpPr>
        <p:spPr>
          <a:xfrm>
            <a:off x="815788" y="1947445"/>
            <a:ext cx="10121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MultipartRequest</a:t>
            </a:r>
            <a:r>
              <a:rPr lang="en-US" altLang="ko-KR" b="1" dirty="0"/>
              <a:t> </a:t>
            </a:r>
            <a:r>
              <a:rPr lang="ko-KR" altLang="en-US" b="1" dirty="0"/>
              <a:t>클래스의 메소드</a:t>
            </a:r>
            <a:endParaRPr lang="en-US" altLang="ko-KR" sz="1100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="" xmlns:a16="http://schemas.microsoft.com/office/drawing/2014/main" id="{9396BE1C-65C5-4891-BD3A-33A287A00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506096"/>
              </p:ext>
            </p:extLst>
          </p:nvPr>
        </p:nvGraphicFramePr>
        <p:xfrm>
          <a:off x="838200" y="2469466"/>
          <a:ext cx="10515600" cy="3012258"/>
        </p:xfrm>
        <a:graphic>
          <a:graphicData uri="http://schemas.openxmlformats.org/drawingml/2006/table">
            <a:tbl>
              <a:tblPr/>
              <a:tblGrid>
                <a:gridCol w="3691855">
                  <a:extLst>
                    <a:ext uri="{9D8B030D-6E8A-4147-A177-3AD203B41FA5}">
                      <a16:colId xmlns="" xmlns:a16="http://schemas.microsoft.com/office/drawing/2014/main" val="1802781614"/>
                    </a:ext>
                  </a:extLst>
                </a:gridCol>
                <a:gridCol w="6823745">
                  <a:extLst>
                    <a:ext uri="{9D8B030D-6E8A-4147-A177-3AD203B41FA5}">
                      <a16:colId xmlns="" xmlns:a16="http://schemas.microsoft.com/office/drawing/2014/main" val="1678947793"/>
                    </a:ext>
                  </a:extLst>
                </a:gridCol>
              </a:tblGrid>
              <a:tr h="319094">
                <a:tc>
                  <a:txBody>
                    <a:bodyPr/>
                    <a:lstStyle/>
                    <a:p>
                      <a:pPr marL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dirty="0" err="1">
                          <a:effectLst/>
                          <a:latin typeface="배달의민족 주아"/>
                        </a:rPr>
                        <a:t>메소드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dirty="0">
                          <a:effectLst/>
                          <a:latin typeface="배달의민족 주아"/>
                        </a:rPr>
                        <a:t>설명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45379731"/>
                  </a:ext>
                </a:extLst>
              </a:tr>
              <a:tr h="319094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배달의민족 주아"/>
                        </a:rPr>
                        <a:t>getParameterNames</a:t>
                      </a:r>
                      <a:r>
                        <a:rPr lang="en-US" sz="1200" dirty="0">
                          <a:effectLst/>
                          <a:latin typeface="배달의민족 주아"/>
                        </a:rPr>
                        <a:t>()</a:t>
                      </a:r>
                      <a:endParaRPr 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>
                          <a:effectLst/>
                          <a:latin typeface="배달의민족 주아"/>
                        </a:rPr>
                        <a:t>Form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에서 전송된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en-US" altLang="ko-KR" sz="1200">
                          <a:effectLst/>
                          <a:latin typeface="배달의민족 주아"/>
                        </a:rPr>
                        <a:t>Parameter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이름을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en-US" altLang="ko-KR" sz="1200">
                          <a:effectLst/>
                          <a:latin typeface="배달의민족 주아"/>
                        </a:rPr>
                        <a:t>Enumeration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타입으로 반환</a:t>
                      </a:r>
                      <a:endParaRPr lang="ko-KR" altLang="en-US" sz="180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35375027"/>
                  </a:ext>
                </a:extLst>
              </a:tr>
              <a:tr h="319094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배달의민족 주아"/>
                        </a:rPr>
                        <a:t>getParameterValues</a:t>
                      </a:r>
                      <a:r>
                        <a:rPr lang="en-US" sz="1200" dirty="0">
                          <a:effectLst/>
                          <a:latin typeface="배달의민족 주아"/>
                        </a:rPr>
                        <a:t>()</a:t>
                      </a:r>
                      <a:endParaRPr 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>
                          <a:effectLst/>
                          <a:latin typeface="배달의민족 주아"/>
                        </a:rPr>
                        <a:t>Form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에서 전송된</a:t>
                      </a:r>
                      <a:r>
                        <a:rPr lang="ko-KR" altLang="en-US" sz="1200">
                          <a:effectLst/>
                        </a:rPr>
                        <a:t> </a:t>
                      </a:r>
                      <a:r>
                        <a:rPr lang="en-US" altLang="ko-KR" sz="1200">
                          <a:effectLst/>
                          <a:latin typeface="배달의민족 주아"/>
                        </a:rPr>
                        <a:t>Parameter</a:t>
                      </a:r>
                      <a:r>
                        <a:rPr lang="ko-KR" altLang="en-US" sz="1200">
                          <a:effectLst/>
                          <a:latin typeface="배달의민족 주아"/>
                        </a:rPr>
                        <a:t>들을 배열로 반환</a:t>
                      </a:r>
                      <a:endParaRPr lang="ko-KR" altLang="en-US" sz="180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49185661"/>
                  </a:ext>
                </a:extLst>
              </a:tr>
              <a:tr h="319094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배달의민족 주아"/>
                        </a:rPr>
                        <a:t>getParameter</a:t>
                      </a:r>
                      <a:r>
                        <a:rPr lang="en-US" sz="1200" dirty="0">
                          <a:effectLst/>
                          <a:latin typeface="배달의민족 주아"/>
                        </a:rPr>
                        <a:t>()</a:t>
                      </a:r>
                      <a:endParaRPr 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effectLst/>
                          <a:latin typeface="배달의민족 주아"/>
                        </a:rPr>
                        <a:t>From</a:t>
                      </a: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에서 전송된</a:t>
                      </a:r>
                      <a:r>
                        <a:rPr lang="ko-KR" altLang="en-US" sz="1200" dirty="0">
                          <a:effectLst/>
                        </a:rPr>
                        <a:t> </a:t>
                      </a:r>
                      <a:r>
                        <a:rPr lang="en-US" altLang="ko-KR" sz="1200" dirty="0">
                          <a:effectLst/>
                          <a:latin typeface="배달의민족 주아"/>
                        </a:rPr>
                        <a:t>Parameter</a:t>
                      </a:r>
                      <a:r>
                        <a:rPr lang="ko-KR" altLang="en-US" sz="1200" dirty="0">
                          <a:effectLst/>
                        </a:rPr>
                        <a:t> </a:t>
                      </a: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반환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19981504"/>
                  </a:ext>
                </a:extLst>
              </a:tr>
              <a:tr h="319094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getFileNames()</a:t>
                      </a:r>
                      <a:endParaRPr lang="en-US" sz="180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파일을 여러 개 업로드 할 경우</a:t>
                      </a:r>
                      <a:r>
                        <a:rPr lang="ko-KR" altLang="en-US" sz="1200" dirty="0">
                          <a:effectLst/>
                        </a:rPr>
                        <a:t> </a:t>
                      </a:r>
                      <a:r>
                        <a:rPr lang="en-US" altLang="ko-KR" sz="1200" dirty="0">
                          <a:effectLst/>
                          <a:latin typeface="배달의민족 주아"/>
                        </a:rPr>
                        <a:t>Enumeration</a:t>
                      </a:r>
                      <a:r>
                        <a:rPr lang="ko-KR" altLang="en-US" sz="1200" dirty="0">
                          <a:effectLst/>
                        </a:rPr>
                        <a:t> </a:t>
                      </a: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타입으로 </a:t>
                      </a:r>
                      <a:r>
                        <a:rPr lang="ko-KR" altLang="en-US" sz="1200" dirty="0" smtClean="0">
                          <a:effectLst/>
                          <a:latin typeface="배달의민족 주아"/>
                        </a:rPr>
                        <a:t>반환 </a:t>
                      </a:r>
                      <a:r>
                        <a:rPr lang="en-US" altLang="ko-KR" sz="1200" dirty="0" smtClean="0">
                          <a:effectLst/>
                          <a:latin typeface="배달의민족 주아"/>
                        </a:rPr>
                        <a:t>– input </a:t>
                      </a:r>
                      <a:r>
                        <a:rPr lang="ko-KR" altLang="en-US" sz="1200" dirty="0" smtClean="0">
                          <a:effectLst/>
                          <a:latin typeface="배달의민족 주아"/>
                        </a:rPr>
                        <a:t>타입 </a:t>
                      </a:r>
                      <a:r>
                        <a:rPr lang="en-US" altLang="ko-KR" sz="1200" dirty="0" smtClean="0">
                          <a:effectLst/>
                          <a:latin typeface="배달의민족 주아"/>
                        </a:rPr>
                        <a:t>name</a:t>
                      </a:r>
                      <a:r>
                        <a:rPr lang="ko-KR" altLang="en-US" sz="1200" dirty="0" smtClean="0">
                          <a:effectLst/>
                          <a:latin typeface="배달의민족 주아"/>
                        </a:rPr>
                        <a:t>을 가져옴</a:t>
                      </a:r>
                      <a:r>
                        <a:rPr lang="en-US" altLang="ko-KR" sz="1200" smtClean="0">
                          <a:effectLst/>
                          <a:latin typeface="배달의민족 주아"/>
                        </a:rPr>
                        <a:t>.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16774625"/>
                  </a:ext>
                </a:extLst>
              </a:tr>
              <a:tr h="319094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getFilesystemName()</a:t>
                      </a:r>
                      <a:endParaRPr lang="en-US" sz="180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서버에 실제 업로드 된 파일 이름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29293000"/>
                  </a:ext>
                </a:extLst>
              </a:tr>
              <a:tr h="326346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getOriginFileName()</a:t>
                      </a:r>
                      <a:endParaRPr lang="en-US" sz="180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클라이언트가 </a:t>
                      </a:r>
                      <a:r>
                        <a:rPr lang="ko-KR" altLang="en-US" sz="1200" dirty="0" err="1">
                          <a:effectLst/>
                          <a:latin typeface="배달의민족 주아"/>
                        </a:rPr>
                        <a:t>업로드한</a:t>
                      </a: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 파일 원본 이름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02386673"/>
                  </a:ext>
                </a:extLst>
              </a:tr>
              <a:tr h="319094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getContentType()</a:t>
                      </a:r>
                      <a:endParaRPr lang="en-US" sz="180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업로드 파일의</a:t>
                      </a:r>
                      <a:r>
                        <a:rPr lang="ko-KR" altLang="en-US" sz="1200" dirty="0">
                          <a:effectLst/>
                        </a:rPr>
                        <a:t> </a:t>
                      </a:r>
                      <a:r>
                        <a:rPr lang="en-US" altLang="ko-KR" sz="1200" dirty="0" err="1">
                          <a:effectLst/>
                          <a:latin typeface="배달의민족 주아"/>
                        </a:rPr>
                        <a:t>ContentType</a:t>
                      </a:r>
                      <a:r>
                        <a:rPr lang="ko-KR" altLang="en-US" sz="1200" dirty="0">
                          <a:effectLst/>
                        </a:rPr>
                        <a:t> </a:t>
                      </a: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반환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07410045"/>
                  </a:ext>
                </a:extLst>
              </a:tr>
              <a:tr h="319094"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배달의민족 주아"/>
                        </a:rPr>
                        <a:t>getFile()</a:t>
                      </a:r>
                      <a:endParaRPr lang="en-US" sz="180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  <a:latin typeface="배달의민족 주아"/>
                        </a:rPr>
                        <a:t>서버에 업로드 된 파일의 정보를 객체로 반환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2521" marR="72521" marT="72521" marB="7252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08945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20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파일 업로드 </a:t>
            </a:r>
            <a:r>
              <a:rPr lang="ko-KR" altLang="en-US" sz="1600" b="1" dirty="0" smtClean="0">
                <a:latin typeface="+mn-ea"/>
              </a:rPr>
              <a:t>프로그래밍 </a:t>
            </a:r>
            <a:r>
              <a:rPr lang="en-US" altLang="ko-KR" sz="1600" b="1" dirty="0" smtClean="0">
                <a:latin typeface="+mn-ea"/>
              </a:rPr>
              <a:t>- </a:t>
            </a:r>
            <a:r>
              <a:rPr lang="ko-KR" altLang="en-US" sz="1600" b="1" dirty="0" smtClean="0">
                <a:latin typeface="+mn-ea"/>
              </a:rPr>
              <a:t>예제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815788" y="1620194"/>
            <a:ext cx="10121153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788" y="1360215"/>
            <a:ext cx="10121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파일 </a:t>
            </a:r>
            <a:r>
              <a:rPr lang="en-US" altLang="ko-KR" sz="1100" dirty="0">
                <a:latin typeface="+mn-ea"/>
              </a:rPr>
              <a:t>2</a:t>
            </a:r>
            <a:r>
              <a:rPr lang="ko-KR" altLang="en-US" sz="1100" dirty="0">
                <a:latin typeface="+mn-ea"/>
              </a:rPr>
              <a:t>개 </a:t>
            </a:r>
            <a:r>
              <a:rPr lang="ko-KR" altLang="en-US" sz="1100" dirty="0" err="1">
                <a:latin typeface="+mn-ea"/>
              </a:rPr>
              <a:t>올릴때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963E6EE4-09DA-409B-BA5F-AA0DDC4BC37F}"/>
              </a:ext>
            </a:extLst>
          </p:cNvPr>
          <p:cNvSpPr txBox="1"/>
          <p:nvPr/>
        </p:nvSpPr>
        <p:spPr>
          <a:xfrm>
            <a:off x="815788" y="1618564"/>
            <a:ext cx="1012115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String </a:t>
            </a:r>
            <a:r>
              <a:rPr lang="en-US" altLang="ko-KR" sz="1600" dirty="0" err="1"/>
              <a:t>uploadPath</a:t>
            </a:r>
            <a:r>
              <a:rPr lang="en-US" altLang="ko-KR" sz="1600" dirty="0"/>
              <a:t>=</a:t>
            </a:r>
            <a:r>
              <a:rPr lang="en-US" altLang="ko-KR" sz="1600" dirty="0" err="1"/>
              <a:t>request.getRealPath</a:t>
            </a:r>
            <a:r>
              <a:rPr lang="en-US" altLang="ko-KR" sz="1600" dirty="0"/>
              <a:t>("upload"); </a:t>
            </a:r>
          </a:p>
          <a:p>
            <a:r>
              <a:rPr lang="en-US" altLang="ko-KR" sz="1600" dirty="0"/>
              <a:t>int size = 10*1024*1024; </a:t>
            </a:r>
          </a:p>
          <a:p>
            <a:r>
              <a:rPr lang="en-US" altLang="ko-KR" sz="1600" dirty="0"/>
              <a:t>String name=""; </a:t>
            </a:r>
          </a:p>
          <a:p>
            <a:r>
              <a:rPr lang="en-US" altLang="ko-KR" sz="1600" dirty="0"/>
              <a:t>String subject=""; </a:t>
            </a:r>
          </a:p>
          <a:p>
            <a:r>
              <a:rPr lang="en-US" altLang="ko-KR" sz="1600" dirty="0"/>
              <a:t>String filename1=""; </a:t>
            </a:r>
          </a:p>
          <a:p>
            <a:r>
              <a:rPr lang="en-US" altLang="ko-KR" sz="1600" dirty="0"/>
              <a:t>String filename2="";</a:t>
            </a:r>
          </a:p>
          <a:p>
            <a:endParaRPr lang="en-US" altLang="ko-KR" sz="1600" dirty="0"/>
          </a:p>
          <a:p>
            <a:r>
              <a:rPr lang="en-US" altLang="ko-KR" sz="1600" dirty="0" err="1"/>
              <a:t>MultipartRequest</a:t>
            </a:r>
            <a:r>
              <a:rPr lang="en-US" altLang="ko-KR" sz="1600" dirty="0"/>
              <a:t> multi=new </a:t>
            </a:r>
            <a:r>
              <a:rPr lang="en-US" altLang="ko-KR" sz="1600" dirty="0" err="1"/>
              <a:t>MultipartRequest</a:t>
            </a:r>
            <a:r>
              <a:rPr lang="en-US" altLang="ko-KR" sz="1600" dirty="0"/>
              <a:t>(request,uploadPath,size,"</a:t>
            </a:r>
            <a:r>
              <a:rPr lang="en-US" altLang="ko-KR" sz="1600" dirty="0" err="1"/>
              <a:t>euc-kr</a:t>
            </a:r>
            <a:r>
              <a:rPr lang="en-US" altLang="ko-KR" sz="1600" dirty="0"/>
              <a:t>",new </a:t>
            </a:r>
            <a:r>
              <a:rPr lang="en-US" altLang="ko-KR" sz="1600" dirty="0" err="1"/>
              <a:t>DefaultFileRenamePolicy</a:t>
            </a:r>
            <a:r>
              <a:rPr lang="en-US" altLang="ko-KR" sz="1600" dirty="0"/>
              <a:t>()); </a:t>
            </a:r>
          </a:p>
          <a:p>
            <a:endParaRPr lang="en-US" altLang="ko-KR" sz="1600" dirty="0"/>
          </a:p>
          <a:p>
            <a:r>
              <a:rPr lang="en-US" altLang="ko-KR" sz="1600" dirty="0"/>
              <a:t>name=</a:t>
            </a:r>
            <a:r>
              <a:rPr lang="en-US" altLang="ko-KR" sz="1600" dirty="0" err="1"/>
              <a:t>multi.getParameter</a:t>
            </a:r>
            <a:r>
              <a:rPr lang="en-US" altLang="ko-KR" sz="1600" dirty="0"/>
              <a:t>("name"); </a:t>
            </a:r>
          </a:p>
          <a:p>
            <a:r>
              <a:rPr lang="en-US" altLang="ko-KR" sz="1600" dirty="0"/>
              <a:t>subject=</a:t>
            </a:r>
            <a:r>
              <a:rPr lang="en-US" altLang="ko-KR" sz="1600" dirty="0" err="1"/>
              <a:t>multi.getParameter</a:t>
            </a:r>
            <a:r>
              <a:rPr lang="en-US" altLang="ko-KR" sz="1600" dirty="0"/>
              <a:t>("subject"); </a:t>
            </a:r>
          </a:p>
          <a:p>
            <a:endParaRPr lang="en-US" altLang="ko-KR" sz="1600" dirty="0"/>
          </a:p>
          <a:p>
            <a:r>
              <a:rPr lang="en-US" altLang="ko-KR" sz="1600" dirty="0"/>
              <a:t>Enumeration files = </a:t>
            </a:r>
            <a:r>
              <a:rPr lang="en-US" altLang="ko-KR" sz="1600" dirty="0" err="1"/>
              <a:t>multi.getFileNames</a:t>
            </a:r>
            <a:r>
              <a:rPr lang="en-US" altLang="ko-KR" sz="1600" dirty="0"/>
              <a:t>(); </a:t>
            </a:r>
          </a:p>
          <a:p>
            <a:r>
              <a:rPr lang="en-US" altLang="ko-KR" sz="1600" dirty="0"/>
              <a:t>String file1 = (String)</a:t>
            </a:r>
            <a:r>
              <a:rPr lang="en-US" altLang="ko-KR" sz="1600" dirty="0" err="1"/>
              <a:t>files.nextElement</a:t>
            </a:r>
            <a:r>
              <a:rPr lang="en-US" altLang="ko-KR" sz="1600" dirty="0"/>
              <a:t>(); </a:t>
            </a:r>
          </a:p>
          <a:p>
            <a:r>
              <a:rPr lang="en-US" altLang="ko-KR" sz="1600" dirty="0"/>
              <a:t>filename1 = </a:t>
            </a:r>
            <a:r>
              <a:rPr lang="en-US" altLang="ko-KR" sz="1600" dirty="0" err="1"/>
              <a:t>multi.getFilesystemName</a:t>
            </a:r>
            <a:r>
              <a:rPr lang="en-US" altLang="ko-KR" sz="1600" dirty="0"/>
              <a:t>(file1); </a:t>
            </a:r>
          </a:p>
          <a:p>
            <a:r>
              <a:rPr lang="en-US" altLang="ko-KR" sz="1600" dirty="0"/>
              <a:t>String file2 = (String)</a:t>
            </a:r>
            <a:r>
              <a:rPr lang="en-US" altLang="ko-KR" sz="1600" dirty="0" err="1"/>
              <a:t>files.nextElement</a:t>
            </a:r>
            <a:r>
              <a:rPr lang="en-US" altLang="ko-KR" sz="1600" dirty="0"/>
              <a:t>(); </a:t>
            </a:r>
          </a:p>
          <a:p>
            <a:r>
              <a:rPr lang="en-US" altLang="ko-KR" sz="1600" dirty="0"/>
              <a:t>filename2=</a:t>
            </a:r>
            <a:r>
              <a:rPr lang="en-US" altLang="ko-KR" sz="1600" dirty="0" err="1"/>
              <a:t>multi.getFilesystemName</a:t>
            </a:r>
            <a:r>
              <a:rPr lang="en-US" altLang="ko-KR" sz="1600" dirty="0"/>
              <a:t>(file2);</a:t>
            </a:r>
            <a:endParaRPr lang="en-US" altLang="ko-KR" sz="8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83E96BF-AB85-44C3-B29E-BE5AAB1E70A9}"/>
              </a:ext>
            </a:extLst>
          </p:cNvPr>
          <p:cNvSpPr txBox="1"/>
          <p:nvPr/>
        </p:nvSpPr>
        <p:spPr>
          <a:xfrm>
            <a:off x="7346293" y="5821107"/>
            <a:ext cx="400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https://coding-factory.tistory.com/34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17FD5CE-BDFB-44F9-8D0B-EB35994D6DA4}"/>
              </a:ext>
            </a:extLst>
          </p:cNvPr>
          <p:cNvSpPr txBox="1"/>
          <p:nvPr/>
        </p:nvSpPr>
        <p:spPr>
          <a:xfrm>
            <a:off x="6446687" y="5161070"/>
            <a:ext cx="49071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파일 다운로드 링크 연결</a:t>
            </a:r>
            <a:endParaRPr lang="en-US" altLang="ko-KR" sz="1050" dirty="0"/>
          </a:p>
          <a:p>
            <a:r>
              <a:rPr lang="ko-KR" altLang="en-US" sz="1050" dirty="0"/>
              <a:t>파일명</a:t>
            </a:r>
            <a:r>
              <a:rPr lang="en-US" altLang="ko-KR" sz="1050" dirty="0"/>
              <a:t>1 : &lt;a </a:t>
            </a:r>
            <a:r>
              <a:rPr lang="en-US" altLang="ko-KR" sz="1050" dirty="0" err="1"/>
              <a:t>href</a:t>
            </a:r>
            <a:r>
              <a:rPr lang="en-US" altLang="ko-KR" sz="1050" dirty="0"/>
              <a:t>="upload/&lt;%=filename1%&gt;"&gt;&lt;%=filename1%&gt;&lt;/a&gt;&lt;</a:t>
            </a:r>
            <a:r>
              <a:rPr lang="en-US" altLang="ko-KR" sz="1050" dirty="0" err="1"/>
              <a:t>br</a:t>
            </a:r>
            <a:r>
              <a:rPr lang="en-US" altLang="ko-KR" sz="1050" dirty="0"/>
              <a:t>/&gt;</a:t>
            </a:r>
          </a:p>
          <a:p>
            <a:r>
              <a:rPr lang="ko-KR" altLang="en-US" sz="1050" dirty="0"/>
              <a:t>파일명</a:t>
            </a:r>
            <a:r>
              <a:rPr lang="en-US" altLang="ko-KR" sz="1050" dirty="0"/>
              <a:t>2 : &lt;a </a:t>
            </a:r>
            <a:r>
              <a:rPr lang="en-US" altLang="ko-KR" sz="1050" dirty="0" err="1"/>
              <a:t>href</a:t>
            </a:r>
            <a:r>
              <a:rPr lang="en-US" altLang="ko-KR" sz="1050" dirty="0"/>
              <a:t>="upload/&lt;%=filename2%&gt;"&gt;&lt;%=filename2%&gt;&lt;/a&gt;&lt;</a:t>
            </a:r>
            <a:r>
              <a:rPr lang="en-US" altLang="ko-KR" sz="1050" dirty="0" err="1"/>
              <a:t>br</a:t>
            </a:r>
            <a:r>
              <a:rPr lang="en-US" altLang="ko-KR" sz="1050" dirty="0"/>
              <a:t>/&gt;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10625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파일 업로드 프로그래밍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788" y="1360215"/>
            <a:ext cx="10121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+mn-ea"/>
              </a:rPr>
              <a:t>파일 경로를 </a:t>
            </a:r>
            <a:r>
              <a:rPr lang="ko-KR" altLang="en-US" sz="1600" dirty="0" err="1" smtClean="0">
                <a:latin typeface="+mn-ea"/>
              </a:rPr>
              <a:t>변경시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en-US" altLang="ko-KR" sz="1600" dirty="0" smtClean="0">
                <a:latin typeface="+mn-ea"/>
              </a:rPr>
              <a:t>( C</a:t>
            </a:r>
            <a:r>
              <a:rPr lang="ko-KR" altLang="en-US" sz="1600" dirty="0" smtClean="0">
                <a:latin typeface="+mn-ea"/>
              </a:rPr>
              <a:t>드라이브에서 </a:t>
            </a:r>
            <a:r>
              <a:rPr lang="en-US" altLang="ko-KR" sz="1600" dirty="0" smtClean="0">
                <a:latin typeface="+mn-ea"/>
              </a:rPr>
              <a:t>D</a:t>
            </a:r>
            <a:r>
              <a:rPr lang="ko-KR" altLang="en-US" sz="1600" dirty="0" smtClean="0">
                <a:latin typeface="+mn-ea"/>
              </a:rPr>
              <a:t>드라이브 변경 </a:t>
            </a:r>
            <a:r>
              <a:rPr lang="en-US" altLang="ko-KR" sz="1600" dirty="0" smtClean="0">
                <a:latin typeface="+mn-ea"/>
              </a:rPr>
              <a:t>)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963E6EE4-09DA-409B-BA5F-AA0DDC4BC37F}"/>
              </a:ext>
            </a:extLst>
          </p:cNvPr>
          <p:cNvSpPr txBox="1"/>
          <p:nvPr/>
        </p:nvSpPr>
        <p:spPr>
          <a:xfrm>
            <a:off x="587188" y="2391730"/>
            <a:ext cx="10989034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   String </a:t>
            </a:r>
            <a:r>
              <a:rPr lang="en-US" altLang="ko-KR" sz="1600" b="1" dirty="0">
                <a:solidFill>
                  <a:srgbClr val="FF0000"/>
                </a:solidFill>
              </a:rPr>
              <a:t>path="D:/upload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";      </a:t>
            </a:r>
            <a:r>
              <a:rPr lang="en-US" altLang="ko-KR" sz="1600" dirty="0" smtClean="0"/>
              <a:t>// &lt;- local</a:t>
            </a:r>
            <a:r>
              <a:rPr lang="ko-KR" altLang="en-US" sz="1600" dirty="0" smtClean="0"/>
              <a:t>경로 지정</a:t>
            </a:r>
            <a:endParaRPr lang="en-US" altLang="ko-KR" sz="1600" dirty="0"/>
          </a:p>
          <a:p>
            <a:r>
              <a:rPr lang="ko-KR" altLang="en-US" sz="1600" dirty="0"/>
              <a:t>   </a:t>
            </a:r>
            <a:r>
              <a:rPr lang="en-US" altLang="ko-KR" sz="1600" dirty="0"/>
              <a:t>// </a:t>
            </a:r>
            <a:r>
              <a:rPr lang="ko-KR" altLang="en-US" sz="1600" dirty="0"/>
              <a:t>저장경로 지정</a:t>
            </a:r>
          </a:p>
          <a:p>
            <a:r>
              <a:rPr lang="en-US" altLang="ko-KR" sz="1600" dirty="0"/>
              <a:t>   //String path = </a:t>
            </a:r>
            <a:r>
              <a:rPr lang="en-US" altLang="ko-KR" sz="1600" dirty="0" err="1"/>
              <a:t>request.getRealPath</a:t>
            </a:r>
            <a:r>
              <a:rPr lang="en-US" altLang="ko-KR" sz="1600" dirty="0"/>
              <a:t>("upload</a:t>
            </a:r>
            <a:r>
              <a:rPr lang="en-US" altLang="ko-KR" sz="1600" dirty="0" smtClean="0"/>
              <a:t>");    // </a:t>
            </a:r>
            <a:r>
              <a:rPr lang="en-US" altLang="ko-KR" sz="1600" dirty="0" smtClean="0">
                <a:sym typeface="Wingdings" panose="05000000000000000000" pitchFamily="2" charset="2"/>
              </a:rPr>
              <a:t> </a:t>
            </a:r>
            <a:r>
              <a:rPr lang="en-US" altLang="ko-KR" sz="1600" dirty="0" err="1" smtClean="0">
                <a:sym typeface="Wingdings" panose="05000000000000000000" pitchFamily="2" charset="2"/>
              </a:rPr>
              <a:t>jsp</a:t>
            </a:r>
            <a:r>
              <a:rPr lang="en-US" altLang="ko-KR" sz="1600" dirty="0" smtClean="0">
                <a:sym typeface="Wingdings" panose="05000000000000000000" pitchFamily="2" charset="2"/>
              </a:rPr>
              <a:t> </a:t>
            </a:r>
            <a:r>
              <a:rPr lang="ko-KR" altLang="en-US" sz="1600" dirty="0" smtClean="0">
                <a:sym typeface="Wingdings" panose="05000000000000000000" pitchFamily="2" charset="2"/>
              </a:rPr>
              <a:t>소스에서 적용</a:t>
            </a:r>
            <a:endParaRPr lang="en-US" altLang="ko-KR" sz="1600" dirty="0"/>
          </a:p>
          <a:p>
            <a:r>
              <a:rPr lang="en-US" altLang="ko-KR" sz="1600" dirty="0"/>
              <a:t>   //String path = </a:t>
            </a:r>
            <a:r>
              <a:rPr lang="en-US" altLang="ko-KR" sz="1600" dirty="0" err="1"/>
              <a:t>request.getSession</a:t>
            </a:r>
            <a:r>
              <a:rPr lang="en-US" altLang="ko-KR" sz="1600" dirty="0"/>
              <a:t>().</a:t>
            </a:r>
            <a:r>
              <a:rPr lang="en-US" altLang="ko-KR" sz="1600" dirty="0" err="1"/>
              <a:t>getServletContext</a:t>
            </a:r>
            <a:r>
              <a:rPr lang="en-US" altLang="ko-KR" sz="1600" dirty="0" smtClean="0"/>
              <a:t>().</a:t>
            </a:r>
            <a:r>
              <a:rPr lang="en-US" altLang="ko-KR" sz="1600" dirty="0" err="1"/>
              <a:t>getRealPath</a:t>
            </a:r>
            <a:r>
              <a:rPr lang="en-US" altLang="ko-KR" sz="1600" dirty="0" smtClean="0"/>
              <a:t>(“/＂);  //&lt;- Servlet</a:t>
            </a:r>
            <a:r>
              <a:rPr lang="ko-KR" altLang="en-US" sz="1600" dirty="0" smtClean="0"/>
              <a:t>소스에서 적용</a:t>
            </a:r>
            <a:endParaRPr lang="en-US" altLang="ko-KR" sz="800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63E6EE4-09DA-409B-BA5F-AA0DDC4BC37F}"/>
              </a:ext>
            </a:extLst>
          </p:cNvPr>
          <p:cNvSpPr txBox="1"/>
          <p:nvPr/>
        </p:nvSpPr>
        <p:spPr>
          <a:xfrm>
            <a:off x="587188" y="4083924"/>
            <a:ext cx="10989034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&lt;Host&gt;  </a:t>
            </a:r>
          </a:p>
          <a:p>
            <a:r>
              <a:rPr lang="en-US" altLang="ko-KR" sz="1600" dirty="0" smtClean="0"/>
              <a:t>…</a:t>
            </a:r>
            <a:endParaRPr lang="en-US" altLang="ko-KR" sz="1600" dirty="0"/>
          </a:p>
          <a:p>
            <a:r>
              <a:rPr lang="en-US" altLang="ko-KR" sz="1600" dirty="0" smtClean="0"/>
              <a:t>&lt;</a:t>
            </a:r>
            <a:r>
              <a:rPr lang="en-US" altLang="ko-KR" sz="1600" dirty="0"/>
              <a:t>Context </a:t>
            </a:r>
            <a:r>
              <a:rPr lang="en-US" altLang="ko-KR" sz="1600" dirty="0" err="1"/>
              <a:t>docBase</a:t>
            </a:r>
            <a:r>
              <a:rPr lang="en-US" altLang="ko-KR" sz="1600" dirty="0"/>
              <a:t>="jsp_0422" path="/jsp_0422" reloadable="true" source="org.eclipse.jst.jee.server:jsp_0422"/&gt;</a:t>
            </a:r>
          </a:p>
          <a:p>
            <a:r>
              <a:rPr lang="en-US" altLang="ko-KR" sz="1600" b="1" dirty="0" smtClean="0">
                <a:solidFill>
                  <a:srgbClr val="FF0000"/>
                </a:solidFill>
              </a:rPr>
              <a:t>&lt;</a:t>
            </a:r>
            <a:r>
              <a:rPr lang="en-US" altLang="ko-KR" sz="1600" b="1" dirty="0">
                <a:solidFill>
                  <a:srgbClr val="FF0000"/>
                </a:solidFill>
              </a:rPr>
              <a:t>Context </a:t>
            </a:r>
            <a:r>
              <a:rPr lang="en-US" altLang="ko-KR" sz="1600" b="1" dirty="0" err="1">
                <a:solidFill>
                  <a:srgbClr val="FF0000"/>
                </a:solidFill>
              </a:rPr>
              <a:t>docBase</a:t>
            </a:r>
            <a:r>
              <a:rPr lang="en-US" altLang="ko-KR" sz="1600" b="1" dirty="0">
                <a:solidFill>
                  <a:srgbClr val="FF0000"/>
                </a:solidFill>
              </a:rPr>
              <a:t>="D:/upload" path="jsp_0422/upload" reloadable="true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"/&gt;</a:t>
            </a:r>
          </a:p>
          <a:p>
            <a:r>
              <a:rPr lang="en-US" altLang="ko-KR" sz="1600" dirty="0" smtClean="0"/>
              <a:t>…</a:t>
            </a:r>
          </a:p>
          <a:p>
            <a:r>
              <a:rPr lang="en-US" altLang="ko-KR" sz="1600" dirty="0" smtClean="0"/>
              <a:t>&lt;/Host&gt;</a:t>
            </a:r>
            <a:endParaRPr lang="en-US" altLang="ko-KR" sz="1600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63E6EE4-09DA-409B-BA5F-AA0DDC4BC37F}"/>
              </a:ext>
            </a:extLst>
          </p:cNvPr>
          <p:cNvSpPr txBox="1"/>
          <p:nvPr/>
        </p:nvSpPr>
        <p:spPr>
          <a:xfrm>
            <a:off x="651196" y="6267296"/>
            <a:ext cx="632567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&lt;</a:t>
            </a:r>
            <a:r>
              <a:rPr lang="en-US" altLang="ko-KR" b="1" dirty="0" err="1" smtClean="0"/>
              <a:t>img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src</a:t>
            </a:r>
            <a:r>
              <a:rPr lang="en-US" altLang="ko-KR" b="1" dirty="0" smtClean="0"/>
              <a:t>=“jsp_0422/upload/1.jpg” /&gt;    &lt;- </a:t>
            </a:r>
            <a:r>
              <a:rPr lang="ko-KR" altLang="en-US" b="1" dirty="0" smtClean="0"/>
              <a:t>링크연결</a:t>
            </a:r>
            <a:endParaRPr lang="en-US" altLang="ko-KR" sz="9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87188" y="1930065"/>
            <a:ext cx="487858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/>
              <a:t>[ </a:t>
            </a:r>
            <a:r>
              <a:rPr lang="ko-KR" altLang="en-US" dirty="0" smtClean="0"/>
              <a:t>파일위치 저장하는 페이지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upload_ok.jsp</a:t>
            </a:r>
            <a:r>
              <a:rPr lang="en-US" altLang="ko-KR" dirty="0" smtClean="0"/>
              <a:t> </a:t>
            </a:r>
            <a:r>
              <a:rPr lang="en-US" altLang="ko-KR" dirty="0"/>
              <a:t>]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87188" y="3583975"/>
            <a:ext cx="583102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 smtClean="0"/>
              <a:t>server.xml 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upload URL</a:t>
            </a:r>
            <a:r>
              <a:rPr lang="ko-KR" altLang="en-US" dirty="0" smtClean="0"/>
              <a:t>로 들어오는 이동경로 지정</a:t>
            </a:r>
            <a:endParaRPr lang="en-US" altLang="ko-KR" dirty="0"/>
          </a:p>
        </p:txBody>
      </p:sp>
      <p:sp>
        <p:nvSpPr>
          <p:cNvPr id="13" name="직사각형 12"/>
          <p:cNvSpPr/>
          <p:nvPr/>
        </p:nvSpPr>
        <p:spPr>
          <a:xfrm>
            <a:off x="587188" y="5801050"/>
            <a:ext cx="546008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 smtClean="0"/>
              <a:t>Upload </a:t>
            </a:r>
            <a:r>
              <a:rPr lang="ko-KR" altLang="en-US" dirty="0" smtClean="0"/>
              <a:t>링크 </a:t>
            </a:r>
            <a:r>
              <a:rPr lang="en-US" altLang="ko-KR" dirty="0" smtClean="0"/>
              <a:t>URL</a:t>
            </a:r>
            <a:r>
              <a:rPr lang="ko-KR" altLang="en-US" dirty="0" smtClean="0"/>
              <a:t>로 들어오면 </a:t>
            </a:r>
            <a:r>
              <a:rPr lang="en-US" altLang="ko-KR" dirty="0" smtClean="0"/>
              <a:t>D:/ </a:t>
            </a:r>
            <a:r>
              <a:rPr lang="ko-KR" altLang="en-US" dirty="0" smtClean="0"/>
              <a:t>드라이브로 연결</a:t>
            </a:r>
            <a:r>
              <a:rPr lang="en-US" altLang="ko-KR" dirty="0" smtClean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6531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5135</TotalTime>
  <Words>584</Words>
  <Application>Microsoft Office PowerPoint</Application>
  <PresentationFormat>와이드스크린</PresentationFormat>
  <Paragraphs>114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Arial Unicode MS</vt:lpstr>
      <vt:lpstr>Avenir</vt:lpstr>
      <vt:lpstr>Courier</vt:lpstr>
      <vt:lpstr>맑은 고딕</vt:lpstr>
      <vt:lpstr>배달의민족 주아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1268</cp:revision>
  <dcterms:created xsi:type="dcterms:W3CDTF">2014-12-01T08:37:15Z</dcterms:created>
  <dcterms:modified xsi:type="dcterms:W3CDTF">2023-11-13T07:28:18Z</dcterms:modified>
</cp:coreProperties>
</file>