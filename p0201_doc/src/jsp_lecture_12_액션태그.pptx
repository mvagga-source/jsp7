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63" r:id="rId2"/>
    <p:sldId id="281" r:id="rId3"/>
    <p:sldId id="282" r:id="rId4"/>
    <p:sldId id="283" r:id="rId5"/>
    <p:sldId id="284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60"/>
  </p:normalViewPr>
  <p:slideViewPr>
    <p:cSldViewPr snapToGrid="0">
      <p:cViewPr varScale="1">
        <p:scale>
          <a:sx n="70" d="100"/>
          <a:sy n="70" d="100"/>
        </p:scale>
        <p:origin x="46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BA1ADC-3FB7-40DA-B2DE-355D9B030C78}" type="datetimeFigureOut">
              <a:rPr lang="ko-KR" altLang="en-US" smtClean="0"/>
              <a:t>2023-07-27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E344A0-AA20-403B-B262-2ACEA066A2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69205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FE9EB-5882-4F14-9D7A-E43319FAAE5D}" type="datetime1">
              <a:rPr lang="ko-KR" altLang="en-US" smtClean="0"/>
              <a:t>2023-07-27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66419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E9BB34-6711-40F2-9C7B-47A61743D4AD}" type="datetime1">
              <a:rPr lang="ko-KR" altLang="en-US" smtClean="0"/>
              <a:t>2023-07-27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60791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E0FF5-5FAF-43AE-9E0C-CC3EA1B81862}" type="datetime1">
              <a:rPr lang="ko-KR" altLang="en-US" smtClean="0"/>
              <a:t>2023-07-27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23111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9AB40-AB99-4455-AC5A-01B404C2C00C}" type="datetime1">
              <a:rPr lang="ko-KR" altLang="en-US" smtClean="0"/>
              <a:t>2023-07-27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28002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C0ECE-794B-4B99-8E02-3BB1152032F2}" type="datetime1">
              <a:rPr lang="ko-KR" altLang="en-US" smtClean="0"/>
              <a:t>2023-07-27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01133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5503B-EE7A-4049-8A0E-70C0A8C6708E}" type="datetime1">
              <a:rPr lang="ko-KR" altLang="en-US" smtClean="0"/>
              <a:t>2023-07-27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80473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8CB6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/>
          <p:cNvSpPr/>
          <p:nvPr userDrawn="1"/>
        </p:nvSpPr>
        <p:spPr>
          <a:xfrm>
            <a:off x="-1" y="0"/>
            <a:ext cx="12192001" cy="6381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4024" y="0"/>
            <a:ext cx="1307976" cy="547715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946950">
            <a:off x="912862" y="1501027"/>
            <a:ext cx="906179" cy="864096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</p:pic>
      <p:pic>
        <p:nvPicPr>
          <p:cNvPr id="13" name="그림 1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34977">
            <a:off x="1431126" y="3918880"/>
            <a:ext cx="1831067" cy="1746032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</p:pic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34977">
            <a:off x="5372299" y="2151620"/>
            <a:ext cx="1131884" cy="1079320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</p:pic>
      <p:pic>
        <p:nvPicPr>
          <p:cNvPr id="15" name="그림 14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34977">
            <a:off x="9650526" y="745965"/>
            <a:ext cx="1131884" cy="1079320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</p:pic>
      <p:pic>
        <p:nvPicPr>
          <p:cNvPr id="10" name="그림 9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146778">
            <a:off x="5290847" y="-173034"/>
            <a:ext cx="7554916" cy="7204068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</p:pic>
    </p:spTree>
    <p:extLst>
      <p:ext uri="{BB962C8B-B14F-4D97-AF65-F5344CB8AC3E}">
        <p14:creationId xmlns:p14="http://schemas.microsoft.com/office/powerpoint/2010/main" val="217125753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 descr="G:\이재훈책임님\티스타즈PPT_2.jpg"/>
          <p:cNvPicPr>
            <a:picLocks noChangeAspect="1" noChangeArrowheads="1"/>
          </p:cNvPicPr>
          <p:nvPr userDrawn="1"/>
        </p:nvPicPr>
        <p:blipFill rotWithShape="1">
          <a:blip r:embed="rId2" cstate="print">
            <a:clrChange>
              <a:clrFrom>
                <a:srgbClr val="FFFFFE"/>
              </a:clrFrom>
              <a:clrTo>
                <a:srgbClr val="FFFFFE">
                  <a:alpha val="0"/>
                </a:srgbClr>
              </a:clrTo>
            </a:clrChange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986" t="22046" r="10485" b="9758"/>
          <a:stretch/>
        </p:blipFill>
        <p:spPr bwMode="auto">
          <a:xfrm>
            <a:off x="6395633" y="1301858"/>
            <a:ext cx="5796367" cy="55561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 userDrawn="1"/>
        </p:nvSpPr>
        <p:spPr>
          <a:xfrm>
            <a:off x="7950926" y="176272"/>
            <a:ext cx="36295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600" kern="1200" dirty="0" smtClean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12</a:t>
            </a:r>
            <a:r>
              <a:rPr lang="ko-KR" altLang="en-US" sz="1600" kern="1200" dirty="0" smtClean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강</a:t>
            </a:r>
            <a:r>
              <a:rPr lang="en-US" altLang="ko-KR" sz="1600" kern="1200" dirty="0" smtClean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.</a:t>
            </a:r>
            <a:r>
              <a:rPr lang="en-US" altLang="ko-KR" sz="1600" kern="1200" baseline="0" dirty="0" smtClean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 </a:t>
            </a:r>
            <a:r>
              <a:rPr lang="ko-KR" altLang="en-US" sz="1600" kern="1200" baseline="0" dirty="0" smtClean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액션태그</a:t>
            </a:r>
            <a:endParaRPr lang="ko-KR" altLang="en-US" sz="1600" dirty="0">
              <a:latin typeface="+mj-ea"/>
              <a:ea typeface="+mj-ea"/>
            </a:endParaRPr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66"/>
            <a:ext cx="1307976" cy="547715"/>
          </a:xfrm>
          <a:prstGeom prst="rect">
            <a:avLst/>
          </a:prstGeom>
        </p:spPr>
      </p:pic>
      <p:sp>
        <p:nvSpPr>
          <p:cNvPr id="9" name="이등변 삼각형 8"/>
          <p:cNvSpPr/>
          <p:nvPr userDrawn="1"/>
        </p:nvSpPr>
        <p:spPr>
          <a:xfrm rot="16200000">
            <a:off x="11611880" y="-31439"/>
            <a:ext cx="548681" cy="611559"/>
          </a:xfrm>
          <a:prstGeom prst="triangle">
            <a:avLst>
              <a:gd name="adj" fmla="val 100000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날짜 개체 틀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9E6BA691-BC9B-4A68-9744-1B809170C141}" type="datetime1">
              <a:rPr lang="ko-KR" altLang="en-US" smtClean="0"/>
              <a:t>2023-07-27</a:t>
            </a:fld>
            <a:endParaRPr lang="ko-KR" altLang="en-US"/>
          </a:p>
        </p:txBody>
      </p:sp>
      <p:sp>
        <p:nvSpPr>
          <p:cNvPr id="12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13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327093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D5985-9155-4A4F-A545-EFF2E5BDFE10}" type="datetime1">
              <a:rPr lang="ko-KR" altLang="en-US" smtClean="0"/>
              <a:t>2023-07-27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525520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E5BE4-290A-4A67-9142-8569AAC90C2F}" type="datetime1">
              <a:rPr lang="ko-KR" altLang="en-US" smtClean="0"/>
              <a:t>2023-07-27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65311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D7AA9-974F-41EE-AA93-9A7D5FC26AF0}" type="datetime1">
              <a:rPr lang="ko-KR" altLang="en-US" smtClean="0"/>
              <a:t>2023-07-27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09547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778F7-13A7-47A7-A538-4854C83EAB76}" type="datetime1">
              <a:rPr lang="ko-KR" altLang="en-US" smtClean="0"/>
              <a:t>2023-07-27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66748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078468-8E36-4528-8629-5ECE6BEC95B9}" type="datetime1">
              <a:rPr lang="ko-KR" altLang="en-US" smtClean="0"/>
              <a:t>2023-07-27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61031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62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9708" y="3500063"/>
            <a:ext cx="44447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spc="-150" dirty="0" smtClean="0">
                <a:solidFill>
                  <a:srgbClr val="0070C0"/>
                </a:solidFill>
                <a:latin typeface="+mj-ea"/>
                <a:ea typeface="+mj-ea"/>
              </a:rPr>
              <a:t>12</a:t>
            </a:r>
            <a:r>
              <a:rPr lang="ko-KR" altLang="en-US" sz="2000" spc="-150" dirty="0" smtClean="0">
                <a:solidFill>
                  <a:srgbClr val="0070C0"/>
                </a:solidFill>
                <a:latin typeface="+mj-ea"/>
                <a:ea typeface="+mj-ea"/>
              </a:rPr>
              <a:t>강</a:t>
            </a:r>
            <a:r>
              <a:rPr lang="en-US" altLang="ko-KR" sz="2000" spc="-150" dirty="0" smtClean="0">
                <a:solidFill>
                  <a:srgbClr val="0070C0"/>
                </a:solidFill>
                <a:latin typeface="+mj-ea"/>
                <a:ea typeface="+mj-ea"/>
              </a:rPr>
              <a:t>. </a:t>
            </a:r>
            <a:r>
              <a:rPr lang="ko-KR" altLang="en-US" sz="2000" spc="-150" dirty="0" smtClean="0">
                <a:solidFill>
                  <a:srgbClr val="0070C0"/>
                </a:solidFill>
                <a:latin typeface="+mj-ea"/>
                <a:ea typeface="+mj-ea"/>
              </a:rPr>
              <a:t>액션태그</a:t>
            </a:r>
            <a:endParaRPr lang="ko-KR" altLang="en-US" sz="2000" spc="-150" dirty="0">
              <a:solidFill>
                <a:srgbClr val="0070C0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9808570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kern="120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1</a:t>
            </a:r>
            <a:r>
              <a:rPr lang="en-US" altLang="ko-KR" sz="1600" b="1" kern="120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.</a:t>
            </a:r>
            <a:r>
              <a:rPr lang="en-US" altLang="ko-KR" sz="1600" b="1" kern="1200" baseline="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 </a:t>
            </a:r>
            <a:r>
              <a:rPr lang="ko-KR" altLang="en-US" sz="1600" b="1" dirty="0" smtClean="0">
                <a:latin typeface="+mn-ea"/>
              </a:rPr>
              <a:t>액션태그란</a:t>
            </a:r>
            <a:r>
              <a:rPr lang="en-US" altLang="ko-KR" sz="1600" b="1" dirty="0" smtClean="0">
                <a:latin typeface="+mn-ea"/>
              </a:rPr>
              <a:t>?</a:t>
            </a:r>
            <a:endParaRPr lang="ko-KR" altLang="en-US" sz="1600" b="1" dirty="0">
              <a:latin typeface="+mn-ea"/>
              <a:ea typeface="+mn-ea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2</a:t>
            </a:fld>
            <a:endParaRPr lang="ko-KR" altLang="en-US" dirty="0"/>
          </a:p>
        </p:txBody>
      </p:sp>
      <p:cxnSp>
        <p:nvCxnSpPr>
          <p:cNvPr id="5" name="직선 연결선 4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77008" y="1116906"/>
            <a:ext cx="10676792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 smtClean="0">
                <a:latin typeface="+mn-ea"/>
              </a:rPr>
              <a:t>JSP</a:t>
            </a:r>
            <a:r>
              <a:rPr lang="ko-KR" altLang="en-US" sz="1100" dirty="0" smtClean="0">
                <a:latin typeface="+mn-ea"/>
              </a:rPr>
              <a:t>페이지 내에서 어떤 동작을 하도록 지시하는 태그입니다</a:t>
            </a:r>
            <a:r>
              <a:rPr lang="en-US" altLang="ko-KR" sz="1100" dirty="0" smtClean="0">
                <a:latin typeface="+mn-ea"/>
              </a:rPr>
              <a:t>. </a:t>
            </a:r>
            <a:r>
              <a:rPr lang="ko-KR" altLang="en-US" sz="1100" dirty="0" smtClean="0">
                <a:latin typeface="+mn-ea"/>
              </a:rPr>
              <a:t>예를 들어 페이지 이동</a:t>
            </a:r>
            <a:r>
              <a:rPr lang="en-US" altLang="ko-KR" sz="1100" dirty="0" smtClean="0">
                <a:latin typeface="+mn-ea"/>
              </a:rPr>
              <a:t>, </a:t>
            </a:r>
            <a:r>
              <a:rPr lang="ko-KR" altLang="en-US" sz="1100" dirty="0" smtClean="0">
                <a:latin typeface="+mn-ea"/>
              </a:rPr>
              <a:t>페이지 </a:t>
            </a:r>
            <a:r>
              <a:rPr lang="en-US" altLang="ko-KR" sz="1100" dirty="0" smtClean="0">
                <a:latin typeface="+mn-ea"/>
              </a:rPr>
              <a:t>include </a:t>
            </a:r>
            <a:r>
              <a:rPr lang="ko-KR" altLang="en-US" sz="1100" dirty="0" smtClean="0">
                <a:latin typeface="+mn-ea"/>
              </a:rPr>
              <a:t>등등 입니다</a:t>
            </a:r>
            <a:r>
              <a:rPr lang="en-US" altLang="ko-KR" sz="1100" dirty="0" smtClean="0">
                <a:latin typeface="+mn-ea"/>
              </a:rPr>
              <a:t>.</a:t>
            </a:r>
          </a:p>
          <a:p>
            <a:r>
              <a:rPr lang="ko-KR" altLang="en-US" sz="1100" dirty="0" smtClean="0">
                <a:latin typeface="+mn-ea"/>
              </a:rPr>
              <a:t>추후에 배울 </a:t>
            </a:r>
            <a:r>
              <a:rPr lang="en-US" altLang="ko-KR" sz="1100" dirty="0" smtClean="0">
                <a:latin typeface="+mn-ea"/>
              </a:rPr>
              <a:t>Bean</a:t>
            </a:r>
            <a:r>
              <a:rPr lang="ko-KR" altLang="en-US" sz="1100" dirty="0" smtClean="0">
                <a:latin typeface="+mn-ea"/>
              </a:rPr>
              <a:t>과 관련된 태그도 있습니다</a:t>
            </a:r>
            <a:r>
              <a:rPr lang="en-US" altLang="ko-KR" sz="1100" dirty="0" smtClean="0">
                <a:latin typeface="+mn-ea"/>
              </a:rPr>
              <a:t>.</a:t>
            </a:r>
          </a:p>
          <a:p>
            <a:r>
              <a:rPr lang="ko-KR" altLang="en-US" sz="1100" dirty="0" smtClean="0">
                <a:latin typeface="+mn-ea"/>
              </a:rPr>
              <a:t>우선은 </a:t>
            </a:r>
            <a:r>
              <a:rPr lang="en-US" altLang="ko-KR" sz="1100" dirty="0" smtClean="0">
                <a:latin typeface="+mn-ea"/>
              </a:rPr>
              <a:t>forward, include, </a:t>
            </a:r>
            <a:r>
              <a:rPr lang="en-US" altLang="ko-KR" sz="1100" dirty="0" err="1" smtClean="0">
                <a:latin typeface="+mn-ea"/>
              </a:rPr>
              <a:t>param</a:t>
            </a:r>
            <a:r>
              <a:rPr lang="ko-KR" altLang="en-US" sz="1100" dirty="0" smtClean="0">
                <a:latin typeface="+mn-ea"/>
              </a:rPr>
              <a:t>태그만 살펴보고</a:t>
            </a:r>
            <a:r>
              <a:rPr lang="en-US" altLang="ko-KR" sz="1100" dirty="0" smtClean="0">
                <a:latin typeface="+mn-ea"/>
              </a:rPr>
              <a:t>, </a:t>
            </a:r>
            <a:r>
              <a:rPr lang="ko-KR" altLang="en-US" sz="1100" dirty="0" smtClean="0">
                <a:latin typeface="+mn-ea"/>
              </a:rPr>
              <a:t>추후 </a:t>
            </a:r>
            <a:r>
              <a:rPr lang="en-US" altLang="ko-KR" sz="1100" dirty="0" smtClean="0">
                <a:latin typeface="+mn-ea"/>
              </a:rPr>
              <a:t>bean</a:t>
            </a:r>
            <a:r>
              <a:rPr lang="ko-KR" altLang="en-US" sz="1100" dirty="0" smtClean="0">
                <a:latin typeface="+mn-ea"/>
              </a:rPr>
              <a:t>을 학습할 때 추가로 학습하도록 하겠습니다</a:t>
            </a:r>
            <a:r>
              <a:rPr lang="en-US" altLang="ko-KR" sz="1100" dirty="0" smtClean="0">
                <a:latin typeface="+mn-ea"/>
              </a:rPr>
              <a:t>.</a:t>
            </a:r>
            <a:r>
              <a:rPr lang="ko-KR" altLang="en-US" sz="1100" dirty="0" smtClean="0">
                <a:latin typeface="+mn-ea"/>
              </a:rPr>
              <a:t> </a:t>
            </a:r>
            <a:endParaRPr lang="en-US" altLang="ko-KR" sz="1100" dirty="0" smtClean="0">
              <a:latin typeface="+mn-ea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181" y="3675301"/>
            <a:ext cx="3495675" cy="1009650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8718" y="5828672"/>
            <a:ext cx="3276600" cy="619125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6952" y="4248413"/>
            <a:ext cx="4743450" cy="1181100"/>
          </a:xfrm>
          <a:prstGeom prst="rect">
            <a:avLst/>
          </a:prstGeom>
        </p:spPr>
      </p:pic>
      <p:cxnSp>
        <p:nvCxnSpPr>
          <p:cNvPr id="10" name="직선 화살표 연결선 9"/>
          <p:cNvCxnSpPr>
            <a:stCxn id="4" idx="3"/>
          </p:cNvCxnSpPr>
          <p:nvPr/>
        </p:nvCxnSpPr>
        <p:spPr>
          <a:xfrm>
            <a:off x="4444856" y="4180126"/>
            <a:ext cx="5537344" cy="4620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화살표 연결선 20"/>
          <p:cNvCxnSpPr/>
          <p:nvPr/>
        </p:nvCxnSpPr>
        <p:spPr>
          <a:xfrm flipV="1">
            <a:off x="4202545" y="5350932"/>
            <a:ext cx="2161310" cy="7873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/>
          <p:cNvSpPr/>
          <p:nvPr/>
        </p:nvSpPr>
        <p:spPr>
          <a:xfrm>
            <a:off x="9982200" y="4579165"/>
            <a:ext cx="838202" cy="287803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TextBox 29"/>
          <p:cNvSpPr txBox="1"/>
          <p:nvPr/>
        </p:nvSpPr>
        <p:spPr>
          <a:xfrm>
            <a:off x="677008" y="2197884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kern="120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2</a:t>
            </a:r>
            <a:r>
              <a:rPr lang="en-US" altLang="ko-KR" sz="1600" b="1" kern="120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.</a:t>
            </a:r>
            <a:r>
              <a:rPr lang="en-US" altLang="ko-KR" sz="1600" b="1" kern="1200" baseline="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 </a:t>
            </a:r>
            <a:r>
              <a:rPr lang="en-US" altLang="ko-KR" sz="1600" b="1" dirty="0">
                <a:latin typeface="+mn-ea"/>
              </a:rPr>
              <a:t>forward, include, </a:t>
            </a:r>
            <a:r>
              <a:rPr lang="en-US" altLang="ko-KR" sz="1600" b="1" dirty="0" err="1">
                <a:latin typeface="+mn-ea"/>
              </a:rPr>
              <a:t>param</a:t>
            </a:r>
            <a:r>
              <a:rPr lang="en-US" altLang="ko-KR" sz="1600" b="1" dirty="0">
                <a:latin typeface="+mn-ea"/>
              </a:rPr>
              <a:t> </a:t>
            </a:r>
            <a:r>
              <a:rPr lang="ko-KR" altLang="en-US" sz="1600" b="1" dirty="0">
                <a:latin typeface="+mn-ea"/>
              </a:rPr>
              <a:t>태그 살펴보기</a:t>
            </a:r>
            <a:endParaRPr lang="ko-KR" altLang="en-US" sz="1600" b="1" dirty="0">
              <a:latin typeface="+mn-ea"/>
              <a:ea typeface="+mn-ea"/>
            </a:endParaRPr>
          </a:p>
        </p:txBody>
      </p:sp>
      <p:cxnSp>
        <p:nvCxnSpPr>
          <p:cNvPr id="31" name="직선 연결선 30"/>
          <p:cNvCxnSpPr/>
          <p:nvPr/>
        </p:nvCxnSpPr>
        <p:spPr>
          <a:xfrm>
            <a:off x="677008" y="2545511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77008" y="2820393"/>
            <a:ext cx="106767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 smtClean="0">
                <a:latin typeface="+mn-ea"/>
              </a:rPr>
              <a:t>forward</a:t>
            </a:r>
          </a:p>
        </p:txBody>
      </p:sp>
      <p:cxnSp>
        <p:nvCxnSpPr>
          <p:cNvPr id="34" name="직선 연결선 33"/>
          <p:cNvCxnSpPr/>
          <p:nvPr/>
        </p:nvCxnSpPr>
        <p:spPr>
          <a:xfrm>
            <a:off x="730798" y="3050231"/>
            <a:ext cx="10089604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730798" y="3055403"/>
            <a:ext cx="1008960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>
                <a:latin typeface="+mn-ea"/>
              </a:rPr>
              <a:t>현재의 페이지에서 다른 특정페이지로 </a:t>
            </a:r>
            <a:r>
              <a:rPr lang="ko-KR" altLang="en-US" sz="1100" dirty="0" smtClean="0">
                <a:latin typeface="+mn-ea"/>
              </a:rPr>
              <a:t>전환할 </a:t>
            </a:r>
            <a:r>
              <a:rPr lang="ko-KR" altLang="en-US" sz="1100" dirty="0">
                <a:latin typeface="+mn-ea"/>
              </a:rPr>
              <a:t>때 사용 합니다</a:t>
            </a:r>
            <a:r>
              <a:rPr lang="en-US" altLang="ko-KR" sz="1100" dirty="0">
                <a:latin typeface="+mn-ea"/>
              </a:rPr>
              <a:t>. </a:t>
            </a:r>
            <a:r>
              <a:rPr lang="ko-KR" altLang="en-US" sz="1100" dirty="0">
                <a:latin typeface="+mn-ea"/>
              </a:rPr>
              <a:t>사용방법이 간단하여 예제를 통해 쉽게 이해 할 수 있습니다</a:t>
            </a:r>
            <a:r>
              <a:rPr lang="en-US" altLang="ko-KR" sz="1100" dirty="0">
                <a:latin typeface="+mn-ea"/>
              </a:rPr>
              <a:t>.</a:t>
            </a:r>
          </a:p>
          <a:p>
            <a:r>
              <a:rPr lang="en-US" altLang="ko-KR" sz="1100" dirty="0">
                <a:latin typeface="+mn-ea"/>
              </a:rPr>
              <a:t>(jsp_12_2_ex1_actionex)</a:t>
            </a:r>
          </a:p>
        </p:txBody>
      </p:sp>
    </p:spTree>
    <p:extLst>
      <p:ext uri="{BB962C8B-B14F-4D97-AF65-F5344CB8AC3E}">
        <p14:creationId xmlns:p14="http://schemas.microsoft.com/office/powerpoint/2010/main" val="30095492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smtClean="0">
                <a:latin typeface="+mn-ea"/>
              </a:rPr>
              <a:t>2</a:t>
            </a:r>
            <a:r>
              <a:rPr lang="en-US" altLang="ko-KR" sz="1600" b="1" dirty="0">
                <a:latin typeface="+mn-ea"/>
              </a:rPr>
              <a:t>. forward, include, </a:t>
            </a:r>
            <a:r>
              <a:rPr lang="en-US" altLang="ko-KR" sz="1600" b="1" dirty="0" err="1">
                <a:latin typeface="+mn-ea"/>
              </a:rPr>
              <a:t>param</a:t>
            </a:r>
            <a:r>
              <a:rPr lang="en-US" altLang="ko-KR" sz="1600" b="1" dirty="0">
                <a:latin typeface="+mn-ea"/>
              </a:rPr>
              <a:t> </a:t>
            </a:r>
            <a:r>
              <a:rPr lang="ko-KR" altLang="en-US" sz="1600" b="1" dirty="0">
                <a:latin typeface="+mn-ea"/>
              </a:rPr>
              <a:t>태그 살펴보기</a:t>
            </a: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3</a:t>
            </a:fld>
            <a:endParaRPr lang="ko-KR" altLang="en-US" dirty="0"/>
          </a:p>
        </p:txBody>
      </p:sp>
      <p:cxnSp>
        <p:nvCxnSpPr>
          <p:cNvPr id="5" name="직선 연결선 4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77008" y="1335722"/>
            <a:ext cx="106767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 smtClean="0">
                <a:latin typeface="+mn-ea"/>
              </a:rPr>
              <a:t>include</a:t>
            </a:r>
          </a:p>
        </p:txBody>
      </p:sp>
      <p:cxnSp>
        <p:nvCxnSpPr>
          <p:cNvPr id="34" name="직선 연결선 33"/>
          <p:cNvCxnSpPr/>
          <p:nvPr/>
        </p:nvCxnSpPr>
        <p:spPr>
          <a:xfrm>
            <a:off x="730798" y="1565560"/>
            <a:ext cx="10089604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730798" y="1570732"/>
            <a:ext cx="1008960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smtClean="0">
                <a:latin typeface="+mn-ea"/>
              </a:rPr>
              <a:t>현재 페이지에 다른 페이지를 삽입할 때 사용 합니다</a:t>
            </a:r>
            <a:r>
              <a:rPr lang="en-US" altLang="ko-KR" sz="1100" dirty="0" smtClean="0">
                <a:latin typeface="+mn-ea"/>
              </a:rPr>
              <a:t>.</a:t>
            </a:r>
            <a:endParaRPr lang="en-US" altLang="ko-KR" sz="1100" dirty="0">
              <a:latin typeface="+mn-ea"/>
            </a:endParaRPr>
          </a:p>
          <a:p>
            <a:r>
              <a:rPr lang="en-US" altLang="ko-KR" sz="1100" dirty="0">
                <a:latin typeface="+mn-ea"/>
              </a:rPr>
              <a:t>(jsp_12_2_ex1_actionex)</a:t>
            </a:r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818" y="4014326"/>
            <a:ext cx="3943350" cy="466725"/>
          </a:xfrm>
          <a:prstGeom prst="rect">
            <a:avLst/>
          </a:prstGeom>
        </p:spPr>
      </p:pic>
      <p:sp>
        <p:nvSpPr>
          <p:cNvPr id="12" name="덧셈 기호 11"/>
          <p:cNvSpPr/>
          <p:nvPr/>
        </p:nvSpPr>
        <p:spPr>
          <a:xfrm>
            <a:off x="2605547" y="3473693"/>
            <a:ext cx="393290" cy="393290"/>
          </a:xfrm>
          <a:prstGeom prst="mathPl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오른쪽 화살표 12"/>
          <p:cNvSpPr/>
          <p:nvPr/>
        </p:nvSpPr>
        <p:spPr>
          <a:xfrm>
            <a:off x="6009639" y="3238045"/>
            <a:ext cx="727587" cy="62635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6" name="그림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818" y="2405216"/>
            <a:ext cx="4695825" cy="1047750"/>
          </a:xfrm>
          <a:prstGeom prst="rect">
            <a:avLst/>
          </a:prstGeom>
        </p:spPr>
      </p:pic>
      <p:pic>
        <p:nvPicPr>
          <p:cNvPr id="17" name="그림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4222" y="2873925"/>
            <a:ext cx="3974393" cy="1253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56338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smtClean="0">
                <a:latin typeface="+mn-ea"/>
              </a:rPr>
              <a:t>2. </a:t>
            </a:r>
            <a:r>
              <a:rPr lang="en-US" altLang="ko-KR" sz="1600" b="1" dirty="0">
                <a:latin typeface="+mn-ea"/>
              </a:rPr>
              <a:t>forward, include, </a:t>
            </a:r>
            <a:r>
              <a:rPr lang="en-US" altLang="ko-KR" sz="1600" b="1" dirty="0" err="1">
                <a:latin typeface="+mn-ea"/>
              </a:rPr>
              <a:t>param</a:t>
            </a:r>
            <a:r>
              <a:rPr lang="en-US" altLang="ko-KR" sz="1600" b="1" dirty="0">
                <a:latin typeface="+mn-ea"/>
              </a:rPr>
              <a:t> </a:t>
            </a:r>
            <a:r>
              <a:rPr lang="ko-KR" altLang="en-US" sz="1600" b="1" dirty="0">
                <a:latin typeface="+mn-ea"/>
              </a:rPr>
              <a:t>태그 살펴보기</a:t>
            </a: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4</a:t>
            </a:fld>
            <a:endParaRPr lang="ko-KR" altLang="en-US" dirty="0"/>
          </a:p>
        </p:txBody>
      </p:sp>
      <p:cxnSp>
        <p:nvCxnSpPr>
          <p:cNvPr id="5" name="직선 연결선 4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77008" y="1335722"/>
            <a:ext cx="106767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 err="1" smtClean="0">
                <a:latin typeface="+mn-ea"/>
              </a:rPr>
              <a:t>param</a:t>
            </a:r>
            <a:endParaRPr lang="en-US" altLang="ko-KR" sz="1100" dirty="0" smtClean="0">
              <a:latin typeface="+mn-ea"/>
            </a:endParaRPr>
          </a:p>
        </p:txBody>
      </p:sp>
      <p:cxnSp>
        <p:nvCxnSpPr>
          <p:cNvPr id="34" name="직선 연결선 33"/>
          <p:cNvCxnSpPr/>
          <p:nvPr/>
        </p:nvCxnSpPr>
        <p:spPr>
          <a:xfrm>
            <a:off x="730798" y="1565560"/>
            <a:ext cx="10089604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730798" y="1570732"/>
            <a:ext cx="1008960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latin typeface="+mn-ea"/>
              </a:rPr>
              <a:t>f</a:t>
            </a:r>
            <a:r>
              <a:rPr lang="en-US" altLang="ko-KR" sz="1100" dirty="0" smtClean="0">
                <a:latin typeface="+mn-ea"/>
              </a:rPr>
              <a:t>orward </a:t>
            </a:r>
            <a:r>
              <a:rPr lang="ko-KR" altLang="en-US" sz="1100" dirty="0" smtClean="0">
                <a:latin typeface="+mn-ea"/>
              </a:rPr>
              <a:t>및 </a:t>
            </a:r>
            <a:r>
              <a:rPr lang="en-US" altLang="ko-KR" sz="1100" dirty="0" smtClean="0">
                <a:latin typeface="+mn-ea"/>
              </a:rPr>
              <a:t>include </a:t>
            </a:r>
            <a:r>
              <a:rPr lang="ko-KR" altLang="en-US" sz="1100" dirty="0" smtClean="0">
                <a:latin typeface="+mn-ea"/>
              </a:rPr>
              <a:t>태그에 데이터 전달을 목적으로 </a:t>
            </a:r>
            <a:r>
              <a:rPr lang="ko-KR" altLang="en-US" sz="1100" smtClean="0">
                <a:latin typeface="+mn-ea"/>
              </a:rPr>
              <a:t>사용되는 태그 </a:t>
            </a:r>
            <a:r>
              <a:rPr lang="ko-KR" altLang="en-US" sz="1100" dirty="0" smtClean="0">
                <a:latin typeface="+mn-ea"/>
              </a:rPr>
              <a:t>입니다</a:t>
            </a:r>
            <a:r>
              <a:rPr lang="en-US" altLang="ko-KR" sz="1100" dirty="0" smtClean="0">
                <a:latin typeface="+mn-ea"/>
              </a:rPr>
              <a:t>. </a:t>
            </a:r>
            <a:r>
              <a:rPr lang="ko-KR" altLang="en-US" sz="1100" dirty="0" smtClean="0">
                <a:latin typeface="+mn-ea"/>
              </a:rPr>
              <a:t>이름과 값으로 이루어져 있습니다</a:t>
            </a:r>
            <a:r>
              <a:rPr lang="en-US" altLang="ko-KR" sz="1100" dirty="0" smtClean="0">
                <a:latin typeface="+mn-ea"/>
              </a:rPr>
              <a:t>.</a:t>
            </a:r>
            <a:endParaRPr lang="en-US" altLang="ko-KR" sz="1100" dirty="0">
              <a:latin typeface="+mn-ea"/>
            </a:endParaRPr>
          </a:p>
          <a:p>
            <a:r>
              <a:rPr lang="en-US" altLang="ko-KR" sz="1100" dirty="0">
                <a:latin typeface="+mn-ea"/>
              </a:rPr>
              <a:t>(jsp_12_2_ex1_actionex)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324" y="2474875"/>
            <a:ext cx="3887932" cy="1065068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3357" y="2571857"/>
            <a:ext cx="3281795" cy="3004705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4957" y="4780098"/>
            <a:ext cx="3900169" cy="1080597"/>
          </a:xfrm>
          <a:prstGeom prst="rect">
            <a:avLst/>
          </a:prstGeom>
        </p:spPr>
      </p:pic>
      <p:cxnSp>
        <p:nvCxnSpPr>
          <p:cNvPr id="10" name="직선 화살표 연결선 9"/>
          <p:cNvCxnSpPr/>
          <p:nvPr/>
        </p:nvCxnSpPr>
        <p:spPr>
          <a:xfrm>
            <a:off x="5153891" y="3007409"/>
            <a:ext cx="113607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화살표 연결선 13"/>
          <p:cNvCxnSpPr/>
          <p:nvPr/>
        </p:nvCxnSpPr>
        <p:spPr>
          <a:xfrm flipH="1">
            <a:off x="5153891" y="4987636"/>
            <a:ext cx="113607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1527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kern="120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3.</a:t>
            </a:r>
            <a:r>
              <a:rPr lang="en-US" altLang="ko-KR" sz="1600" b="1" kern="1200" baseline="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 </a:t>
            </a:r>
            <a:r>
              <a:rPr lang="ko-KR" altLang="en-US" sz="1600" b="1" dirty="0" smtClean="0">
                <a:latin typeface="+mn-ea"/>
              </a:rPr>
              <a:t>지시자</a:t>
            </a:r>
            <a:endParaRPr lang="ko-KR" altLang="en-US" sz="1600" b="1" dirty="0">
              <a:latin typeface="+mn-ea"/>
              <a:ea typeface="+mn-ea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5</a:t>
            </a:fld>
            <a:endParaRPr lang="ko-KR" altLang="en-US" dirty="0"/>
          </a:p>
        </p:txBody>
      </p:sp>
      <p:cxnSp>
        <p:nvCxnSpPr>
          <p:cNvPr id="5" name="직선 연결선 4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77008" y="1517457"/>
            <a:ext cx="106767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 smtClean="0">
                <a:latin typeface="+mn-ea"/>
              </a:rPr>
              <a:t>include </a:t>
            </a:r>
            <a:r>
              <a:rPr lang="ko-KR" altLang="en-US" sz="1100" dirty="0" smtClean="0">
                <a:latin typeface="+mn-ea"/>
              </a:rPr>
              <a:t>지시자</a:t>
            </a:r>
            <a:endParaRPr lang="en-US" altLang="ko-KR" sz="1100" dirty="0" smtClean="0">
              <a:latin typeface="+mn-ea"/>
            </a:endParaRPr>
          </a:p>
        </p:txBody>
      </p:sp>
      <p:cxnSp>
        <p:nvCxnSpPr>
          <p:cNvPr id="21" name="직선 연결선 20"/>
          <p:cNvCxnSpPr/>
          <p:nvPr/>
        </p:nvCxnSpPr>
        <p:spPr>
          <a:xfrm>
            <a:off x="730798" y="1784239"/>
            <a:ext cx="10089604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30798" y="1789412"/>
            <a:ext cx="1008960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smtClean="0">
                <a:latin typeface="+mn-ea"/>
              </a:rPr>
              <a:t>현재 </a:t>
            </a:r>
            <a:r>
              <a:rPr lang="ko-KR" altLang="en-US" sz="1100" dirty="0" err="1" smtClean="0">
                <a:latin typeface="+mn-ea"/>
              </a:rPr>
              <a:t>페이지내에</a:t>
            </a:r>
            <a:r>
              <a:rPr lang="ko-KR" altLang="en-US" sz="1100" dirty="0" smtClean="0">
                <a:latin typeface="+mn-ea"/>
              </a:rPr>
              <a:t> 다른 페이지를 삽입할 때 사용 됩니다</a:t>
            </a:r>
            <a:r>
              <a:rPr lang="en-US" altLang="ko-KR" sz="1100" dirty="0" smtClean="0">
                <a:latin typeface="+mn-ea"/>
              </a:rPr>
              <a:t>. file</a:t>
            </a:r>
            <a:r>
              <a:rPr lang="ko-KR" altLang="en-US" sz="1100" dirty="0" smtClean="0">
                <a:latin typeface="+mn-ea"/>
              </a:rPr>
              <a:t>속성을 이용 합니다</a:t>
            </a:r>
            <a:r>
              <a:rPr lang="en-US" altLang="ko-KR" sz="1100" dirty="0" smtClean="0">
                <a:latin typeface="+mn-ea"/>
              </a:rPr>
              <a:t>.</a:t>
            </a:r>
          </a:p>
          <a:p>
            <a:r>
              <a:rPr lang="en-US" altLang="ko-KR" sz="1100" dirty="0">
                <a:latin typeface="+mn-ea"/>
              </a:rPr>
              <a:t>(</a:t>
            </a:r>
            <a:r>
              <a:rPr lang="en-US" altLang="ko-KR" sz="1100" dirty="0" smtClean="0">
                <a:latin typeface="+mn-ea"/>
              </a:rPr>
              <a:t>jsp_10_2_ex1_directiveex)</a:t>
            </a: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798" y="2495759"/>
            <a:ext cx="3975310" cy="795062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8384" y="2404189"/>
            <a:ext cx="4478720" cy="3510929"/>
          </a:xfrm>
          <a:prstGeom prst="rect">
            <a:avLst/>
          </a:prstGeom>
        </p:spPr>
      </p:pic>
      <p:sp>
        <p:nvSpPr>
          <p:cNvPr id="13" name="직사각형 12"/>
          <p:cNvSpPr/>
          <p:nvPr/>
        </p:nvSpPr>
        <p:spPr>
          <a:xfrm>
            <a:off x="6668655" y="2404189"/>
            <a:ext cx="4618181" cy="1292740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/>
          <p:cNvSpPr/>
          <p:nvPr/>
        </p:nvSpPr>
        <p:spPr>
          <a:xfrm>
            <a:off x="6668653" y="3738515"/>
            <a:ext cx="4618181" cy="1629897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/>
          <p:cNvSpPr/>
          <p:nvPr/>
        </p:nvSpPr>
        <p:spPr>
          <a:xfrm>
            <a:off x="6668652" y="5409999"/>
            <a:ext cx="4618181" cy="495288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/>
          <p:cNvSpPr txBox="1"/>
          <p:nvPr/>
        </p:nvSpPr>
        <p:spPr>
          <a:xfrm>
            <a:off x="730798" y="3566281"/>
            <a:ext cx="3531736" cy="70788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ko-KR" altLang="en-US" sz="2000" dirty="0" smtClean="0"/>
              <a:t>상단 </a:t>
            </a:r>
            <a:r>
              <a:rPr lang="en-US" altLang="ko-KR" sz="2000" dirty="0" smtClean="0"/>
              <a:t>top, </a:t>
            </a:r>
            <a:r>
              <a:rPr lang="ko-KR" altLang="en-US" sz="2000" dirty="0" smtClean="0"/>
              <a:t>하단 </a:t>
            </a:r>
            <a:r>
              <a:rPr lang="en-US" altLang="ko-KR" sz="2000" dirty="0" smtClean="0"/>
              <a:t>footer </a:t>
            </a:r>
            <a:r>
              <a:rPr lang="ko-KR" altLang="en-US" sz="2000" dirty="0" smtClean="0"/>
              <a:t>를 </a:t>
            </a:r>
            <a:r>
              <a:rPr lang="en-US" altLang="ko-KR" sz="2000" dirty="0" smtClean="0"/>
              <a:t/>
            </a:r>
            <a:br>
              <a:rPr lang="en-US" altLang="ko-KR" sz="2000" dirty="0" smtClean="0"/>
            </a:br>
            <a:r>
              <a:rPr lang="ko-KR" altLang="en-US" sz="2000" dirty="0" smtClean="0"/>
              <a:t>모든 페이지에 </a:t>
            </a:r>
            <a:r>
              <a:rPr lang="ko-KR" altLang="en-US" sz="2000" dirty="0" err="1" smtClean="0"/>
              <a:t>적용할때</a:t>
            </a:r>
            <a:r>
              <a:rPr lang="ko-KR" altLang="en-US" sz="2000" dirty="0" smtClean="0"/>
              <a:t> 사용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40383045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2714</TotalTime>
  <Words>168</Words>
  <Application>Microsoft Office PowerPoint</Application>
  <PresentationFormat>와이드스크린</PresentationFormat>
  <Paragraphs>26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8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ho</dc:creator>
  <cp:lastModifiedBy>005</cp:lastModifiedBy>
  <cp:revision>811</cp:revision>
  <dcterms:created xsi:type="dcterms:W3CDTF">2014-12-01T08:37:15Z</dcterms:created>
  <dcterms:modified xsi:type="dcterms:W3CDTF">2023-07-27T06:17:19Z</dcterms:modified>
</cp:coreProperties>
</file>