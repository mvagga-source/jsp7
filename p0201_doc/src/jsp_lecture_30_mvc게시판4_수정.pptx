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3" r:id="rId2"/>
    <p:sldId id="288" r:id="rId3"/>
    <p:sldId id="282" r:id="rId4"/>
    <p:sldId id="283" r:id="rId5"/>
    <p:sldId id="281" r:id="rId6"/>
    <p:sldId id="297" r:id="rId7"/>
    <p:sldId id="285" r:id="rId8"/>
    <p:sldId id="286" r:id="rId9"/>
    <p:sldId id="296" r:id="rId10"/>
    <p:sldId id="284" r:id="rId11"/>
    <p:sldId id="287" r:id="rId12"/>
    <p:sldId id="295" r:id="rId13"/>
    <p:sldId id="289" r:id="rId14"/>
    <p:sldId id="290" r:id="rId15"/>
    <p:sldId id="291" r:id="rId16"/>
    <p:sldId id="292" r:id="rId17"/>
    <p:sldId id="29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30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MVC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패턴을 이용한 게시판 만들기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-IV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2021-06-01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7341" y="3500063"/>
            <a:ext cx="4787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30</a:t>
            </a:r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. MVC</a:t>
            </a:r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패턴을 이용한 게시판 만들기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-IV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09012" y="3900173"/>
            <a:ext cx="4195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글 답변 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4432" y="4959417"/>
            <a:ext cx="209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i="1" dirty="0"/>
              <a:t>Lecturer</a:t>
            </a:r>
            <a:r>
              <a:rPr lang="en-US" altLang="ko-KR" sz="1200" dirty="0"/>
              <a:t>  Kim </a:t>
            </a:r>
            <a:r>
              <a:rPr lang="en-US" altLang="ko-KR" sz="1200" dirty="0" err="1"/>
              <a:t>Myoung</a:t>
            </a:r>
            <a:r>
              <a:rPr lang="en-US" altLang="ko-KR" sz="1200" dirty="0"/>
              <a:t>-Ho</a:t>
            </a:r>
          </a:p>
          <a:p>
            <a:pPr algn="r"/>
            <a:r>
              <a:rPr lang="en-US" altLang="ko-KR" sz="1200" i="1" dirty="0"/>
              <a:t>Nickname</a:t>
            </a:r>
            <a:r>
              <a:rPr lang="en-US" altLang="ko-KR" sz="1200" dirty="0"/>
              <a:t>  </a:t>
            </a:r>
            <a:r>
              <a:rPr lang="ko-KR" altLang="en-US" sz="1200" dirty="0" err="1"/>
              <a:t>블스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blogstudy@naver.com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모서리가 둥근 직사각형 87"/>
          <p:cNvSpPr/>
          <p:nvPr/>
        </p:nvSpPr>
        <p:spPr>
          <a:xfrm>
            <a:off x="86497" y="5417710"/>
            <a:ext cx="5678406" cy="1153874"/>
          </a:xfrm>
          <a:prstGeom prst="roundRect">
            <a:avLst>
              <a:gd name="adj" fmla="val 1293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5818909" y="1477818"/>
            <a:ext cx="6265999" cy="4878532"/>
          </a:xfrm>
          <a:prstGeom prst="roundRect">
            <a:avLst>
              <a:gd name="adj" fmla="val 4929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전체적인 컴포넌트 설계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7502" y="3658783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요청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7008" y="3381269"/>
            <a:ext cx="1541785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171826" y="3381269"/>
            <a:ext cx="1859040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FrontController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174269" y="2308424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BListCommand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174269" y="2760247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BContentCommand</a:t>
            </a:r>
            <a:endParaRPr lang="ko-KR" altLang="en-US" sz="1400" dirty="0"/>
          </a:p>
        </p:txBody>
      </p:sp>
      <p:sp>
        <p:nvSpPr>
          <p:cNvPr id="18" name="직사각형 17"/>
          <p:cNvSpPr/>
          <p:nvPr/>
        </p:nvSpPr>
        <p:spPr>
          <a:xfrm>
            <a:off x="6174269" y="3212070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BwriteCommand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6174269" y="3663893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BDeleteCommand</a:t>
            </a:r>
            <a:endParaRPr lang="ko-KR" altLang="en-US" sz="1600" dirty="0"/>
          </a:p>
        </p:txBody>
      </p:sp>
      <p:sp>
        <p:nvSpPr>
          <p:cNvPr id="22" name="직사각형 21"/>
          <p:cNvSpPr/>
          <p:nvPr/>
        </p:nvSpPr>
        <p:spPr>
          <a:xfrm>
            <a:off x="6174269" y="5515289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BReplyViewCommand</a:t>
            </a:r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9172511" y="3380574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DAO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10949566" y="3380573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stCxn id="8" idx="3"/>
            <a:endCxn id="15" idx="1"/>
          </p:cNvCxnSpPr>
          <p:nvPr/>
        </p:nvCxnSpPr>
        <p:spPr>
          <a:xfrm>
            <a:off x="2218793" y="3916598"/>
            <a:ext cx="953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6" idx="3"/>
            <a:endCxn id="24" idx="1"/>
          </p:cNvCxnSpPr>
          <p:nvPr/>
        </p:nvCxnSpPr>
        <p:spPr>
          <a:xfrm>
            <a:off x="8224740" y="2511244"/>
            <a:ext cx="947771" cy="1404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4" idx="3"/>
          </p:cNvCxnSpPr>
          <p:nvPr/>
        </p:nvCxnSpPr>
        <p:spPr>
          <a:xfrm>
            <a:off x="10145343" y="3915903"/>
            <a:ext cx="866008" cy="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7" idx="3"/>
            <a:endCxn id="24" idx="1"/>
          </p:cNvCxnSpPr>
          <p:nvPr/>
        </p:nvCxnSpPr>
        <p:spPr>
          <a:xfrm>
            <a:off x="8224740" y="2963067"/>
            <a:ext cx="947771" cy="95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8" idx="3"/>
            <a:endCxn id="24" idx="1"/>
          </p:cNvCxnSpPr>
          <p:nvPr/>
        </p:nvCxnSpPr>
        <p:spPr>
          <a:xfrm>
            <a:off x="8224740" y="3414890"/>
            <a:ext cx="947771" cy="50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9" idx="3"/>
            <a:endCxn id="24" idx="1"/>
          </p:cNvCxnSpPr>
          <p:nvPr/>
        </p:nvCxnSpPr>
        <p:spPr>
          <a:xfrm>
            <a:off x="8224740" y="3866713"/>
            <a:ext cx="947771" cy="49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2" idx="3"/>
            <a:endCxn id="24" idx="1"/>
          </p:cNvCxnSpPr>
          <p:nvPr/>
        </p:nvCxnSpPr>
        <p:spPr>
          <a:xfrm flipV="1">
            <a:off x="8224740" y="3915903"/>
            <a:ext cx="947771" cy="180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15" idx="3"/>
            <a:endCxn id="16" idx="1"/>
          </p:cNvCxnSpPr>
          <p:nvPr/>
        </p:nvCxnSpPr>
        <p:spPr>
          <a:xfrm flipV="1">
            <a:off x="5030866" y="2511244"/>
            <a:ext cx="1143403" cy="1405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15" idx="3"/>
            <a:endCxn id="17" idx="1"/>
          </p:cNvCxnSpPr>
          <p:nvPr/>
        </p:nvCxnSpPr>
        <p:spPr>
          <a:xfrm flipV="1">
            <a:off x="5030866" y="2963067"/>
            <a:ext cx="1143403" cy="953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15" idx="3"/>
            <a:endCxn id="18" idx="1"/>
          </p:cNvCxnSpPr>
          <p:nvPr/>
        </p:nvCxnSpPr>
        <p:spPr>
          <a:xfrm flipV="1">
            <a:off x="5030866" y="3414890"/>
            <a:ext cx="1143403" cy="501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15" idx="3"/>
            <a:endCxn id="19" idx="1"/>
          </p:cNvCxnSpPr>
          <p:nvPr/>
        </p:nvCxnSpPr>
        <p:spPr>
          <a:xfrm flipV="1">
            <a:off x="5030866" y="3866713"/>
            <a:ext cx="1143403" cy="49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15" idx="3"/>
            <a:endCxn id="22" idx="1"/>
          </p:cNvCxnSpPr>
          <p:nvPr/>
        </p:nvCxnSpPr>
        <p:spPr>
          <a:xfrm>
            <a:off x="5030866" y="3916598"/>
            <a:ext cx="1143403" cy="180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6733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UI</a:t>
            </a:r>
            <a:r>
              <a:rPr lang="ko-KR" altLang="en-US" dirty="0"/>
              <a:t>화면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27638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UI</a:t>
            </a:r>
            <a:r>
              <a:rPr lang="ko-KR" altLang="en-US" dirty="0"/>
              <a:t>화면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2376622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UI</a:t>
            </a:r>
            <a:r>
              <a:rPr lang="ko-KR" altLang="en-US" dirty="0"/>
              <a:t>화면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4581536" y="5745953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UI</a:t>
            </a:r>
            <a:r>
              <a:rPr lang="ko-KR" altLang="en-US" dirty="0"/>
              <a:t>화면</a:t>
            </a:r>
          </a:p>
        </p:txBody>
      </p:sp>
      <p:cxnSp>
        <p:nvCxnSpPr>
          <p:cNvPr id="68" name="직선 화살표 연결선 67"/>
          <p:cNvCxnSpPr>
            <a:stCxn id="15" idx="2"/>
            <a:endCxn id="63" idx="0"/>
          </p:cNvCxnSpPr>
          <p:nvPr/>
        </p:nvCxnSpPr>
        <p:spPr>
          <a:xfrm flipH="1">
            <a:off x="693570" y="4451926"/>
            <a:ext cx="340777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15" idx="2"/>
            <a:endCxn id="64" idx="0"/>
          </p:cNvCxnSpPr>
          <p:nvPr/>
        </p:nvCxnSpPr>
        <p:spPr>
          <a:xfrm flipH="1">
            <a:off x="1802620" y="4451926"/>
            <a:ext cx="229872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15" idx="2"/>
            <a:endCxn id="65" idx="0"/>
          </p:cNvCxnSpPr>
          <p:nvPr/>
        </p:nvCxnSpPr>
        <p:spPr>
          <a:xfrm flipH="1">
            <a:off x="2902862" y="4451926"/>
            <a:ext cx="1198484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15" idx="2"/>
            <a:endCxn id="66" idx="0"/>
          </p:cNvCxnSpPr>
          <p:nvPr/>
        </p:nvCxnSpPr>
        <p:spPr>
          <a:xfrm>
            <a:off x="4101346" y="4451926"/>
            <a:ext cx="1006430" cy="1294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743551" y="4837178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응답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915917" y="1758766"/>
            <a:ext cx="1334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+mn-ea"/>
              </a:rPr>
              <a:t>로직</a:t>
            </a:r>
            <a:r>
              <a:rPr lang="ko-KR" altLang="en-US" sz="1200" dirty="0">
                <a:latin typeface="+mn-ea"/>
              </a:rPr>
              <a:t> 실행 지시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329606" y="1089364"/>
            <a:ext cx="160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>
                <a:latin typeface="+mn-ea"/>
              </a:rPr>
              <a:t>로직</a:t>
            </a:r>
            <a:r>
              <a:rPr lang="ko-KR" altLang="en-US" b="1" dirty="0">
                <a:latin typeface="+mn-ea"/>
              </a:rPr>
              <a:t> 실행</a:t>
            </a:r>
            <a:endParaRPr lang="en-US" altLang="ko-KR" b="1" dirty="0"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12836" y="5010572"/>
            <a:ext cx="1375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+mn-ea"/>
              </a:rPr>
              <a:t>화면 </a:t>
            </a:r>
            <a:r>
              <a:rPr lang="en-US" altLang="ko-KR" sz="2000" b="1" dirty="0">
                <a:latin typeface="+mn-ea"/>
              </a:rPr>
              <a:t>UI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10193577" y="2933238"/>
            <a:ext cx="695397" cy="35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DTO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45932" y="1636977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algn="ctr"/>
            <a:r>
              <a:rPr lang="en-US" altLang="ko-KR" sz="1600" dirty="0"/>
              <a:t>( </a:t>
            </a:r>
            <a:r>
              <a:rPr lang="en-US" altLang="ko-KR" sz="1600" dirty="0" err="1"/>
              <a:t>Bcommand</a:t>
            </a:r>
            <a:r>
              <a:rPr lang="en-US" altLang="ko-KR" sz="1600" dirty="0"/>
              <a:t> )</a:t>
            </a:r>
            <a:endParaRPr lang="ko-KR" alt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47612" y="6210787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List.jsp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9130074" y="2060427"/>
            <a:ext cx="94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Select</a:t>
            </a:r>
          </a:p>
          <a:p>
            <a:pPr algn="ctr"/>
            <a:r>
              <a:rPr lang="en-US" altLang="ko-KR" dirty="0"/>
              <a:t>Insert</a:t>
            </a:r>
          </a:p>
          <a:p>
            <a:pPr algn="ctr"/>
            <a:r>
              <a:rPr lang="en-US" altLang="ko-KR" dirty="0"/>
              <a:t>Update</a:t>
            </a:r>
          </a:p>
          <a:p>
            <a:pPr algn="ctr"/>
            <a:r>
              <a:rPr lang="en-US" altLang="ko-KR" dirty="0"/>
              <a:t>delete</a:t>
            </a:r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3167134" y="2059875"/>
            <a:ext cx="12538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*.do</a:t>
            </a:r>
          </a:p>
          <a:p>
            <a:r>
              <a:rPr lang="en-US" altLang="ko-KR" dirty="0"/>
              <a:t>If(list.do…)</a:t>
            </a:r>
          </a:p>
          <a:p>
            <a:r>
              <a:rPr lang="en-US" altLang="ko-KR" dirty="0"/>
              <a:t>Execute()</a:t>
            </a:r>
          </a:p>
          <a:p>
            <a:r>
              <a:rPr lang="en-US" altLang="ko-KR" dirty="0"/>
              <a:t>forward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149320" y="6264575"/>
            <a:ext cx="1340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Content_view.jsp</a:t>
            </a:r>
            <a:endParaRPr lang="ko-KR" alt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2352774" y="6264575"/>
            <a:ext cx="112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write_view.jsp</a:t>
            </a:r>
            <a:endParaRPr lang="ko-KR" altLang="en-US" sz="1200" dirty="0"/>
          </a:p>
        </p:txBody>
      </p:sp>
      <p:sp>
        <p:nvSpPr>
          <p:cNvPr id="62" name="직사각형 61"/>
          <p:cNvSpPr/>
          <p:nvPr/>
        </p:nvSpPr>
        <p:spPr>
          <a:xfrm>
            <a:off x="6174269" y="4135380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BModifyCommand</a:t>
            </a:r>
            <a:endParaRPr lang="ko-KR" altLang="en-US" sz="1600" dirty="0"/>
          </a:p>
        </p:txBody>
      </p:sp>
      <p:sp>
        <p:nvSpPr>
          <p:cNvPr id="69" name="직사각형 68"/>
          <p:cNvSpPr/>
          <p:nvPr/>
        </p:nvSpPr>
        <p:spPr>
          <a:xfrm>
            <a:off x="6174269" y="4587203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BModifyViewCommand</a:t>
            </a:r>
            <a:endParaRPr lang="ko-KR" altLang="en-US" sz="1200" dirty="0"/>
          </a:p>
        </p:txBody>
      </p:sp>
      <p:sp>
        <p:nvSpPr>
          <p:cNvPr id="72" name="직사각형 71"/>
          <p:cNvSpPr/>
          <p:nvPr/>
        </p:nvSpPr>
        <p:spPr>
          <a:xfrm>
            <a:off x="6174269" y="5045856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BReplyCommand</a:t>
            </a:r>
            <a:endParaRPr lang="ko-KR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4537115" y="6264575"/>
            <a:ext cx="1124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reply_view.jsp</a:t>
            </a:r>
            <a:endParaRPr lang="ko-KR" altLang="en-US" sz="1200" dirty="0"/>
          </a:p>
        </p:txBody>
      </p:sp>
      <p:sp>
        <p:nvSpPr>
          <p:cNvPr id="92" name="직사각형 91"/>
          <p:cNvSpPr/>
          <p:nvPr/>
        </p:nvSpPr>
        <p:spPr>
          <a:xfrm>
            <a:off x="3476864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UI</a:t>
            </a:r>
            <a:r>
              <a:rPr lang="ko-KR" altLang="en-US" dirty="0"/>
              <a:t>화면</a:t>
            </a:r>
          </a:p>
        </p:txBody>
      </p:sp>
      <p:cxnSp>
        <p:nvCxnSpPr>
          <p:cNvPr id="93" name="직선 화살표 연결선 92"/>
          <p:cNvCxnSpPr>
            <a:stCxn id="15" idx="2"/>
            <a:endCxn id="92" idx="0"/>
          </p:cNvCxnSpPr>
          <p:nvPr/>
        </p:nvCxnSpPr>
        <p:spPr>
          <a:xfrm flipH="1">
            <a:off x="4003104" y="4451926"/>
            <a:ext cx="98242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368539" y="6264575"/>
            <a:ext cx="1269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modify_view.jsp</a:t>
            </a:r>
            <a:endParaRPr lang="ko-KR" altLang="en-US" sz="1200" dirty="0"/>
          </a:p>
        </p:txBody>
      </p:sp>
      <p:cxnSp>
        <p:nvCxnSpPr>
          <p:cNvPr id="95" name="직선 화살표 연결선 94"/>
          <p:cNvCxnSpPr>
            <a:stCxn id="15" idx="3"/>
            <a:endCxn id="62" idx="1"/>
          </p:cNvCxnSpPr>
          <p:nvPr/>
        </p:nvCxnSpPr>
        <p:spPr>
          <a:xfrm>
            <a:off x="5030866" y="3916598"/>
            <a:ext cx="1143403" cy="42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15" idx="3"/>
            <a:endCxn id="69" idx="1"/>
          </p:cNvCxnSpPr>
          <p:nvPr/>
        </p:nvCxnSpPr>
        <p:spPr>
          <a:xfrm>
            <a:off x="5030866" y="3916598"/>
            <a:ext cx="1143403" cy="8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15" idx="3"/>
            <a:endCxn id="72" idx="1"/>
          </p:cNvCxnSpPr>
          <p:nvPr/>
        </p:nvCxnSpPr>
        <p:spPr>
          <a:xfrm>
            <a:off x="5030866" y="3916598"/>
            <a:ext cx="1143403" cy="133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62" idx="3"/>
            <a:endCxn id="24" idx="1"/>
          </p:cNvCxnSpPr>
          <p:nvPr/>
        </p:nvCxnSpPr>
        <p:spPr>
          <a:xfrm flipV="1">
            <a:off x="8224740" y="3915903"/>
            <a:ext cx="947771" cy="42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>
            <a:stCxn id="69" idx="3"/>
            <a:endCxn id="24" idx="1"/>
          </p:cNvCxnSpPr>
          <p:nvPr/>
        </p:nvCxnSpPr>
        <p:spPr>
          <a:xfrm flipV="1">
            <a:off x="8224740" y="3915903"/>
            <a:ext cx="947771" cy="874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endCxn id="24" idx="1"/>
          </p:cNvCxnSpPr>
          <p:nvPr/>
        </p:nvCxnSpPr>
        <p:spPr>
          <a:xfrm flipV="1">
            <a:off x="8237270" y="3915903"/>
            <a:ext cx="935241" cy="155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98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글</a:t>
            </a:r>
            <a:r>
              <a:rPr lang="ko-KR" altLang="en-US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 답변 달기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지난 시간에 이어서 </a:t>
            </a:r>
            <a:r>
              <a:rPr lang="en-US" altLang="ko-KR" sz="1100" dirty="0">
                <a:latin typeface="+mn-ea"/>
              </a:rPr>
              <a:t>(jsp_27_1_ex1_mvcboardex) </a:t>
            </a:r>
            <a:r>
              <a:rPr lang="ko-KR" altLang="en-US" sz="1100" dirty="0">
                <a:latin typeface="+mn-ea"/>
              </a:rPr>
              <a:t>소스에 추가 하도록 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09955" y="2215661"/>
            <a:ext cx="2260140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content_view.jsp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567953" y="2215661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BFrontController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67953" y="2773480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atin typeface="+mn-ea"/>
              </a:rPr>
              <a:t>답변 </a:t>
            </a:r>
            <a:r>
              <a:rPr lang="ko-KR" altLang="en-US" sz="1050" b="1" dirty="0" err="1">
                <a:latin typeface="+mn-ea"/>
              </a:rPr>
              <a:t>로직</a:t>
            </a:r>
            <a:r>
              <a:rPr lang="ko-KR" altLang="en-US" sz="1050" b="1" dirty="0">
                <a:latin typeface="+mn-ea"/>
              </a:rPr>
              <a:t> 분기</a:t>
            </a:r>
            <a:endParaRPr lang="en-US" altLang="ko-KR" sz="1050" b="1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24918" y="2215661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BReplyCommand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6" idx="3"/>
            <a:endCxn id="14" idx="1"/>
          </p:cNvCxnSpPr>
          <p:nvPr/>
        </p:nvCxnSpPr>
        <p:spPr>
          <a:xfrm>
            <a:off x="2770095" y="2489084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5827059" y="2493566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40607" y="2773480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+mn-ea"/>
              </a:rPr>
              <a:t>DAO</a:t>
            </a:r>
            <a:r>
              <a:rPr lang="ko-KR" altLang="en-US" sz="1050" b="1" dirty="0">
                <a:latin typeface="+mn-ea"/>
              </a:rPr>
              <a:t>에 답변 저장 요청</a:t>
            </a:r>
            <a:endParaRPr lang="en-US" altLang="ko-KR" sz="1050" b="1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9681883" y="2215661"/>
            <a:ext cx="995083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BDao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884024" y="2489084"/>
            <a:ext cx="7978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1882" y="2775849"/>
            <a:ext cx="995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+mn-ea"/>
              </a:rPr>
              <a:t>DB</a:t>
            </a:r>
            <a:r>
              <a:rPr lang="ko-KR" altLang="en-US" sz="1050" b="1" dirty="0">
                <a:latin typeface="+mn-ea"/>
              </a:rPr>
              <a:t>작업 </a:t>
            </a:r>
            <a:endParaRPr lang="en-US" altLang="ko-KR" sz="1050" b="1" dirty="0">
              <a:latin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8884024" y="2654931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827059" y="2663896"/>
            <a:ext cx="797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5" idx="2"/>
          </p:cNvCxnSpPr>
          <p:nvPr/>
        </p:nvCxnSpPr>
        <p:spPr>
          <a:xfrm>
            <a:off x="4697506" y="3035090"/>
            <a:ext cx="0" cy="117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3567953" y="4214790"/>
            <a:ext cx="2259106" cy="546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list.jsp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67953" y="4761636"/>
            <a:ext cx="2259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atin typeface="+mn-ea"/>
              </a:rPr>
              <a:t>리스트 화면</a:t>
            </a:r>
            <a:endParaRPr lang="en-US" altLang="ko-KR" sz="1050" b="1" dirty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01134" y="3454978"/>
            <a:ext cx="7597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+mn-ea"/>
              </a:rPr>
              <a:t>list.do</a:t>
            </a:r>
          </a:p>
        </p:txBody>
      </p: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숫자 변환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80897-1794-495A-A3FA-F9C405E3E5D5}"/>
              </a:ext>
            </a:extLst>
          </p:cNvPr>
          <p:cNvSpPr txBox="1"/>
          <p:nvPr/>
        </p:nvSpPr>
        <p:spPr>
          <a:xfrm>
            <a:off x="1163570" y="1571967"/>
            <a:ext cx="7535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n-ea"/>
              </a:rPr>
              <a:t>Jsp</a:t>
            </a:r>
            <a:r>
              <a:rPr lang="ko-KR" altLang="en-US" sz="2000" b="1" dirty="0">
                <a:latin typeface="+mn-ea"/>
              </a:rPr>
              <a:t>페이지에서 </a:t>
            </a:r>
            <a:r>
              <a:rPr lang="en-US" altLang="ko-KR" sz="2000" b="1" dirty="0">
                <a:latin typeface="+mn-ea"/>
              </a:rPr>
              <a:t>String</a:t>
            </a:r>
            <a:r>
              <a:rPr lang="ko-KR" altLang="en-US" sz="2000" b="1" dirty="0">
                <a:latin typeface="+mn-ea"/>
              </a:rPr>
              <a:t>객체에서 </a:t>
            </a:r>
            <a:r>
              <a:rPr lang="en-US" altLang="ko-KR" sz="2000" b="1" dirty="0">
                <a:latin typeface="+mn-ea"/>
              </a:rPr>
              <a:t>int</a:t>
            </a:r>
            <a:r>
              <a:rPr lang="ko-KR" altLang="en-US" sz="2000" b="1" dirty="0">
                <a:latin typeface="+mn-ea"/>
              </a:rPr>
              <a:t>형으로 변환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parseInt</a:t>
            </a:r>
            <a:r>
              <a:rPr lang="en-US" altLang="ko-KR" sz="2000" b="1" dirty="0">
                <a:latin typeface="+mn-ea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1163570" y="2165528"/>
            <a:ext cx="8727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String str = "119";</a:t>
            </a: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i</a:t>
            </a:r>
            <a:r>
              <a:rPr lang="en-US" altLang="ko-KR" sz="1600" dirty="0">
                <a:latin typeface="+mn-ea"/>
              </a:rPr>
              <a:t> = </a:t>
            </a:r>
            <a:r>
              <a:rPr lang="en-US" altLang="ko-KR" sz="1600" dirty="0" err="1">
                <a:latin typeface="+mn-ea"/>
              </a:rPr>
              <a:t>Integer.parseInt</a:t>
            </a:r>
            <a:r>
              <a:rPr lang="en-US" altLang="ko-KR" sz="1600" dirty="0">
                <a:latin typeface="+mn-ea"/>
              </a:rPr>
              <a:t>(str);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B378A-6857-4247-A501-CFFC73F1CE60}"/>
              </a:ext>
            </a:extLst>
          </p:cNvPr>
          <p:cNvSpPr txBox="1"/>
          <p:nvPr/>
        </p:nvSpPr>
        <p:spPr>
          <a:xfrm>
            <a:off x="1163570" y="3337260"/>
            <a:ext cx="9597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n-ea"/>
              </a:rPr>
              <a:t>Jsp</a:t>
            </a:r>
            <a:r>
              <a:rPr lang="ko-KR" altLang="en-US" sz="2000" b="1" dirty="0">
                <a:latin typeface="+mn-ea"/>
              </a:rPr>
              <a:t>페이지에서 </a:t>
            </a:r>
            <a:r>
              <a:rPr lang="en-US" altLang="ko-KR" sz="2000" b="1" dirty="0">
                <a:latin typeface="+mn-ea"/>
              </a:rPr>
              <a:t>Integer</a:t>
            </a:r>
            <a:r>
              <a:rPr lang="ko-KR" altLang="en-US" sz="2000" b="1" dirty="0">
                <a:latin typeface="+mn-ea"/>
              </a:rPr>
              <a:t>객체에서 </a:t>
            </a:r>
            <a:r>
              <a:rPr lang="en-US" altLang="ko-KR" sz="2000" b="1" dirty="0">
                <a:latin typeface="+mn-ea"/>
              </a:rPr>
              <a:t>int</a:t>
            </a:r>
            <a:r>
              <a:rPr lang="ko-KR" altLang="en-US" sz="2000" b="1" dirty="0">
                <a:latin typeface="+mn-ea"/>
              </a:rPr>
              <a:t>형으로 변환 </a:t>
            </a:r>
            <a:r>
              <a:rPr lang="en-US" altLang="ko-KR" sz="2000" b="1" dirty="0">
                <a:latin typeface="+mn-ea"/>
              </a:rPr>
              <a:t>: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intValue</a:t>
            </a:r>
            <a:r>
              <a:rPr lang="en-US" altLang="ko-KR" sz="2000" b="1" dirty="0">
                <a:latin typeface="+mn-ea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F6260E-279D-43A5-ACCC-12D74260307E}"/>
              </a:ext>
            </a:extLst>
          </p:cNvPr>
          <p:cNvSpPr txBox="1"/>
          <p:nvPr/>
        </p:nvSpPr>
        <p:spPr>
          <a:xfrm>
            <a:off x="1163570" y="3938410"/>
            <a:ext cx="8727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Integer </a:t>
            </a:r>
            <a:r>
              <a:rPr lang="en-US" altLang="ko-KR" sz="1600" dirty="0" err="1">
                <a:latin typeface="+mn-ea"/>
              </a:rPr>
              <a:t>i</a:t>
            </a:r>
            <a:r>
              <a:rPr lang="en-US" altLang="ko-KR" sz="1600" dirty="0">
                <a:latin typeface="+mn-ea"/>
              </a:rPr>
              <a:t> = new Integer(150);</a:t>
            </a:r>
          </a:p>
          <a:p>
            <a:r>
              <a:rPr lang="en-US" altLang="ko-KR" sz="1600" dirty="0" err="1">
                <a:latin typeface="+mn-ea"/>
              </a:rPr>
              <a:t>i.intValue</a:t>
            </a:r>
            <a:r>
              <a:rPr lang="en-US" altLang="ko-KR" sz="1600" dirty="0">
                <a:latin typeface="+mn-ea"/>
              </a:rPr>
              <a:t>();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또는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r>
              <a:rPr lang="nn-NO" altLang="ko-KR" sz="1600" dirty="0">
                <a:latin typeface="+mn-ea"/>
              </a:rPr>
              <a:t>int i = Integer.valueOf(str).intValue();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02C125D-6CFE-486A-8D22-B21DFD13BA36}"/>
              </a:ext>
            </a:extLst>
          </p:cNvPr>
          <p:cNvCxnSpPr/>
          <p:nvPr/>
        </p:nvCxnSpPr>
        <p:spPr>
          <a:xfrm>
            <a:off x="1073791" y="2986481"/>
            <a:ext cx="9597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93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18-1.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>
                <a:latin typeface="+mn-ea"/>
              </a:rPr>
              <a:t>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JAVA </a:t>
            </a:r>
            <a:r>
              <a:rPr lang="ko-KR" altLang="en-US" sz="1100" dirty="0">
                <a:latin typeface="+mn-ea"/>
              </a:rPr>
              <a:t>프로그램에서 </a:t>
            </a:r>
            <a:r>
              <a:rPr lang="en-US" altLang="ko-KR" sz="1100" dirty="0">
                <a:latin typeface="+mn-ea"/>
              </a:rPr>
              <a:t>SQL</a:t>
            </a:r>
            <a:r>
              <a:rPr lang="ko-KR" altLang="en-US" sz="1100" dirty="0">
                <a:latin typeface="+mn-ea"/>
              </a:rPr>
              <a:t>문을 실행하여 데이터를 관리하기 위한</a:t>
            </a:r>
            <a:r>
              <a:rPr lang="en-US" altLang="ko-KR" sz="1100" dirty="0">
                <a:latin typeface="+mn-ea"/>
              </a:rPr>
              <a:t> JAVA API</a:t>
            </a:r>
            <a:r>
              <a:rPr lang="ko-KR" altLang="en-US" sz="1100" dirty="0">
                <a:latin typeface="+mn-ea"/>
              </a:rPr>
              <a:t>입니다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JDBC</a:t>
            </a:r>
            <a:r>
              <a:rPr lang="ko-KR" altLang="en-US" sz="1100" dirty="0">
                <a:latin typeface="+mn-ea"/>
              </a:rPr>
              <a:t>의 특징은 다양한 데이터 베이스에 대해서 별도의 프로그램을 만들 필요 없이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해당 데이터 베이스의 </a:t>
            </a:r>
            <a:r>
              <a:rPr lang="en-US" altLang="ko-KR" sz="1100" dirty="0">
                <a:latin typeface="+mn-ea"/>
              </a:rPr>
              <a:t>JDBC</a:t>
            </a:r>
            <a:r>
              <a:rPr lang="ko-KR" altLang="en-US" sz="1100" dirty="0">
                <a:latin typeface="+mn-ea"/>
              </a:rPr>
              <a:t>를 이용하면 하나의 프로그램으로 데이터 베이스를 관리할 수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ko-KR" altLang="en-US" sz="1100" dirty="0">
                <a:latin typeface="+mn-ea"/>
              </a:rPr>
              <a:t>우리는 </a:t>
            </a:r>
            <a:r>
              <a:rPr lang="en-US" altLang="ko-KR" sz="1100" dirty="0">
                <a:latin typeface="+mn-ea"/>
              </a:rPr>
              <a:t>Oracle</a:t>
            </a:r>
            <a:r>
              <a:rPr lang="ko-KR" altLang="en-US" sz="1100" dirty="0">
                <a:latin typeface="+mn-ea"/>
              </a:rPr>
              <a:t>을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사용하므로</a:t>
            </a:r>
            <a:r>
              <a:rPr lang="en-US" altLang="ko-KR" sz="1100" dirty="0">
                <a:latin typeface="+mn-ea"/>
              </a:rPr>
              <a:t>, Oracle</a:t>
            </a:r>
            <a:r>
              <a:rPr lang="ko-KR" altLang="en-US" sz="1100" dirty="0">
                <a:latin typeface="+mn-ea"/>
              </a:rPr>
              <a:t>용 </a:t>
            </a:r>
            <a:r>
              <a:rPr lang="en-US" altLang="ko-KR" sz="1100" dirty="0">
                <a:latin typeface="+mn-ea"/>
              </a:rPr>
              <a:t>JDBC</a:t>
            </a:r>
            <a:r>
              <a:rPr lang="ko-KR" altLang="en-US" sz="1100" dirty="0">
                <a:latin typeface="+mn-ea"/>
              </a:rPr>
              <a:t>를 사용하며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이것은 </a:t>
            </a:r>
            <a:r>
              <a:rPr lang="ko-KR" altLang="en-US" sz="1100" dirty="0" err="1">
                <a:latin typeface="+mn-ea"/>
              </a:rPr>
              <a:t>오라클을</a:t>
            </a:r>
            <a:r>
              <a:rPr lang="ko-KR" altLang="en-US" sz="1100" dirty="0">
                <a:latin typeface="+mn-ea"/>
              </a:rPr>
              <a:t> 설치하면 자동으로 설치 되고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 err="1">
                <a:latin typeface="+mn-ea"/>
              </a:rPr>
              <a:t>이클립스에서</a:t>
            </a:r>
            <a:r>
              <a:rPr lang="ko-KR" altLang="en-US" sz="1100" dirty="0">
                <a:latin typeface="+mn-ea"/>
              </a:rPr>
              <a:t> 해당 클래스 파일을 복사하면 됩니다</a:t>
            </a:r>
            <a:r>
              <a:rPr lang="en-US" altLang="ko-KR" sz="1100" dirty="0">
                <a:latin typeface="+mn-ea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892164" y="2353928"/>
            <a:ext cx="979376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2164" y="2092318"/>
            <a:ext cx="979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오라클</a:t>
            </a:r>
            <a:r>
              <a:rPr lang="ko-KR" altLang="en-US" sz="1100" dirty="0">
                <a:latin typeface="+mn-ea"/>
              </a:rPr>
              <a:t> 드라이버를 사용하기 위한 </a:t>
            </a:r>
            <a:r>
              <a:rPr lang="en-US" altLang="ko-KR" sz="1100" dirty="0">
                <a:latin typeface="+mn-ea"/>
              </a:rPr>
              <a:t>ojdbc6_g.jar </a:t>
            </a:r>
            <a:r>
              <a:rPr lang="ko-KR" altLang="en-US" sz="1100" dirty="0">
                <a:latin typeface="+mn-ea"/>
              </a:rPr>
              <a:t>파일 복사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03" y="2646141"/>
            <a:ext cx="5460236" cy="2046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2164" y="2384531"/>
            <a:ext cx="979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이클립스</a:t>
            </a:r>
            <a:r>
              <a:rPr lang="ko-KR" altLang="en-US" sz="1100" dirty="0">
                <a:latin typeface="+mn-ea"/>
              </a:rPr>
              <a:t> 설정되어 있는 </a:t>
            </a:r>
            <a:r>
              <a:rPr lang="en-US" altLang="ko-KR" sz="1100" dirty="0">
                <a:latin typeface="+mn-ea"/>
              </a:rPr>
              <a:t>JAVA</a:t>
            </a:r>
            <a:r>
              <a:rPr lang="ko-KR" altLang="en-US" sz="1100" dirty="0">
                <a:latin typeface="+mn-ea"/>
              </a:rPr>
              <a:t>클래스 패스 </a:t>
            </a:r>
            <a:r>
              <a:rPr lang="en-US" altLang="ko-KR" sz="1100" dirty="0">
                <a:latin typeface="+mn-ea"/>
              </a:rPr>
              <a:t>: C:\Program Files\Java\jre1.8.0_25\lib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627566"/>
            <a:ext cx="3409950" cy="1238250"/>
          </a:xfrm>
          <a:prstGeom prst="rect">
            <a:avLst/>
          </a:prstGeom>
        </p:spPr>
      </p:pic>
      <p:cxnSp>
        <p:nvCxnSpPr>
          <p:cNvPr id="16" name="직선 화살표 연결선 15"/>
          <p:cNvCxnSpPr>
            <a:stCxn id="11" idx="3"/>
          </p:cNvCxnSpPr>
          <p:nvPr/>
        </p:nvCxnSpPr>
        <p:spPr>
          <a:xfrm flipV="1">
            <a:off x="6419739" y="2879231"/>
            <a:ext cx="492049" cy="79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2164" y="5113205"/>
            <a:ext cx="6584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오라클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>
                <a:latin typeface="+mn-ea"/>
              </a:rPr>
              <a:t>JDBC </a:t>
            </a:r>
            <a:r>
              <a:rPr lang="ko-KR" altLang="en-US" sz="1100" dirty="0">
                <a:latin typeface="+mn-ea"/>
              </a:rPr>
              <a:t>클래스 패스 </a:t>
            </a:r>
            <a:r>
              <a:rPr lang="en-US" altLang="ko-KR" sz="1100" dirty="0">
                <a:latin typeface="+mn-ea"/>
              </a:rPr>
              <a:t>: C:\oraclexe\app\oracle\product\11.2.0\server\jdbc\lib\ojdbc6_g.jar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03" y="5374815"/>
            <a:ext cx="3454977" cy="116897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242" y="5374815"/>
            <a:ext cx="2924175" cy="771525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 flipV="1">
            <a:off x="3146612" y="5760577"/>
            <a:ext cx="4930588" cy="59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37234" y="6094740"/>
            <a:ext cx="1653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ojdbc6_g.jar </a:t>
            </a:r>
            <a:r>
              <a:rPr lang="ko-KR" altLang="en-US" sz="1100" dirty="0">
                <a:latin typeface="+mn-ea"/>
              </a:rPr>
              <a:t>파일 복사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0174941" y="5374815"/>
            <a:ext cx="367553" cy="3857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27-3.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DataBase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생성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685" y="1662011"/>
            <a:ext cx="4937829" cy="206100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187" y="1686932"/>
            <a:ext cx="2324100" cy="3143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8" y="1649320"/>
            <a:ext cx="2314575" cy="20669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90" y="4655081"/>
            <a:ext cx="5604794" cy="488058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756138" y="4574933"/>
            <a:ext cx="928760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6139" y="4310908"/>
            <a:ext cx="9287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테스트를 위한 </a:t>
            </a:r>
            <a:r>
              <a:rPr lang="en-US" altLang="ko-KR" sz="1100" dirty="0">
                <a:latin typeface="+mn-ea"/>
              </a:rPr>
              <a:t>Dummy Data</a:t>
            </a:r>
            <a:r>
              <a:rPr lang="ko-KR" altLang="en-US" sz="1100" dirty="0">
                <a:latin typeface="+mn-ea"/>
              </a:rPr>
              <a:t> 입력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026" name="Picture 2" descr="[워드프레스] KBoard 게시판 디자인 커스터마이징하기 | 쇼타임의 Paper Block">
            <a:extLst>
              <a:ext uri="{FF2B5EF4-FFF2-40B4-BE49-F238E27FC236}">
                <a16:creationId xmlns:a16="http://schemas.microsoft.com/office/drawing/2014/main" id="{8FF02167-EEC0-4059-AADE-3520C9CB7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260" y="3878019"/>
            <a:ext cx="4455254" cy="284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B66B3F-2F9A-46FF-9D78-B57AF3D79227}"/>
              </a:ext>
            </a:extLst>
          </p:cNvPr>
          <p:cNvSpPr/>
          <p:nvPr/>
        </p:nvSpPr>
        <p:spPr>
          <a:xfrm>
            <a:off x="7212434" y="5140092"/>
            <a:ext cx="2015456" cy="2288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0FCF8FF-E3E1-4734-B34C-FDC80B8475F2}"/>
              </a:ext>
            </a:extLst>
          </p:cNvPr>
          <p:cNvCxnSpPr>
            <a:cxnSpLocks/>
          </p:cNvCxnSpPr>
          <p:nvPr/>
        </p:nvCxnSpPr>
        <p:spPr>
          <a:xfrm rot="10800000">
            <a:off x="2130804" y="3408410"/>
            <a:ext cx="5081630" cy="1859876"/>
          </a:xfrm>
          <a:prstGeom prst="bentConnector3">
            <a:avLst>
              <a:gd name="adj1" fmla="val 1879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10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하단 </a:t>
            </a:r>
            <a:r>
              <a:rPr lang="ko-KR" altLang="en-US" sz="1100" dirty="0" err="1">
                <a:latin typeface="+mn-ea"/>
              </a:rPr>
              <a:t>번호넣기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ABCDD9-3F43-4F1E-9FEA-CBE303EA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08" y="1456539"/>
            <a:ext cx="4848225" cy="29718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C06A9A-383A-46DB-92A0-BCA66C59FF14}"/>
              </a:ext>
            </a:extLst>
          </p:cNvPr>
          <p:cNvSpPr/>
          <p:nvPr/>
        </p:nvSpPr>
        <p:spPr>
          <a:xfrm>
            <a:off x="1644242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23E69-38D3-4462-B88D-8C44CB895736}"/>
              </a:ext>
            </a:extLst>
          </p:cNvPr>
          <p:cNvSpPr txBox="1"/>
          <p:nvPr/>
        </p:nvSpPr>
        <p:spPr>
          <a:xfrm>
            <a:off x="1163570" y="4685571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하단 </a:t>
            </a:r>
            <a:r>
              <a:rPr lang="ko-KR" altLang="en-US" sz="2000" dirty="0" err="1">
                <a:latin typeface="+mn-ea"/>
              </a:rPr>
              <a:t>번호넣기에</a:t>
            </a:r>
            <a:r>
              <a:rPr lang="ko-KR" altLang="en-US" sz="2000" dirty="0">
                <a:latin typeface="+mn-ea"/>
              </a:rPr>
              <a:t> 필요한 변수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3BCA9-1B26-4242-9D8F-E71D2703F896}"/>
              </a:ext>
            </a:extLst>
          </p:cNvPr>
          <p:cNvSpPr txBox="1"/>
          <p:nvPr/>
        </p:nvSpPr>
        <p:spPr>
          <a:xfrm>
            <a:off x="1163570" y="5081249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1. </a:t>
            </a:r>
            <a:r>
              <a:rPr lang="ko-KR" altLang="en-US" sz="1600" dirty="0">
                <a:latin typeface="+mn-ea"/>
              </a:rPr>
              <a:t>총 게시글 수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listcount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4EE35E8-8AF5-4EDE-A7D3-2D97C352C88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 rot="5400000">
            <a:off x="916945" y="4713976"/>
            <a:ext cx="1129120" cy="635869"/>
          </a:xfrm>
          <a:prstGeom prst="bentConnector4">
            <a:avLst>
              <a:gd name="adj1" fmla="val 16500"/>
              <a:gd name="adj2" fmla="val 142547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1E1F1E-B35D-4FD6-8725-A4B3B34D35D5}"/>
              </a:ext>
            </a:extLst>
          </p:cNvPr>
          <p:cNvSpPr txBox="1"/>
          <p:nvPr/>
        </p:nvSpPr>
        <p:spPr>
          <a:xfrm>
            <a:off x="1163570" y="5427193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2. </a:t>
            </a:r>
            <a:r>
              <a:rPr lang="ko-KR" altLang="en-US" sz="1600" dirty="0">
                <a:latin typeface="+mn-ea"/>
              </a:rPr>
              <a:t>현재 하단페이지 </a:t>
            </a:r>
            <a:r>
              <a:rPr lang="en-US" altLang="ko-KR" sz="1600" dirty="0">
                <a:latin typeface="+mn-ea"/>
              </a:rPr>
              <a:t>( page 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510943-BDA2-4700-A317-837228C8F357}"/>
              </a:ext>
            </a:extLst>
          </p:cNvPr>
          <p:cNvSpPr txBox="1"/>
          <p:nvPr/>
        </p:nvSpPr>
        <p:spPr>
          <a:xfrm>
            <a:off x="1163570" y="5773137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3. </a:t>
            </a:r>
            <a:r>
              <a:rPr lang="ko-KR" altLang="en-US" sz="1600" dirty="0">
                <a:latin typeface="+mn-ea"/>
              </a:rPr>
              <a:t>최대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ABFFF-966D-4579-A0E1-17EF3435B7FD}"/>
              </a:ext>
            </a:extLst>
          </p:cNvPr>
          <p:cNvSpPr txBox="1"/>
          <p:nvPr/>
        </p:nvSpPr>
        <p:spPr>
          <a:xfrm>
            <a:off x="1163570" y="6119081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4. </a:t>
            </a:r>
            <a:r>
              <a:rPr lang="ko-KR" altLang="en-US" sz="1600" dirty="0">
                <a:latin typeface="+mn-ea"/>
              </a:rPr>
              <a:t>처음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startpage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F5F5E5-7998-461E-9C2B-F549D9B0C668}"/>
              </a:ext>
            </a:extLst>
          </p:cNvPr>
          <p:cNvSpPr txBox="1"/>
          <p:nvPr/>
        </p:nvSpPr>
        <p:spPr>
          <a:xfrm>
            <a:off x="1163570" y="6465025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5. </a:t>
            </a:r>
            <a:r>
              <a:rPr lang="ko-KR" altLang="en-US" sz="1600" dirty="0">
                <a:latin typeface="+mn-ea"/>
              </a:rPr>
              <a:t>마지막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D40CCE-D89A-460C-9B10-863B5C98C111}"/>
              </a:ext>
            </a:extLst>
          </p:cNvPr>
          <p:cNvSpPr/>
          <p:nvPr/>
        </p:nvSpPr>
        <p:spPr>
          <a:xfrm>
            <a:off x="760908" y="4029649"/>
            <a:ext cx="556164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6F68A4-9AFF-49FB-AB3A-F9AA1A5F9E96}"/>
              </a:ext>
            </a:extLst>
          </p:cNvPr>
          <p:cNvSpPr/>
          <p:nvPr/>
        </p:nvSpPr>
        <p:spPr>
          <a:xfrm>
            <a:off x="2244047" y="4029649"/>
            <a:ext cx="556164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AE5C05-F780-4ECE-A2E8-D3ABC8D19C20}"/>
              </a:ext>
            </a:extLst>
          </p:cNvPr>
          <p:cNvSpPr/>
          <p:nvPr/>
        </p:nvSpPr>
        <p:spPr>
          <a:xfrm>
            <a:off x="1325460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BA08E6-0F02-4037-8FE6-6BE0677D81C4}"/>
              </a:ext>
            </a:extLst>
          </p:cNvPr>
          <p:cNvSpPr/>
          <p:nvPr/>
        </p:nvSpPr>
        <p:spPr>
          <a:xfrm>
            <a:off x="1944148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09EE06B1-FEC7-495D-8A8E-7CF9B8B2A444}"/>
              </a:ext>
            </a:extLst>
          </p:cNvPr>
          <p:cNvCxnSpPr>
            <a:cxnSpLocks/>
            <a:stCxn id="31" idx="2"/>
            <a:endCxn id="25" idx="1"/>
          </p:cNvCxnSpPr>
          <p:nvPr/>
        </p:nvCxnSpPr>
        <p:spPr>
          <a:xfrm rot="5400000">
            <a:off x="411610" y="5219311"/>
            <a:ext cx="1821008" cy="317087"/>
          </a:xfrm>
          <a:prstGeom prst="bentConnector4">
            <a:avLst>
              <a:gd name="adj1" fmla="val 10142"/>
              <a:gd name="adj2" fmla="val 254108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0E9F44B8-4B0F-48F9-A669-7CA62E614947}"/>
              </a:ext>
            </a:extLst>
          </p:cNvPr>
          <p:cNvCxnSpPr>
            <a:cxnSpLocks/>
            <a:endCxn id="26" idx="1"/>
          </p:cNvCxnSpPr>
          <p:nvPr/>
        </p:nvCxnSpPr>
        <p:spPr>
          <a:xfrm rot="5400000">
            <a:off x="542736" y="5088186"/>
            <a:ext cx="2166950" cy="925282"/>
          </a:xfrm>
          <a:prstGeom prst="bentConnector4">
            <a:avLst>
              <a:gd name="adj1" fmla="val 8585"/>
              <a:gd name="adj2" fmla="val 18817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D39B79A-5D35-40A2-B589-7309A6A2F400}"/>
              </a:ext>
            </a:extLst>
          </p:cNvPr>
          <p:cNvSpPr txBox="1"/>
          <p:nvPr/>
        </p:nvSpPr>
        <p:spPr>
          <a:xfrm>
            <a:off x="6646178" y="6288358"/>
            <a:ext cx="42930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https://m.blog.naver.com/PostView.nhn?blogId=hong_1719&amp;logNo=70096843397&amp;proxyReferer=https:%2F%2Fwww.google.com%2F</a:t>
            </a:r>
          </a:p>
        </p:txBody>
      </p:sp>
    </p:spTree>
    <p:extLst>
      <p:ext uri="{BB962C8B-B14F-4D97-AF65-F5344CB8AC3E}">
        <p14:creationId xmlns:p14="http://schemas.microsoft.com/office/powerpoint/2010/main" val="15794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페이지 수치계산</a:t>
            </a:r>
            <a:endParaRPr lang="en-US" altLang="ko-KR" sz="11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836399" y="1494211"/>
            <a:ext cx="8727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 BListCommand.java 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page = 1;  //</a:t>
            </a:r>
            <a:r>
              <a:rPr lang="ko-KR" altLang="en-US" sz="1600" dirty="0">
                <a:latin typeface="+mn-ea"/>
              </a:rPr>
              <a:t>현재페이지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limit = 10;  // </a:t>
            </a:r>
            <a:r>
              <a:rPr lang="ko-KR" altLang="en-US" sz="1600" dirty="0">
                <a:latin typeface="+mn-ea"/>
              </a:rPr>
              <a:t>게시글 </a:t>
            </a:r>
            <a:r>
              <a:rPr lang="en-US" altLang="ko-KR" sz="1600" dirty="0">
                <a:latin typeface="+mn-ea"/>
              </a:rPr>
              <a:t>5</a:t>
            </a:r>
            <a:r>
              <a:rPr lang="ko-KR" altLang="en-US" sz="1600" dirty="0">
                <a:latin typeface="+mn-ea"/>
              </a:rPr>
              <a:t>개 </a:t>
            </a:r>
            <a:r>
              <a:rPr lang="en-US" altLang="ko-KR" sz="1600" dirty="0">
                <a:latin typeface="+mn-ea"/>
              </a:rPr>
              <a:t>/ 10</a:t>
            </a:r>
            <a:r>
              <a:rPr lang="ko-KR" altLang="en-US" sz="1600" dirty="0">
                <a:latin typeface="+mn-ea"/>
              </a:rPr>
              <a:t>개  </a:t>
            </a:r>
            <a:r>
              <a:rPr lang="en-US" altLang="ko-KR" sz="1600" dirty="0">
                <a:latin typeface="+mn-ea"/>
              </a:rPr>
              <a:t>/ 20</a:t>
            </a:r>
            <a:r>
              <a:rPr lang="ko-KR" altLang="en-US" sz="1600" dirty="0">
                <a:latin typeface="+mn-ea"/>
              </a:rPr>
              <a:t>개</a:t>
            </a:r>
            <a:r>
              <a:rPr lang="en-US" altLang="ko-KR" sz="1600" dirty="0">
                <a:latin typeface="+mn-ea"/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F784D-D701-4FDC-B0E0-968CA4A2013F}"/>
              </a:ext>
            </a:extLst>
          </p:cNvPr>
          <p:cNvSpPr txBox="1"/>
          <p:nvPr/>
        </p:nvSpPr>
        <p:spPr>
          <a:xfrm>
            <a:off x="836399" y="2753626"/>
            <a:ext cx="87270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=(int)((double)</a:t>
            </a:r>
            <a:r>
              <a:rPr lang="en-US" altLang="ko-KR" sz="1600" dirty="0" err="1">
                <a:latin typeface="+mn-ea"/>
              </a:rPr>
              <a:t>listcount</a:t>
            </a:r>
            <a:r>
              <a:rPr lang="en-US" altLang="ko-KR" sz="1600" dirty="0">
                <a:latin typeface="+mn-ea"/>
              </a:rPr>
              <a:t>/limit+0.95); 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최대 페이지수</a:t>
            </a:r>
          </a:p>
          <a:p>
            <a:r>
              <a:rPr lang="en-US" altLang="ko-KR" sz="1600" dirty="0">
                <a:latin typeface="+mn-ea"/>
              </a:rPr>
              <a:t>// 1/10+0.95 = 0.1 + 0.95=1.05, 121/10+0.95 = 12.1+0.95 = 13.85 </a:t>
            </a:r>
          </a:p>
          <a:p>
            <a:r>
              <a:rPr lang="en-US" altLang="ko-KR" sz="1600" dirty="0">
                <a:latin typeface="+mn-ea"/>
              </a:rPr>
              <a:t>   </a:t>
            </a: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startpage</a:t>
            </a:r>
            <a:r>
              <a:rPr lang="en-US" altLang="ko-KR" sz="1600" dirty="0">
                <a:latin typeface="+mn-ea"/>
              </a:rPr>
              <a:t> = (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– limit) + 1		      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= (int)( </a:t>
            </a:r>
            <a:r>
              <a:rPr lang="en-US" altLang="ko-KR" sz="1600" dirty="0" err="1">
                <a:latin typeface="+mn-ea"/>
              </a:rPr>
              <a:t>Math.ceil</a:t>
            </a:r>
            <a:r>
              <a:rPr lang="en-US" altLang="ko-KR" sz="1600" dirty="0">
                <a:latin typeface="+mn-ea"/>
              </a:rPr>
              <a:t>(page/(double)limit ) * limit )</a:t>
            </a:r>
          </a:p>
          <a:p>
            <a:endParaRPr lang="ko-KR" altLang="en-US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if (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&gt;startpage+10-1)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=startpage+10-1;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11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(11&gt;1)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23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(13&gt;1)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 </a:t>
            </a:r>
            <a:r>
              <a:rPr lang="en-US" altLang="ko-KR" sz="1600" dirty="0">
                <a:latin typeface="+mn-ea"/>
              </a:rPr>
              <a:t>, 20 = 11+10-1</a:t>
            </a:r>
          </a:p>
        </p:txBody>
      </p:sp>
      <p:pic>
        <p:nvPicPr>
          <p:cNvPr id="1026" name="Picture 2" descr="창원시 홈페이지 자유게시판은 광고게시판? :: 경남신문">
            <a:extLst>
              <a:ext uri="{FF2B5EF4-FFF2-40B4-BE49-F238E27FC236}">
                <a16:creationId xmlns:a16="http://schemas.microsoft.com/office/drawing/2014/main" id="{49C3DEA5-766A-42FC-A235-DC319424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406" y="1247711"/>
            <a:ext cx="3988222" cy="232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0E75E24-A732-416C-88BD-5DAFE8EFD14E}"/>
              </a:ext>
            </a:extLst>
          </p:cNvPr>
          <p:cNvSpPr/>
          <p:nvPr/>
        </p:nvSpPr>
        <p:spPr>
          <a:xfrm>
            <a:off x="9127222" y="3296873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7550A2-4BCE-4B77-AC28-3F30F85EB4DD}"/>
              </a:ext>
            </a:extLst>
          </p:cNvPr>
          <p:cNvSpPr/>
          <p:nvPr/>
        </p:nvSpPr>
        <p:spPr>
          <a:xfrm>
            <a:off x="10388901" y="3292699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7E1C7D-8583-4854-BD58-5F4DBA32A345}"/>
              </a:ext>
            </a:extLst>
          </p:cNvPr>
          <p:cNvSpPr/>
          <p:nvPr/>
        </p:nvSpPr>
        <p:spPr>
          <a:xfrm>
            <a:off x="7880599" y="1196187"/>
            <a:ext cx="491614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05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페이지 수치계산</a:t>
            </a:r>
            <a:endParaRPr lang="en-US" altLang="ko-KR" sz="11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836399" y="1494211"/>
            <a:ext cx="8727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 BListCommand.java 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page = 1;  //</a:t>
            </a:r>
            <a:r>
              <a:rPr lang="ko-KR" altLang="en-US" sz="1600" dirty="0">
                <a:latin typeface="+mn-ea"/>
              </a:rPr>
              <a:t>현재페이지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limit = 10;  // </a:t>
            </a:r>
            <a:r>
              <a:rPr lang="ko-KR" altLang="en-US" sz="1600" dirty="0">
                <a:latin typeface="+mn-ea"/>
              </a:rPr>
              <a:t>게시글 </a:t>
            </a:r>
            <a:r>
              <a:rPr lang="en-US" altLang="ko-KR" sz="1600" dirty="0">
                <a:latin typeface="+mn-ea"/>
              </a:rPr>
              <a:t>5</a:t>
            </a:r>
            <a:r>
              <a:rPr lang="ko-KR" altLang="en-US" sz="1600" dirty="0">
                <a:latin typeface="+mn-ea"/>
              </a:rPr>
              <a:t>개 </a:t>
            </a:r>
            <a:r>
              <a:rPr lang="en-US" altLang="ko-KR" sz="1600" dirty="0">
                <a:latin typeface="+mn-ea"/>
              </a:rPr>
              <a:t>/ 10</a:t>
            </a:r>
            <a:r>
              <a:rPr lang="ko-KR" altLang="en-US" sz="1600" dirty="0">
                <a:latin typeface="+mn-ea"/>
              </a:rPr>
              <a:t>개  </a:t>
            </a:r>
            <a:r>
              <a:rPr lang="en-US" altLang="ko-KR" sz="1600" dirty="0">
                <a:latin typeface="+mn-ea"/>
              </a:rPr>
              <a:t>/ 20</a:t>
            </a:r>
            <a:r>
              <a:rPr lang="ko-KR" altLang="en-US" sz="1600" dirty="0">
                <a:latin typeface="+mn-ea"/>
              </a:rPr>
              <a:t>개</a:t>
            </a:r>
            <a:r>
              <a:rPr lang="en-US" altLang="ko-KR" sz="1600" dirty="0">
                <a:latin typeface="+mn-ea"/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F784D-D701-4FDC-B0E0-968CA4A2013F}"/>
              </a:ext>
            </a:extLst>
          </p:cNvPr>
          <p:cNvSpPr txBox="1"/>
          <p:nvPr/>
        </p:nvSpPr>
        <p:spPr>
          <a:xfrm>
            <a:off x="836399" y="2753626"/>
            <a:ext cx="87270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=(int)((double)</a:t>
            </a:r>
            <a:r>
              <a:rPr lang="en-US" altLang="ko-KR" sz="1600" dirty="0" err="1">
                <a:latin typeface="+mn-ea"/>
              </a:rPr>
              <a:t>listcount</a:t>
            </a:r>
            <a:r>
              <a:rPr lang="en-US" altLang="ko-KR" sz="1600" dirty="0">
                <a:latin typeface="+mn-ea"/>
              </a:rPr>
              <a:t>/limit+0.95); 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최대 페이지수</a:t>
            </a:r>
          </a:p>
          <a:p>
            <a:r>
              <a:rPr lang="en-US" altLang="ko-KR" sz="1600" dirty="0">
                <a:latin typeface="+mn-ea"/>
              </a:rPr>
              <a:t>// 1/10+0.95 = 0.1 + 0.95=1.05, 121/10+0.95 = 12.1+0.95 = 13.85 </a:t>
            </a:r>
          </a:p>
          <a:p>
            <a:r>
              <a:rPr lang="en-US" altLang="ko-KR" sz="1600" dirty="0">
                <a:latin typeface="+mn-ea"/>
              </a:rPr>
              <a:t>   </a:t>
            </a: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startpage</a:t>
            </a:r>
            <a:r>
              <a:rPr lang="en-US" altLang="ko-KR" sz="1600" dirty="0">
                <a:latin typeface="+mn-ea"/>
              </a:rPr>
              <a:t> = (((int) ((double)page / 10 + 0.9)) - 1) * 10 + 1;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처음페이지</a:t>
            </a:r>
            <a:r>
              <a:rPr lang="en-US" altLang="ko-KR" sz="1600" dirty="0">
                <a:latin typeface="+mn-ea"/>
              </a:rPr>
              <a:t>(1, 11, 21 ...) 10</a:t>
            </a:r>
            <a:r>
              <a:rPr lang="ko-KR" altLang="en-US" sz="1600" dirty="0">
                <a:latin typeface="+mn-ea"/>
              </a:rPr>
              <a:t>개 단위로 </a:t>
            </a:r>
            <a:r>
              <a:rPr lang="en-US" altLang="ko-KR" sz="1600" dirty="0">
                <a:latin typeface="+mn-ea"/>
              </a:rPr>
              <a:t>11,12,13 ...20</a:t>
            </a:r>
          </a:p>
          <a:p>
            <a:r>
              <a:rPr lang="en-US" altLang="ko-KR" sz="1600" dirty="0">
                <a:latin typeface="+mn-ea"/>
              </a:rPr>
              <a:t>// 3/10 + 0.9=1.2  (1-1)*10+1 -&gt; 1   12/10+0.9=2.1 (2-1)*10+1 -&gt; 11 		      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=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; 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마지막페이지</a:t>
            </a:r>
            <a:r>
              <a:rPr lang="en-US" altLang="ko-KR" sz="1600" dirty="0">
                <a:latin typeface="+mn-ea"/>
              </a:rPr>
              <a:t>(10, 20, 30 ...)</a:t>
            </a:r>
          </a:p>
          <a:p>
            <a:r>
              <a:rPr lang="en-US" altLang="ko-KR" sz="1600" dirty="0">
                <a:latin typeface="+mn-ea"/>
              </a:rPr>
              <a:t>// </a:t>
            </a:r>
            <a:r>
              <a:rPr lang="ko-KR" altLang="en-US" sz="1600" dirty="0">
                <a:latin typeface="+mn-ea"/>
              </a:rPr>
              <a:t>최대 </a:t>
            </a:r>
            <a:r>
              <a:rPr lang="en-US" altLang="ko-KR" sz="1600" dirty="0">
                <a:latin typeface="+mn-ea"/>
              </a:rPr>
              <a:t>1~10</a:t>
            </a:r>
            <a:r>
              <a:rPr lang="ko-KR" altLang="en-US" sz="1600" dirty="0">
                <a:latin typeface="+mn-ea"/>
              </a:rPr>
              <a:t>페이지까지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ko-KR" altLang="en-US" sz="1600" dirty="0">
                <a:latin typeface="+mn-ea"/>
              </a:rPr>
              <a:t>로 변경 </a:t>
            </a:r>
            <a:endParaRPr lang="en-US" altLang="ko-KR" sz="1600" dirty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if (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&gt;startpage+10-1)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=startpage+10-1;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11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(11&gt;1)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23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(13&gt;1)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 </a:t>
            </a:r>
            <a:r>
              <a:rPr lang="en-US" altLang="ko-KR" sz="1600" dirty="0">
                <a:latin typeface="+mn-ea"/>
              </a:rPr>
              <a:t>, 20 = 11+10-1</a:t>
            </a:r>
          </a:p>
        </p:txBody>
      </p:sp>
      <p:pic>
        <p:nvPicPr>
          <p:cNvPr id="1026" name="Picture 2" descr="창원시 홈페이지 자유게시판은 광고게시판? :: 경남신문">
            <a:extLst>
              <a:ext uri="{FF2B5EF4-FFF2-40B4-BE49-F238E27FC236}">
                <a16:creationId xmlns:a16="http://schemas.microsoft.com/office/drawing/2014/main" id="{49C3DEA5-766A-42FC-A235-DC319424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406" y="1247711"/>
            <a:ext cx="3988222" cy="232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0E75E24-A732-416C-88BD-5DAFE8EFD14E}"/>
              </a:ext>
            </a:extLst>
          </p:cNvPr>
          <p:cNvSpPr/>
          <p:nvPr/>
        </p:nvSpPr>
        <p:spPr>
          <a:xfrm>
            <a:off x="9127222" y="3296873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6351B88-26AC-465A-9E5B-AA45A79E9387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6887368" y="3453440"/>
            <a:ext cx="2239855" cy="436568"/>
          </a:xfrm>
          <a:prstGeom prst="bentConnector3">
            <a:avLst>
              <a:gd name="adj1" fmla="val 2153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7550A2-4BCE-4B77-AC28-3F30F85EB4DD}"/>
              </a:ext>
            </a:extLst>
          </p:cNvPr>
          <p:cNvSpPr/>
          <p:nvPr/>
        </p:nvSpPr>
        <p:spPr>
          <a:xfrm>
            <a:off x="10388901" y="3292699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F8E8C5B6-C44F-4859-A27C-8AA6E6635F82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6419563" y="785149"/>
            <a:ext cx="1312240" cy="695360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7E1C7D-8583-4854-BD58-5F4DBA32A345}"/>
              </a:ext>
            </a:extLst>
          </p:cNvPr>
          <p:cNvSpPr/>
          <p:nvPr/>
        </p:nvSpPr>
        <p:spPr>
          <a:xfrm>
            <a:off x="7880599" y="1196187"/>
            <a:ext cx="491614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C27CCBDA-879A-4C50-AA26-1602908038A2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5452845" y="1326992"/>
            <a:ext cx="2427755" cy="163819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13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Bdao.java - </a:t>
            </a:r>
            <a:r>
              <a:rPr lang="en-US" altLang="ko-KR" sz="1100" dirty="0" err="1">
                <a:latin typeface="+mn-ea"/>
              </a:rPr>
              <a:t>sql</a:t>
            </a:r>
            <a:r>
              <a:rPr lang="ko-KR" altLang="en-US" sz="1100" dirty="0">
                <a:latin typeface="+mn-ea"/>
              </a:rPr>
              <a:t>구문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9E684-6B87-46F6-AA39-E25EED691B9C}"/>
              </a:ext>
            </a:extLst>
          </p:cNvPr>
          <p:cNvSpPr txBox="1"/>
          <p:nvPr/>
        </p:nvSpPr>
        <p:spPr>
          <a:xfrm>
            <a:off x="677008" y="2986928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 </a:t>
            </a:r>
            <a:r>
              <a:rPr lang="en-US" altLang="ko-KR" b="1" dirty="0" err="1">
                <a:latin typeface="+mn-ea"/>
              </a:rPr>
              <a:t>rownum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사용 </a:t>
            </a:r>
            <a:r>
              <a:rPr lang="en-US" altLang="ko-KR" b="1" dirty="0">
                <a:latin typeface="+mn-ea"/>
              </a:rPr>
              <a:t>]</a:t>
            </a:r>
          </a:p>
          <a:p>
            <a:r>
              <a:rPr lang="en-US" altLang="ko-KR" dirty="0">
                <a:latin typeface="+mn-ea"/>
              </a:rPr>
              <a:t>select * from </a:t>
            </a:r>
          </a:p>
          <a:p>
            <a:r>
              <a:rPr lang="en-US" altLang="ko-KR" dirty="0">
                <a:latin typeface="+mn-ea"/>
              </a:rPr>
              <a:t>(select </a:t>
            </a:r>
            <a:r>
              <a:rPr lang="en-US" altLang="ko-KR" dirty="0" err="1">
                <a:latin typeface="+mn-ea"/>
              </a:rPr>
              <a:t>rownum</a:t>
            </a:r>
            <a:r>
              <a:rPr lang="en-US" altLang="ko-KR" dirty="0">
                <a:latin typeface="+mn-ea"/>
              </a:rPr>
              <a:t> as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rnum,bid,bname,bcontent,bdate,bhit,bgroup,bstep,bindent</a:t>
            </a:r>
            <a:r>
              <a:rPr lang="en-US" altLang="ko-KR" dirty="0">
                <a:latin typeface="+mn-ea"/>
              </a:rPr>
              <a:t> from</a:t>
            </a:r>
          </a:p>
          <a:p>
            <a:r>
              <a:rPr lang="en-US" altLang="ko-KR" dirty="0">
                <a:latin typeface="+mn-ea"/>
              </a:rPr>
              <a:t>(select * from </a:t>
            </a:r>
            <a:r>
              <a:rPr lang="en-US" altLang="ko-KR" dirty="0" err="1">
                <a:latin typeface="+mn-ea"/>
              </a:rPr>
              <a:t>mvc_board</a:t>
            </a:r>
            <a:r>
              <a:rPr lang="en-US" altLang="ko-KR" dirty="0">
                <a:latin typeface="+mn-ea"/>
              </a:rPr>
              <a:t> order by </a:t>
            </a:r>
            <a:r>
              <a:rPr lang="en-US" altLang="ko-KR" dirty="0" err="1">
                <a:latin typeface="+mn-ea"/>
              </a:rPr>
              <a:t>bgroup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desc,bid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asc</a:t>
            </a:r>
            <a:r>
              <a:rPr lang="en-US" altLang="ko-KR" dirty="0">
                <a:latin typeface="+mn-ea"/>
              </a:rPr>
              <a:t>)) </a:t>
            </a:r>
          </a:p>
          <a:p>
            <a:r>
              <a:rPr lang="en-US" altLang="ko-KR" dirty="0">
                <a:latin typeface="+mn-ea"/>
              </a:rPr>
              <a:t>where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&gt;=1 and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&lt;=10;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50915-7216-436D-A828-EF6780F7A328}"/>
              </a:ext>
            </a:extLst>
          </p:cNvPr>
          <p:cNvSpPr txBox="1"/>
          <p:nvPr/>
        </p:nvSpPr>
        <p:spPr>
          <a:xfrm>
            <a:off x="836398" y="1494211"/>
            <a:ext cx="103880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[ </a:t>
            </a:r>
            <a:r>
              <a:rPr lang="en-US" altLang="ko-KR" sz="1600" dirty="0" err="1">
                <a:latin typeface="+mn-ea"/>
              </a:rPr>
              <a:t>rownum</a:t>
            </a:r>
            <a:r>
              <a:rPr lang="en-US" altLang="ko-KR" sz="1600" dirty="0">
                <a:latin typeface="+mn-ea"/>
              </a:rPr>
              <a:t> : </a:t>
            </a:r>
            <a:r>
              <a:rPr lang="ko-KR" altLang="en-US" sz="1600" dirty="0">
                <a:latin typeface="+mn-ea"/>
              </a:rPr>
              <a:t>조회된 순서대로 순번을 매김 </a:t>
            </a:r>
            <a:r>
              <a:rPr lang="en-US" altLang="ko-KR" sz="1600" dirty="0">
                <a:latin typeface="+mn-ea"/>
              </a:rPr>
              <a:t>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Order by </a:t>
            </a:r>
            <a:r>
              <a:rPr lang="ko-KR" altLang="en-US" sz="1600" dirty="0">
                <a:latin typeface="+mn-ea"/>
              </a:rPr>
              <a:t>를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사용후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-&gt; </a:t>
            </a:r>
            <a:r>
              <a:rPr lang="en-US" altLang="ko-KR" sz="1600" dirty="0" err="1">
                <a:latin typeface="+mn-ea"/>
              </a:rPr>
              <a:t>rownum</a:t>
            </a:r>
            <a:r>
              <a:rPr lang="en-US" altLang="ko-KR" sz="1600" dirty="0">
                <a:latin typeface="+mn-ea"/>
              </a:rPr>
              <a:t> </a:t>
            </a:r>
          </a:p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 err="1"/>
              <a:t>rownum</a:t>
            </a:r>
            <a:r>
              <a:rPr lang="en-US" altLang="ko-KR" dirty="0"/>
              <a:t>, a.*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/>
              <a:t>(select</a:t>
            </a:r>
            <a:r>
              <a:rPr lang="ko-KR" altLang="en-US" dirty="0"/>
              <a:t> </a:t>
            </a:r>
            <a:r>
              <a:rPr lang="en-US" altLang="ko-KR" dirty="0"/>
              <a:t>a.*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 err="1"/>
              <a:t>mvc_board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order by </a:t>
            </a:r>
            <a:r>
              <a:rPr lang="en-US" altLang="ko-KR" dirty="0" err="1"/>
              <a:t>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 a;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D7961-EEA8-41B3-8107-8CDD757FE187}"/>
              </a:ext>
            </a:extLst>
          </p:cNvPr>
          <p:cNvSpPr txBox="1"/>
          <p:nvPr/>
        </p:nvSpPr>
        <p:spPr>
          <a:xfrm>
            <a:off x="677008" y="4879022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row_number</a:t>
            </a:r>
            <a:r>
              <a:rPr lang="en-US" altLang="ko-KR" b="1" dirty="0"/>
              <a:t>() </a:t>
            </a:r>
            <a:r>
              <a:rPr lang="ko-KR" altLang="en-US" b="1" dirty="0"/>
              <a:t>사용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select * from</a:t>
            </a:r>
          </a:p>
          <a:p>
            <a:r>
              <a:rPr lang="en-US" altLang="ko-KR" dirty="0"/>
              <a:t>(select </a:t>
            </a:r>
            <a:r>
              <a:rPr lang="en-US" altLang="ko-KR" dirty="0" err="1"/>
              <a:t>row_number</a:t>
            </a:r>
            <a:r>
              <a:rPr lang="en-US" altLang="ko-KR" dirty="0"/>
              <a:t>() over(order by </a:t>
            </a:r>
            <a:r>
              <a:rPr lang="en-US" altLang="ko-KR" dirty="0" err="1"/>
              <a:t>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 </a:t>
            </a:r>
            <a:r>
              <a:rPr lang="en-US" altLang="ko-KR" dirty="0" err="1"/>
              <a:t>rnum</a:t>
            </a:r>
            <a:r>
              <a:rPr lang="en-US" altLang="ko-KR" dirty="0"/>
              <a:t>, a.*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mvc_board</a:t>
            </a:r>
            <a:r>
              <a:rPr lang="en-US" altLang="ko-KR" dirty="0"/>
              <a:t> a order by </a:t>
            </a:r>
            <a:r>
              <a:rPr lang="en-US" altLang="ko-KR" dirty="0" err="1"/>
              <a:t>a.bgroup</a:t>
            </a:r>
            <a:r>
              <a:rPr lang="en-US" altLang="ko-KR" dirty="0"/>
              <a:t> </a:t>
            </a:r>
            <a:r>
              <a:rPr lang="en-US" altLang="ko-KR" dirty="0" err="1"/>
              <a:t>desc,a.bid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where </a:t>
            </a:r>
            <a:r>
              <a:rPr lang="en-US" altLang="ko-KR" dirty="0" err="1"/>
              <a:t>rnum</a:t>
            </a:r>
            <a:r>
              <a:rPr lang="en-US" altLang="ko-KR" dirty="0"/>
              <a:t> between 1 and 10;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1738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Bdao.java - </a:t>
            </a:r>
            <a:r>
              <a:rPr lang="en-US" altLang="ko-KR" sz="1100" dirty="0" err="1">
                <a:latin typeface="+mn-ea"/>
              </a:rPr>
              <a:t>sql</a:t>
            </a:r>
            <a:r>
              <a:rPr lang="ko-KR" altLang="en-US" sz="1100" dirty="0">
                <a:latin typeface="+mn-ea"/>
              </a:rPr>
              <a:t>구문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456886" y="4922795"/>
            <a:ext cx="9278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 </a:t>
            </a:r>
            <a:r>
              <a:rPr lang="en-US" altLang="ko-KR" b="1" dirty="0" err="1"/>
              <a:t>endrow</a:t>
            </a:r>
            <a:r>
              <a:rPr lang="en-US" altLang="ko-KR" b="1" dirty="0"/>
              <a:t>=startrow+limit-1; </a:t>
            </a:r>
          </a:p>
          <a:p>
            <a:r>
              <a:rPr lang="en-US" altLang="ko-KR" b="1" dirty="0"/>
              <a:t>//</a:t>
            </a:r>
            <a:r>
              <a:rPr lang="ko-KR" altLang="en-US" b="1" dirty="0"/>
              <a:t>페이지 마지막 번호 </a:t>
            </a:r>
            <a:endParaRPr lang="en-US" altLang="ko-KR" b="1" dirty="0"/>
          </a:p>
          <a:p>
            <a:r>
              <a:rPr lang="en-US" altLang="ko-KR" b="1" dirty="0"/>
              <a:t>// page</a:t>
            </a:r>
            <a:r>
              <a:rPr lang="ko-KR" altLang="en-US" b="1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일 경우 </a:t>
            </a:r>
            <a:r>
              <a:rPr lang="en-US" altLang="ko-KR" b="1" dirty="0"/>
              <a:t>: 1+10+1 = 10, page 8</a:t>
            </a:r>
            <a:r>
              <a:rPr lang="ko-KR" altLang="en-US" b="1" dirty="0" err="1"/>
              <a:t>일경우</a:t>
            </a:r>
            <a:r>
              <a:rPr lang="ko-KR" altLang="en-US" b="1" dirty="0"/>
              <a:t> </a:t>
            </a:r>
            <a:r>
              <a:rPr lang="en-US" altLang="ko-KR" b="1" dirty="0"/>
              <a:t>: 71+10-1=80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CE843-2D0D-41F0-A988-10A8AAF80C47}"/>
              </a:ext>
            </a:extLst>
          </p:cNvPr>
          <p:cNvSpPr txBox="1"/>
          <p:nvPr/>
        </p:nvSpPr>
        <p:spPr>
          <a:xfrm>
            <a:off x="677008" y="1700002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 </a:t>
            </a:r>
            <a:r>
              <a:rPr lang="en-US" altLang="ko-KR" b="1" dirty="0" err="1">
                <a:latin typeface="+mn-ea"/>
              </a:rPr>
              <a:t>rownum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사용 </a:t>
            </a:r>
            <a:r>
              <a:rPr lang="en-US" altLang="ko-KR" b="1" dirty="0">
                <a:latin typeface="+mn-ea"/>
              </a:rPr>
              <a:t>]</a:t>
            </a:r>
          </a:p>
          <a:p>
            <a:r>
              <a:rPr lang="en-US" altLang="ko-KR" dirty="0">
                <a:latin typeface="+mn-ea"/>
              </a:rPr>
              <a:t>select * from </a:t>
            </a:r>
          </a:p>
          <a:p>
            <a:r>
              <a:rPr lang="en-US" altLang="ko-KR" dirty="0">
                <a:latin typeface="+mn-ea"/>
              </a:rPr>
              <a:t>(select </a:t>
            </a:r>
            <a:r>
              <a:rPr lang="en-US" altLang="ko-KR" dirty="0" err="1">
                <a:latin typeface="+mn-ea"/>
              </a:rPr>
              <a:t>rownum</a:t>
            </a:r>
            <a:r>
              <a:rPr lang="en-US" altLang="ko-KR" dirty="0">
                <a:latin typeface="+mn-ea"/>
              </a:rPr>
              <a:t> as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rnum,bid,bname,bcontent,bdate,bhit,bgroup,bstep,bindent</a:t>
            </a:r>
            <a:r>
              <a:rPr lang="en-US" altLang="ko-KR" dirty="0">
                <a:latin typeface="+mn-ea"/>
              </a:rPr>
              <a:t> from</a:t>
            </a:r>
          </a:p>
          <a:p>
            <a:r>
              <a:rPr lang="en-US" altLang="ko-KR" dirty="0">
                <a:latin typeface="+mn-ea"/>
              </a:rPr>
              <a:t>(select * from </a:t>
            </a:r>
            <a:r>
              <a:rPr lang="en-US" altLang="ko-KR" dirty="0" err="1">
                <a:latin typeface="+mn-ea"/>
              </a:rPr>
              <a:t>mvc_board</a:t>
            </a:r>
            <a:r>
              <a:rPr lang="en-US" altLang="ko-KR" dirty="0">
                <a:latin typeface="+mn-ea"/>
              </a:rPr>
              <a:t> order by </a:t>
            </a:r>
            <a:r>
              <a:rPr lang="en-US" altLang="ko-KR" dirty="0" err="1">
                <a:latin typeface="+mn-ea"/>
              </a:rPr>
              <a:t>bgroup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desc,bid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asc</a:t>
            </a:r>
            <a:r>
              <a:rPr lang="en-US" altLang="ko-KR" dirty="0">
                <a:latin typeface="+mn-ea"/>
              </a:rPr>
              <a:t>)) </a:t>
            </a:r>
          </a:p>
          <a:p>
            <a:r>
              <a:rPr lang="en-US" altLang="ko-KR" dirty="0">
                <a:latin typeface="+mn-ea"/>
              </a:rPr>
              <a:t>where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&gt;=? and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&lt;=?;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478E5-2AB9-4718-BDF9-204BED89D373}"/>
              </a:ext>
            </a:extLst>
          </p:cNvPr>
          <p:cNvSpPr txBox="1"/>
          <p:nvPr/>
        </p:nvSpPr>
        <p:spPr>
          <a:xfrm>
            <a:off x="1456887" y="3592531"/>
            <a:ext cx="9278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</a:t>
            </a:r>
            <a:r>
              <a:rPr lang="ko-KR" altLang="en-US" b="1" dirty="0"/>
              <a:t> </a:t>
            </a:r>
            <a:r>
              <a:rPr lang="en-US" altLang="ko-KR" b="1" dirty="0" err="1"/>
              <a:t>startrow</a:t>
            </a:r>
            <a:r>
              <a:rPr lang="en-US" altLang="ko-KR" b="1" dirty="0"/>
              <a:t>=(page-1)*limit+1; </a:t>
            </a:r>
          </a:p>
          <a:p>
            <a:r>
              <a:rPr lang="en-US" altLang="ko-KR" b="1" dirty="0"/>
              <a:t>//</a:t>
            </a:r>
            <a:r>
              <a:rPr lang="ko-KR" altLang="en-US" b="1" dirty="0"/>
              <a:t>페이지 최초 번호</a:t>
            </a:r>
            <a:endParaRPr lang="en-US" altLang="ko-KR" b="1" dirty="0"/>
          </a:p>
          <a:p>
            <a:r>
              <a:rPr lang="en-US" altLang="ko-KR" b="1" dirty="0"/>
              <a:t>// page</a:t>
            </a:r>
            <a:r>
              <a:rPr lang="ko-KR" altLang="en-US" b="1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일 경우 </a:t>
            </a:r>
            <a:r>
              <a:rPr lang="en-US" altLang="ko-KR" b="1" dirty="0"/>
              <a:t>: (1-1)*10+1 = 1, page 8</a:t>
            </a:r>
            <a:r>
              <a:rPr lang="ko-KR" altLang="en-US" b="1" dirty="0" err="1"/>
              <a:t>일경우</a:t>
            </a:r>
            <a:r>
              <a:rPr lang="ko-KR" altLang="en-US" b="1" dirty="0"/>
              <a:t> </a:t>
            </a:r>
            <a:r>
              <a:rPr lang="en-US" altLang="ko-KR" b="1" dirty="0"/>
              <a:t>: (8-1)*10+1=71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25A9F9-3844-42B5-868C-0EB2766ED2CF}"/>
              </a:ext>
            </a:extLst>
          </p:cNvPr>
          <p:cNvSpPr/>
          <p:nvPr/>
        </p:nvSpPr>
        <p:spPr>
          <a:xfrm>
            <a:off x="2239854" y="2853473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6CD55805-CC0B-4E9C-9435-69491640FF86}"/>
              </a:ext>
            </a:extLst>
          </p:cNvPr>
          <p:cNvCxnSpPr>
            <a:cxnSpLocks/>
            <a:stCxn id="9" idx="2"/>
            <a:endCxn id="8" idx="1"/>
          </p:cNvCxnSpPr>
          <p:nvPr/>
        </p:nvCxnSpPr>
        <p:spPr>
          <a:xfrm rot="5400000">
            <a:off x="1486370" y="3137125"/>
            <a:ext cx="887589" cy="946553"/>
          </a:xfrm>
          <a:prstGeom prst="bentConnector4">
            <a:avLst>
              <a:gd name="adj1" fmla="val 23993"/>
              <a:gd name="adj2" fmla="val 1241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5C04BE-F28E-4F29-99A5-9D923592BE2C}"/>
              </a:ext>
            </a:extLst>
          </p:cNvPr>
          <p:cNvSpPr/>
          <p:nvPr/>
        </p:nvSpPr>
        <p:spPr>
          <a:xfrm>
            <a:off x="3733094" y="2853473"/>
            <a:ext cx="327171" cy="31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76D5103-6558-4F36-86E9-75782725F14B}"/>
              </a:ext>
            </a:extLst>
          </p:cNvPr>
          <p:cNvCxnSpPr>
            <a:cxnSpLocks/>
            <a:stCxn id="14" idx="2"/>
            <a:endCxn id="4" idx="1"/>
          </p:cNvCxnSpPr>
          <p:nvPr/>
        </p:nvCxnSpPr>
        <p:spPr>
          <a:xfrm rot="5400000">
            <a:off x="1567857" y="3055636"/>
            <a:ext cx="2217853" cy="2439794"/>
          </a:xfrm>
          <a:prstGeom prst="bentConnector4">
            <a:avLst>
              <a:gd name="adj1" fmla="val 18032"/>
              <a:gd name="adj2" fmla="val 12174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25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216402" y="1772776"/>
            <a:ext cx="927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jsp</a:t>
            </a:r>
            <a:r>
              <a:rPr lang="ko-KR" altLang="en-US" b="1" dirty="0"/>
              <a:t>페이지 </a:t>
            </a:r>
            <a:r>
              <a:rPr lang="en-US" altLang="ko-KR" b="1" dirty="0"/>
              <a:t>– </a:t>
            </a:r>
            <a:r>
              <a:rPr lang="en-US" altLang="ko-KR" b="1" dirty="0" err="1"/>
              <a:t>jstl</a:t>
            </a:r>
            <a:r>
              <a:rPr lang="en-US" altLang="ko-KR" b="1" dirty="0"/>
              <a:t> ]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C8C37F3-2D8B-469A-AFA2-29C46F798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30" y="2263266"/>
            <a:ext cx="811530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094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216402" y="1772776"/>
            <a:ext cx="92782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list.jsp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검색부분 추가 </a:t>
            </a:r>
            <a:r>
              <a:rPr lang="en-US" altLang="ko-KR" b="1" dirty="0"/>
              <a:t>]</a:t>
            </a:r>
          </a:p>
          <a:p>
            <a:endParaRPr lang="en-US" altLang="ko-KR" b="1" dirty="0"/>
          </a:p>
          <a:p>
            <a:r>
              <a:rPr lang="en-US" altLang="ko-KR" dirty="0"/>
              <a:t> &lt;form action=</a:t>
            </a:r>
            <a:r>
              <a:rPr lang="en-US" altLang="ko-KR" i="1" dirty="0"/>
              <a:t>"search.do" name="search" method="post"&gt;</a:t>
            </a:r>
          </a:p>
          <a:p>
            <a:r>
              <a:rPr lang="en-US" altLang="ko-KR" dirty="0"/>
              <a:t>        &lt;select </a:t>
            </a:r>
            <a:r>
              <a:rPr lang="en-US" altLang="ko-KR" b="1" dirty="0">
                <a:solidFill>
                  <a:srgbClr val="FF0000"/>
                </a:solidFill>
              </a:rPr>
              <a:t>name=</a:t>
            </a:r>
            <a:r>
              <a:rPr lang="en-US" altLang="ko-KR" b="1" i="1" dirty="0">
                <a:solidFill>
                  <a:srgbClr val="FF0000"/>
                </a:solidFill>
              </a:rPr>
              <a:t>"opt" </a:t>
            </a:r>
            <a:r>
              <a:rPr lang="en-US" altLang="ko-KR" i="1" dirty="0"/>
              <a:t>id="category"&gt;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"all"&gt;</a:t>
            </a:r>
            <a:r>
              <a:rPr lang="ko-KR" altLang="en-US" i="1" dirty="0"/>
              <a:t>전체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"tit"&gt;</a:t>
            </a:r>
            <a:r>
              <a:rPr lang="ko-KR" altLang="en-US" i="1" dirty="0"/>
              <a:t>제목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"con"&gt;</a:t>
            </a:r>
            <a:r>
              <a:rPr lang="ko-KR" altLang="en-US" i="1" dirty="0"/>
              <a:t>내용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&lt;/select&gt;</a:t>
            </a:r>
          </a:p>
          <a:p>
            <a:endParaRPr lang="ko-KR" altLang="en-US" dirty="0"/>
          </a:p>
          <a:p>
            <a:r>
              <a:rPr lang="en-US" altLang="ko-KR" dirty="0"/>
              <a:t>        &lt;div class=</a:t>
            </a:r>
            <a:r>
              <a:rPr lang="en-US" altLang="ko-KR" i="1" dirty="0"/>
              <a:t>"title"&gt;</a:t>
            </a:r>
          </a:p>
          <a:p>
            <a:r>
              <a:rPr lang="en-US" altLang="ko-KR" dirty="0"/>
              <a:t>          &lt;input type=</a:t>
            </a:r>
            <a:r>
              <a:rPr lang="en-US" altLang="ko-KR" i="1" dirty="0"/>
              <a:t>"text" </a:t>
            </a:r>
            <a:r>
              <a:rPr lang="en-US" altLang="ko-KR" b="1" dirty="0">
                <a:solidFill>
                  <a:srgbClr val="FF0000"/>
                </a:solidFill>
              </a:rPr>
              <a:t>name="search" </a:t>
            </a:r>
            <a:r>
              <a:rPr lang="en-US" altLang="ko-KR" i="1" dirty="0"/>
              <a:t>size="16"&gt;</a:t>
            </a:r>
          </a:p>
          <a:p>
            <a:r>
              <a:rPr lang="en-US" altLang="ko-KR" dirty="0"/>
              <a:t>        &lt;/div&gt;</a:t>
            </a:r>
          </a:p>
          <a:p>
            <a:r>
              <a:rPr lang="ko-KR" altLang="en-US" dirty="0"/>
              <a:t>  </a:t>
            </a:r>
          </a:p>
          <a:p>
            <a:r>
              <a:rPr lang="en-US" altLang="ko-KR" dirty="0"/>
              <a:t>        &lt;button type=</a:t>
            </a:r>
            <a:r>
              <a:rPr lang="en-US" altLang="ko-KR" i="1" dirty="0"/>
              <a:t>"submit"&gt;&lt;</a:t>
            </a:r>
            <a:r>
              <a:rPr lang="en-US" altLang="ko-KR" i="1" dirty="0" err="1"/>
              <a:t>i</a:t>
            </a:r>
            <a:r>
              <a:rPr lang="en-US" altLang="ko-KR" i="1" dirty="0"/>
              <a:t> class="</a:t>
            </a:r>
            <a:r>
              <a:rPr lang="en-US" altLang="ko-KR" i="1" dirty="0" err="1"/>
              <a:t>fas</a:t>
            </a:r>
            <a:r>
              <a:rPr lang="en-US" altLang="ko-KR" i="1" dirty="0"/>
              <a:t> fa-search"&gt;&lt;/</a:t>
            </a:r>
            <a:r>
              <a:rPr lang="en-US" altLang="ko-KR" i="1" dirty="0" err="1"/>
              <a:t>i</a:t>
            </a:r>
            <a:r>
              <a:rPr lang="en-US" altLang="ko-KR" i="1" dirty="0"/>
              <a:t>&gt;&lt;/button&gt;</a:t>
            </a:r>
          </a:p>
          <a:p>
            <a:r>
              <a:rPr lang="en-US" altLang="ko-KR" dirty="0"/>
              <a:t>&lt;/form&gt;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164A3-8E92-43C9-BDD8-266272A5BCDD}"/>
              </a:ext>
            </a:extLst>
          </p:cNvPr>
          <p:cNvSpPr txBox="1"/>
          <p:nvPr/>
        </p:nvSpPr>
        <p:spPr>
          <a:xfrm>
            <a:off x="9391824" y="6575111"/>
            <a:ext cx="255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https://all-record.tistory.com/129</a:t>
            </a:r>
          </a:p>
        </p:txBody>
      </p:sp>
    </p:spTree>
    <p:extLst>
      <p:ext uri="{BB962C8B-B14F-4D97-AF65-F5344CB8AC3E}">
        <p14:creationId xmlns:p14="http://schemas.microsoft.com/office/powerpoint/2010/main" val="224692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list.jsp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검색부분 추가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필요한 </a:t>
            </a:r>
            <a:r>
              <a:rPr lang="en-US" altLang="ko-KR" dirty="0"/>
              <a:t>3</a:t>
            </a:r>
            <a:r>
              <a:rPr lang="ko-KR" altLang="en-US" dirty="0"/>
              <a:t>개 변수추가 </a:t>
            </a:r>
            <a:r>
              <a:rPr lang="en-US" altLang="ko-KR" dirty="0"/>
              <a:t>: </a:t>
            </a:r>
            <a:r>
              <a:rPr lang="en-US" altLang="ko-KR" dirty="0" err="1"/>
              <a:t>searchflag</a:t>
            </a:r>
            <a:r>
              <a:rPr lang="en-US" altLang="ko-KR" dirty="0"/>
              <a:t>-</a:t>
            </a:r>
            <a:r>
              <a:rPr lang="ko-KR" altLang="en-US" dirty="0"/>
              <a:t>검색으로 넘어 왔는지</a:t>
            </a:r>
            <a:r>
              <a:rPr lang="en-US" altLang="ko-KR" dirty="0"/>
              <a:t>, opt-</a:t>
            </a:r>
            <a:r>
              <a:rPr lang="ko-KR" altLang="en-US" dirty="0"/>
              <a:t>검색종류</a:t>
            </a:r>
            <a:r>
              <a:rPr lang="en-US" altLang="ko-KR" dirty="0"/>
              <a:t>, search-</a:t>
            </a:r>
            <a:r>
              <a:rPr lang="ko-KR" altLang="en-US" dirty="0" err="1"/>
              <a:t>검색어</a:t>
            </a:r>
            <a:r>
              <a:rPr lang="en-US" altLang="ko-KR" dirty="0"/>
              <a:t> 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&lt;!-- </a:t>
            </a:r>
            <a:r>
              <a:rPr lang="en-US" altLang="ko-KR" sz="1200" u="sng" dirty="0" err="1">
                <a:solidFill>
                  <a:srgbClr val="FF0000"/>
                </a:solidFill>
                <a:latin typeface="+mn-ea"/>
              </a:rPr>
              <a:t>searchflag</a:t>
            </a:r>
            <a:r>
              <a:rPr lang="ko-KR" altLang="en-US" sz="1200" u="sng" dirty="0">
                <a:solidFill>
                  <a:srgbClr val="FF0000"/>
                </a:solidFill>
                <a:latin typeface="+mn-ea"/>
              </a:rPr>
              <a:t>가 </a:t>
            </a:r>
            <a:r>
              <a:rPr lang="ko-KR" altLang="en-US" sz="1200" u="sng" dirty="0" err="1">
                <a:solidFill>
                  <a:srgbClr val="FF0000"/>
                </a:solidFill>
                <a:latin typeface="+mn-ea"/>
              </a:rPr>
              <a:t>있을때</a:t>
            </a:r>
            <a:r>
              <a:rPr lang="ko-KR" altLang="en-US" sz="1200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 u="sng" dirty="0">
                <a:solidFill>
                  <a:srgbClr val="FF0000"/>
                </a:solidFill>
                <a:latin typeface="+mn-ea"/>
              </a:rPr>
              <a:t>--&gt;</a:t>
            </a:r>
          </a:p>
          <a:p>
            <a:r>
              <a:rPr lang="en-US" altLang="ko-KR" sz="1200" dirty="0">
                <a:latin typeface="+mn-ea"/>
              </a:rPr>
              <a:t>    &lt;</a:t>
            </a:r>
            <a:r>
              <a:rPr lang="en-US" altLang="ko-KR" sz="1200" dirty="0" err="1">
                <a:latin typeface="+mn-ea"/>
              </a:rPr>
              <a:t>c:choose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 &lt;</a:t>
            </a:r>
            <a:r>
              <a:rPr lang="en-US" altLang="ko-KR" sz="1200" dirty="0" err="1">
                <a:latin typeface="+mn-ea"/>
              </a:rPr>
              <a:t>c:when</a:t>
            </a:r>
            <a:r>
              <a:rPr lang="en-US" altLang="ko-KR" sz="1200" dirty="0">
                <a:latin typeface="+mn-ea"/>
              </a:rPr>
              <a:t> test=</a:t>
            </a:r>
            <a:r>
              <a:rPr lang="en-US" altLang="ko-KR" sz="1200" i="1" dirty="0">
                <a:latin typeface="+mn-ea"/>
              </a:rPr>
              <a:t>"${</a:t>
            </a:r>
            <a:r>
              <a:rPr lang="en-US" altLang="ko-KR" sz="1200" i="1" dirty="0" err="1">
                <a:latin typeface="+mn-ea"/>
              </a:rPr>
              <a:t>searchflag</a:t>
            </a:r>
            <a:r>
              <a:rPr lang="en-US" altLang="ko-KR" sz="1200" i="1" dirty="0">
                <a:latin typeface="+mn-ea"/>
              </a:rPr>
              <a:t> != null }"&gt;</a:t>
            </a:r>
          </a:p>
          <a:p>
            <a:r>
              <a:rPr lang="en-US" altLang="ko-KR" sz="1200" dirty="0">
                <a:latin typeface="+mn-ea"/>
              </a:rPr>
              <a:t>        &lt;</a:t>
            </a:r>
            <a:r>
              <a:rPr lang="en-US" altLang="ko-KR" sz="1200" dirty="0" err="1">
                <a:latin typeface="+mn-ea"/>
              </a:rPr>
              <a:t>ul</a:t>
            </a:r>
            <a:r>
              <a:rPr lang="en-US" altLang="ko-KR" sz="1200" dirty="0">
                <a:latin typeface="+mn-ea"/>
              </a:rPr>
              <a:t> class=</a:t>
            </a:r>
            <a:r>
              <a:rPr lang="en-US" altLang="ko-KR" sz="1200" i="1" dirty="0">
                <a:latin typeface="+mn-ea"/>
              </a:rPr>
              <a:t>"page-</a:t>
            </a:r>
            <a:r>
              <a:rPr lang="en-US" altLang="ko-KR" sz="1200" i="1" dirty="0" err="1">
                <a:latin typeface="+mn-ea"/>
              </a:rPr>
              <a:t>num</a:t>
            </a:r>
            <a:r>
              <a:rPr lang="en-US" altLang="ko-KR" sz="1200" i="1" dirty="0">
                <a:latin typeface="+mn-ea"/>
              </a:rPr>
              <a:t>"&gt;</a:t>
            </a:r>
          </a:p>
          <a:p>
            <a:r>
              <a:rPr lang="ko-KR" altLang="en-US" sz="1200" dirty="0">
                <a:latin typeface="+mn-ea"/>
              </a:rPr>
              <a:t>      </a:t>
            </a:r>
            <a:r>
              <a:rPr lang="en-US" altLang="ko-KR" sz="1200" dirty="0">
                <a:latin typeface="+mn-ea"/>
              </a:rPr>
              <a:t>&lt;!-- </a:t>
            </a:r>
            <a:r>
              <a:rPr lang="ko-KR" altLang="en-US" sz="1200" dirty="0" err="1">
                <a:latin typeface="+mn-ea"/>
              </a:rPr>
              <a:t>첫페이지</a:t>
            </a:r>
            <a:r>
              <a:rPr lang="ko-KR" altLang="en-US" sz="1200" dirty="0">
                <a:latin typeface="+mn-ea"/>
              </a:rPr>
              <a:t> 이동 </a:t>
            </a:r>
            <a:r>
              <a:rPr lang="en-US" altLang="ko-KR" sz="1200" dirty="0">
                <a:latin typeface="+mn-ea"/>
              </a:rPr>
              <a:t>--&gt;</a:t>
            </a:r>
          </a:p>
          <a:p>
            <a:r>
              <a:rPr lang="en-US" altLang="ko-KR" sz="1200" dirty="0">
                <a:latin typeface="+mn-ea"/>
              </a:rPr>
              <a:t>      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&lt;a </a:t>
            </a:r>
            <a:r>
              <a:rPr lang="en-US" altLang="ko-KR" sz="1200" b="1" u="sng" dirty="0" err="1">
                <a:solidFill>
                  <a:srgbClr val="FF0000"/>
                </a:solidFill>
                <a:latin typeface="+mn-ea"/>
              </a:rPr>
              <a:t>href</a:t>
            </a:r>
            <a:r>
              <a:rPr lang="en-US" altLang="ko-KR" sz="1200" b="1" u="sng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ko-KR" sz="1200" b="1" i="1" u="sng" dirty="0">
                <a:solidFill>
                  <a:srgbClr val="FF0000"/>
                </a:solidFill>
                <a:latin typeface="+mn-ea"/>
              </a:rPr>
              <a:t>"</a:t>
            </a:r>
            <a:r>
              <a:rPr lang="en-US" altLang="ko-KR" sz="1200" b="1" i="1" u="sng" dirty="0" err="1">
                <a:solidFill>
                  <a:srgbClr val="FF0000"/>
                </a:solidFill>
                <a:latin typeface="+mn-ea"/>
              </a:rPr>
              <a:t>list.do?searchflag</a:t>
            </a:r>
            <a:r>
              <a:rPr lang="en-US" altLang="ko-KR" sz="1200" b="1" i="1" u="sng" dirty="0">
                <a:solidFill>
                  <a:srgbClr val="FF0000"/>
                </a:solidFill>
                <a:latin typeface="+mn-ea"/>
              </a:rPr>
              <a:t>=${</a:t>
            </a:r>
            <a:r>
              <a:rPr lang="en-US" altLang="ko-KR" sz="1200" b="1" i="1" u="sng" dirty="0" err="1">
                <a:solidFill>
                  <a:srgbClr val="FF0000"/>
                </a:solidFill>
                <a:latin typeface="+mn-ea"/>
              </a:rPr>
              <a:t>searchflag</a:t>
            </a:r>
            <a:r>
              <a:rPr lang="en-US" altLang="ko-KR" sz="1200" b="1" i="1" u="sng" dirty="0">
                <a:solidFill>
                  <a:srgbClr val="FF0000"/>
                </a:solidFill>
                <a:latin typeface="+mn-ea"/>
              </a:rPr>
              <a:t>}&amp;opt=${opt}&amp;search=${search}&amp;page=1"&gt;</a:t>
            </a:r>
            <a:r>
              <a:rPr lang="en-US" altLang="ko-KR" sz="1200" i="1" u="sng" dirty="0">
                <a:latin typeface="+mn-ea"/>
              </a:rPr>
              <a:t>&lt;li class="first"&gt;&lt;/li&gt;&lt;/a&gt;</a:t>
            </a:r>
          </a:p>
          <a:p>
            <a:r>
              <a:rPr lang="ko-KR" altLang="en-US" sz="1200" dirty="0">
                <a:latin typeface="+mn-ea"/>
              </a:rPr>
              <a:t>      </a:t>
            </a:r>
            <a:r>
              <a:rPr lang="en-US" altLang="ko-KR" sz="1200" dirty="0">
                <a:latin typeface="+mn-ea"/>
              </a:rPr>
              <a:t>&lt;!-- </a:t>
            </a:r>
            <a:r>
              <a:rPr lang="ko-KR" altLang="en-US" sz="1200" dirty="0">
                <a:latin typeface="+mn-ea"/>
              </a:rPr>
              <a:t>이전페이지 이동버튼 </a:t>
            </a:r>
            <a:r>
              <a:rPr lang="en-US" altLang="ko-KR" sz="1200" dirty="0">
                <a:latin typeface="+mn-ea"/>
              </a:rPr>
              <a:t>--&gt;</a:t>
            </a:r>
          </a:p>
          <a:p>
            <a:r>
              <a:rPr lang="en-US" altLang="ko-KR" sz="1200" dirty="0">
                <a:latin typeface="+mn-ea"/>
              </a:rPr>
              <a:t>      &lt;</a:t>
            </a:r>
            <a:r>
              <a:rPr lang="en-US" altLang="ko-KR" sz="1200" dirty="0" err="1">
                <a:latin typeface="+mn-ea"/>
              </a:rPr>
              <a:t>c:if</a:t>
            </a:r>
            <a:r>
              <a:rPr lang="en-US" altLang="ko-KR" sz="1200" dirty="0">
                <a:latin typeface="+mn-ea"/>
              </a:rPr>
              <a:t> test=</a:t>
            </a:r>
            <a:r>
              <a:rPr lang="en-US" altLang="ko-KR" sz="1200" i="1" dirty="0">
                <a:latin typeface="+mn-ea"/>
              </a:rPr>
              <a:t>"${page&lt;=1 }"&gt;</a:t>
            </a:r>
          </a:p>
          <a:p>
            <a:r>
              <a:rPr lang="en-US" altLang="ko-KR" sz="1200" dirty="0">
                <a:latin typeface="+mn-ea"/>
              </a:rPr>
              <a:t>        &lt;li class=</a:t>
            </a:r>
            <a:r>
              <a:rPr lang="en-US" altLang="ko-KR" sz="1200" i="1" dirty="0">
                <a:latin typeface="+mn-ea"/>
              </a:rPr>
              <a:t>"</a:t>
            </a:r>
            <a:r>
              <a:rPr lang="en-US" altLang="ko-KR" sz="1200" i="1" dirty="0" err="1">
                <a:latin typeface="+mn-ea"/>
              </a:rPr>
              <a:t>prev</a:t>
            </a:r>
            <a:r>
              <a:rPr lang="en-US" altLang="ko-KR" sz="1200" i="1" dirty="0">
                <a:latin typeface="+mn-ea"/>
              </a:rPr>
              <a:t>"&gt;&lt;/li&gt;</a:t>
            </a:r>
          </a:p>
          <a:p>
            <a:r>
              <a:rPr lang="en-US" altLang="ko-KR" sz="1200" dirty="0">
                <a:latin typeface="+mn-ea"/>
              </a:rPr>
              <a:t>      &lt;/</a:t>
            </a:r>
            <a:r>
              <a:rPr lang="en-US" altLang="ko-KR" sz="1200" dirty="0" err="1">
                <a:latin typeface="+mn-ea"/>
              </a:rPr>
              <a:t>c:if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   &lt;</a:t>
            </a:r>
            <a:r>
              <a:rPr lang="en-US" altLang="ko-KR" sz="1200" dirty="0" err="1">
                <a:latin typeface="+mn-ea"/>
              </a:rPr>
              <a:t>c:if</a:t>
            </a:r>
            <a:r>
              <a:rPr lang="en-US" altLang="ko-KR" sz="1200" dirty="0">
                <a:latin typeface="+mn-ea"/>
              </a:rPr>
              <a:t> test=</a:t>
            </a:r>
            <a:r>
              <a:rPr lang="en-US" altLang="ko-KR" sz="1200" i="1" dirty="0">
                <a:latin typeface="+mn-ea"/>
              </a:rPr>
              <a:t>"${page&gt;1 }"&gt;</a:t>
            </a:r>
          </a:p>
          <a:p>
            <a:r>
              <a:rPr lang="en-US" altLang="ko-KR" sz="1200" dirty="0">
                <a:latin typeface="+mn-ea"/>
              </a:rPr>
              <a:t>       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&lt;a </a:t>
            </a:r>
            <a:r>
              <a:rPr lang="en-US" altLang="ko-KR" sz="1200" b="1" dirty="0" err="1">
                <a:solidFill>
                  <a:srgbClr val="FF0000"/>
                </a:solidFill>
                <a:latin typeface="+mn-ea"/>
              </a:rPr>
              <a:t>href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en-US" altLang="ko-KR" sz="1200" b="1" i="1" dirty="0" err="1">
                <a:solidFill>
                  <a:srgbClr val="FF0000"/>
                </a:solidFill>
                <a:latin typeface="+mn-ea"/>
              </a:rPr>
              <a:t>list.do?searchflag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=${</a:t>
            </a:r>
            <a:r>
              <a:rPr lang="en-US" altLang="ko-KR" sz="1200" b="1" i="1" dirty="0" err="1">
                <a:solidFill>
                  <a:srgbClr val="FF0000"/>
                </a:solidFill>
                <a:latin typeface="+mn-ea"/>
              </a:rPr>
              <a:t>searchflag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}&amp;opt=${opt}&amp;search=${search}&amp;page=${page-1 }"&gt;</a:t>
            </a:r>
            <a:r>
              <a:rPr lang="en-US" altLang="ko-KR" sz="1200" i="1" u="sng" dirty="0">
                <a:latin typeface="+mn-ea"/>
              </a:rPr>
              <a:t>&lt;li class="</a:t>
            </a:r>
            <a:r>
              <a:rPr lang="en-US" altLang="ko-KR" sz="1200" i="1" u="sng" dirty="0" err="1">
                <a:latin typeface="+mn-ea"/>
              </a:rPr>
              <a:t>prev</a:t>
            </a:r>
            <a:r>
              <a:rPr lang="en-US" altLang="ko-KR" sz="1200" i="1" u="sng" dirty="0">
                <a:latin typeface="+mn-ea"/>
              </a:rPr>
              <a:t>"&gt;&lt;/li&gt;&lt;/a&gt;</a:t>
            </a:r>
          </a:p>
          <a:p>
            <a:r>
              <a:rPr lang="en-US" altLang="ko-KR" sz="1200" dirty="0">
                <a:latin typeface="+mn-ea"/>
              </a:rPr>
              <a:t>      &lt;/</a:t>
            </a:r>
            <a:r>
              <a:rPr lang="en-US" altLang="ko-KR" sz="1200" dirty="0" err="1">
                <a:latin typeface="+mn-ea"/>
              </a:rPr>
              <a:t>c:if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ko-KR" altLang="en-US" sz="1200" dirty="0">
                <a:latin typeface="+mn-ea"/>
              </a:rPr>
              <a:t>      </a:t>
            </a:r>
            <a:r>
              <a:rPr lang="en-US" altLang="ko-KR" sz="1200" dirty="0">
                <a:latin typeface="+mn-ea"/>
              </a:rPr>
              <a:t>&lt;!-- </a:t>
            </a:r>
            <a:r>
              <a:rPr lang="ko-KR" altLang="en-US" sz="1200" dirty="0">
                <a:latin typeface="+mn-ea"/>
              </a:rPr>
              <a:t>순차적으로 페이지 출력 </a:t>
            </a:r>
            <a:r>
              <a:rPr lang="en-US" altLang="ko-KR" sz="1200" dirty="0">
                <a:latin typeface="+mn-ea"/>
              </a:rPr>
              <a:t>--&gt;</a:t>
            </a:r>
          </a:p>
          <a:p>
            <a:r>
              <a:rPr lang="en-US" altLang="ko-KR" sz="1200" dirty="0">
                <a:latin typeface="+mn-ea"/>
              </a:rPr>
              <a:t>      &lt;</a:t>
            </a:r>
            <a:r>
              <a:rPr lang="en-US" altLang="ko-KR" sz="1200" dirty="0" err="1">
                <a:latin typeface="+mn-ea"/>
              </a:rPr>
              <a:t>c:forEach</a:t>
            </a: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var</a:t>
            </a:r>
            <a:r>
              <a:rPr lang="en-US" altLang="ko-KR" sz="1200" dirty="0">
                <a:latin typeface="+mn-ea"/>
              </a:rPr>
              <a:t>=</a:t>
            </a:r>
            <a:r>
              <a:rPr lang="en-US" altLang="ko-KR" sz="1200" i="1" dirty="0">
                <a:latin typeface="+mn-ea"/>
              </a:rPr>
              <a:t>"a" begin="${</a:t>
            </a:r>
            <a:r>
              <a:rPr lang="en-US" altLang="ko-KR" sz="1200" i="1" dirty="0" err="1">
                <a:latin typeface="+mn-ea"/>
              </a:rPr>
              <a:t>startpage</a:t>
            </a:r>
            <a:r>
              <a:rPr lang="en-US" altLang="ko-KR" sz="1200" i="1" dirty="0">
                <a:latin typeface="+mn-ea"/>
              </a:rPr>
              <a:t>}" end="${</a:t>
            </a:r>
            <a:r>
              <a:rPr lang="en-US" altLang="ko-KR" sz="1200" i="1" dirty="0" err="1">
                <a:latin typeface="+mn-ea"/>
              </a:rPr>
              <a:t>endpage</a:t>
            </a:r>
            <a:r>
              <a:rPr lang="en-US" altLang="ko-KR" sz="1200" i="1" dirty="0">
                <a:latin typeface="+mn-ea"/>
              </a:rPr>
              <a:t> }" step="1"&gt;</a:t>
            </a:r>
          </a:p>
          <a:p>
            <a:r>
              <a:rPr lang="en-US" altLang="ko-KR" sz="1200" dirty="0">
                <a:latin typeface="+mn-ea"/>
              </a:rPr>
              <a:t>     &lt;</a:t>
            </a:r>
            <a:r>
              <a:rPr lang="en-US" altLang="ko-KR" sz="1200" dirty="0" err="1">
                <a:latin typeface="+mn-ea"/>
              </a:rPr>
              <a:t>c:choose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   &lt;</a:t>
            </a:r>
            <a:r>
              <a:rPr lang="en-US" altLang="ko-KR" sz="1200" dirty="0" err="1">
                <a:latin typeface="+mn-ea"/>
              </a:rPr>
              <a:t>c:when</a:t>
            </a:r>
            <a:r>
              <a:rPr lang="en-US" altLang="ko-KR" sz="1200" dirty="0">
                <a:latin typeface="+mn-ea"/>
              </a:rPr>
              <a:t> test=</a:t>
            </a:r>
            <a:r>
              <a:rPr lang="en-US" altLang="ko-KR" sz="1200" i="1" dirty="0">
                <a:latin typeface="+mn-ea"/>
              </a:rPr>
              <a:t>"${a == page }"&gt;</a:t>
            </a:r>
          </a:p>
          <a:p>
            <a:r>
              <a:rPr lang="it-IT" altLang="ko-KR" sz="1200" dirty="0">
                <a:latin typeface="+mn-ea"/>
              </a:rPr>
              <a:t>         &lt;li class=</a:t>
            </a:r>
            <a:r>
              <a:rPr lang="it-IT" altLang="ko-KR" sz="1200" i="1" dirty="0">
                <a:latin typeface="+mn-ea"/>
              </a:rPr>
              <a:t>"num"&gt;&lt;div&gt;${a}&lt;/div&gt;&lt;/li&gt;</a:t>
            </a:r>
          </a:p>
          <a:p>
            <a:r>
              <a:rPr lang="en-US" altLang="ko-KR" sz="1200" dirty="0">
                <a:latin typeface="+mn-ea"/>
              </a:rPr>
              <a:t>      &lt;/</a:t>
            </a:r>
            <a:r>
              <a:rPr lang="en-US" altLang="ko-KR" sz="1200" dirty="0" err="1">
                <a:latin typeface="+mn-ea"/>
              </a:rPr>
              <a:t>c:when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   &lt;</a:t>
            </a:r>
            <a:r>
              <a:rPr lang="en-US" altLang="ko-KR" sz="1200" dirty="0" err="1">
                <a:latin typeface="+mn-ea"/>
              </a:rPr>
              <a:t>c:when</a:t>
            </a:r>
            <a:r>
              <a:rPr lang="en-US" altLang="ko-KR" sz="1200" dirty="0">
                <a:latin typeface="+mn-ea"/>
              </a:rPr>
              <a:t> test=</a:t>
            </a:r>
            <a:r>
              <a:rPr lang="en-US" altLang="ko-KR" sz="1200" i="1" dirty="0">
                <a:latin typeface="+mn-ea"/>
              </a:rPr>
              <a:t>"${a != page }"&gt;</a:t>
            </a:r>
          </a:p>
          <a:p>
            <a:r>
              <a:rPr lang="en-US" altLang="ko-KR" sz="1200" dirty="0">
                <a:latin typeface="+mn-ea"/>
              </a:rPr>
              <a:t>        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&lt;a </a:t>
            </a:r>
            <a:r>
              <a:rPr lang="en-US" altLang="ko-KR" sz="1200" b="1" dirty="0" err="1">
                <a:solidFill>
                  <a:srgbClr val="FF0000"/>
                </a:solidFill>
                <a:latin typeface="+mn-ea"/>
              </a:rPr>
              <a:t>href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en-US" altLang="ko-KR" sz="1200" b="1" i="1" dirty="0" err="1">
                <a:solidFill>
                  <a:srgbClr val="FF0000"/>
                </a:solidFill>
                <a:latin typeface="+mn-ea"/>
              </a:rPr>
              <a:t>list.do?searchflag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=${</a:t>
            </a:r>
            <a:r>
              <a:rPr lang="en-US" altLang="ko-KR" sz="1200" b="1" i="1" dirty="0" err="1">
                <a:solidFill>
                  <a:srgbClr val="FF0000"/>
                </a:solidFill>
                <a:latin typeface="+mn-ea"/>
              </a:rPr>
              <a:t>searchflag</a:t>
            </a:r>
            <a:r>
              <a:rPr lang="en-US" altLang="ko-KR" sz="1200" b="1" i="1" dirty="0">
                <a:solidFill>
                  <a:srgbClr val="FF0000"/>
                </a:solidFill>
                <a:latin typeface="+mn-ea"/>
              </a:rPr>
              <a:t>}&amp;opt=${opt}&amp;search=${search}&amp;page=${a}"&gt;</a:t>
            </a:r>
            <a:r>
              <a:rPr lang="en-US" altLang="ko-KR" sz="1200" i="1" u="sng" dirty="0">
                <a:latin typeface="+mn-ea"/>
              </a:rPr>
              <a:t>&lt;li class="</a:t>
            </a:r>
            <a:r>
              <a:rPr lang="en-US" altLang="ko-KR" sz="1200" i="1" u="sng" dirty="0" err="1">
                <a:latin typeface="+mn-ea"/>
              </a:rPr>
              <a:t>num</a:t>
            </a:r>
            <a:r>
              <a:rPr lang="en-US" altLang="ko-KR" sz="1200" i="1" u="sng" dirty="0">
                <a:latin typeface="+mn-ea"/>
              </a:rPr>
              <a:t>"&gt;&lt;div&gt;${a}&lt;/div&gt;&lt;/li&gt;&lt;/a&gt;</a:t>
            </a:r>
          </a:p>
          <a:p>
            <a:r>
              <a:rPr lang="en-US" altLang="ko-KR" sz="1200" dirty="0">
                <a:latin typeface="+mn-ea"/>
              </a:rPr>
              <a:t>      &lt;/</a:t>
            </a:r>
            <a:r>
              <a:rPr lang="en-US" altLang="ko-KR" sz="1200" dirty="0" err="1">
                <a:latin typeface="+mn-ea"/>
              </a:rPr>
              <a:t>c:when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  &lt;/</a:t>
            </a:r>
            <a:r>
              <a:rPr lang="en-US" altLang="ko-KR" sz="1200" dirty="0" err="1">
                <a:latin typeface="+mn-ea"/>
              </a:rPr>
              <a:t>c:choose</a:t>
            </a:r>
            <a:r>
              <a:rPr lang="en-US" altLang="ko-KR" sz="1200" dirty="0">
                <a:latin typeface="+mn-ea"/>
              </a:rPr>
              <a:t>&gt; </a:t>
            </a:r>
          </a:p>
          <a:p>
            <a:r>
              <a:rPr lang="en-US" altLang="ko-KR" sz="1200" dirty="0">
                <a:latin typeface="+mn-ea"/>
              </a:rPr>
              <a:t>      &lt;/</a:t>
            </a:r>
            <a:r>
              <a:rPr lang="en-US" altLang="ko-KR" sz="1200" dirty="0" err="1">
                <a:latin typeface="+mn-ea"/>
              </a:rPr>
              <a:t>c:forEach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ko-KR" altLang="en-US" sz="1200" dirty="0">
                <a:latin typeface="+mn-ea"/>
              </a:rPr>
              <a:t>     </a:t>
            </a:r>
            <a:endParaRPr lang="en-US" altLang="ko-KR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0982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Blistcommand.java</a:t>
            </a:r>
            <a:r>
              <a:rPr lang="ko-KR" altLang="en-US" b="1" dirty="0"/>
              <a:t> </a:t>
            </a:r>
            <a:r>
              <a:rPr lang="en-US" altLang="ko-KR" b="1" dirty="0"/>
              <a:t>– 3</a:t>
            </a:r>
            <a:r>
              <a:rPr lang="ko-KR" altLang="en-US" b="1" dirty="0"/>
              <a:t>개 변수체크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String </a:t>
            </a:r>
            <a:r>
              <a:rPr lang="en-US" altLang="ko-KR" dirty="0" err="1"/>
              <a:t>searchflag</a:t>
            </a:r>
            <a:r>
              <a:rPr lang="en-US" altLang="ko-KR" dirty="0"/>
              <a:t>=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</a:t>
            </a:r>
            <a:r>
              <a:rPr lang="en-US" altLang="ko-KR" dirty="0" err="1"/>
              <a:t>searchflag</a:t>
            </a:r>
            <a:r>
              <a:rPr lang="en-US" altLang="ko-KR" dirty="0"/>
              <a:t>"); // </a:t>
            </a:r>
            <a:r>
              <a:rPr lang="ko-KR" altLang="en-US" dirty="0"/>
              <a:t>검색체크</a:t>
            </a:r>
          </a:p>
          <a:p>
            <a:r>
              <a:rPr lang="en-US" altLang="ko-KR" dirty="0"/>
              <a:t>String opt = 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("opt");  // </a:t>
            </a:r>
            <a:r>
              <a:rPr lang="ko-KR" altLang="en-US" dirty="0"/>
              <a:t>전체</a:t>
            </a:r>
            <a:r>
              <a:rPr lang="en-US" altLang="ko-KR" dirty="0"/>
              <a:t>,</a:t>
            </a:r>
            <a:r>
              <a:rPr lang="ko-KR" altLang="en-US" dirty="0"/>
              <a:t>제목</a:t>
            </a:r>
            <a:r>
              <a:rPr lang="en-US" altLang="ko-KR" dirty="0"/>
              <a:t>,</a:t>
            </a:r>
            <a:r>
              <a:rPr lang="ko-KR" altLang="en-US" dirty="0"/>
              <a:t>내용</a:t>
            </a:r>
          </a:p>
          <a:p>
            <a:r>
              <a:rPr lang="en-US" altLang="ko-KR" dirty="0"/>
              <a:t>String search = 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("search"); //</a:t>
            </a:r>
            <a:r>
              <a:rPr lang="ko-KR" altLang="en-US" dirty="0" err="1"/>
              <a:t>검색어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b="1" dirty="0"/>
              <a:t>if(opt==null) opt="";</a:t>
            </a:r>
          </a:p>
          <a:p>
            <a:r>
              <a:rPr lang="en-US" altLang="ko-KR" b="1" dirty="0"/>
              <a:t>if(search==null) search="";</a:t>
            </a: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----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600" b="1" dirty="0"/>
              <a:t>if(search!="") {</a:t>
            </a:r>
          </a:p>
          <a:p>
            <a:r>
              <a:rPr lang="en-US" altLang="ko-KR" sz="1600" dirty="0" err="1"/>
              <a:t>searchflag</a:t>
            </a:r>
            <a:r>
              <a:rPr lang="en-US" altLang="ko-KR" sz="1600" dirty="0"/>
              <a:t>="1";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</a:t>
            </a:r>
            <a:r>
              <a:rPr lang="en-US" altLang="ko-KR" sz="1600" dirty="0" err="1"/>
              <a:t>searchflag</a:t>
            </a:r>
            <a:r>
              <a:rPr lang="en-US" altLang="ko-KR" sz="1600" dirty="0"/>
              <a:t>", </a:t>
            </a:r>
            <a:r>
              <a:rPr lang="en-US" altLang="ko-KR" sz="1600" dirty="0" err="1"/>
              <a:t>searchflag</a:t>
            </a:r>
            <a:r>
              <a:rPr lang="en-US" altLang="ko-KR" sz="1600" dirty="0"/>
              <a:t>);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("opt", opt);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("search", search);</a:t>
            </a:r>
          </a:p>
          <a:p>
            <a:r>
              <a:rPr lang="en-US" altLang="ko-KR" sz="1600" dirty="0"/>
              <a:t>}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017182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Bdao.java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BDao.java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매개변수 </a:t>
            </a:r>
            <a:r>
              <a:rPr lang="en-US" altLang="ko-KR" b="1" dirty="0"/>
              <a:t>2</a:t>
            </a:r>
            <a:r>
              <a:rPr lang="ko-KR" altLang="en-US" b="1" dirty="0"/>
              <a:t>개 추가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//</a:t>
            </a:r>
            <a:r>
              <a:rPr lang="ko-KR" altLang="en-US" dirty="0"/>
              <a:t>전체 </a:t>
            </a:r>
            <a:r>
              <a:rPr lang="en-US" altLang="ko-KR" dirty="0"/>
              <a:t>select - list </a:t>
            </a:r>
          </a:p>
          <a:p>
            <a:r>
              <a:rPr lang="en-US" altLang="ko-KR" b="1" dirty="0"/>
              <a:t>public </a:t>
            </a:r>
            <a:r>
              <a:rPr lang="en-US" altLang="ko-KR" b="1" dirty="0" err="1"/>
              <a:t>ArrayList</a:t>
            </a:r>
            <a:r>
              <a:rPr lang="en-US" altLang="ko-KR" b="1" dirty="0"/>
              <a:t>&lt;</a:t>
            </a:r>
            <a:r>
              <a:rPr lang="en-US" altLang="ko-KR" b="1" dirty="0" err="1"/>
              <a:t>BDto</a:t>
            </a:r>
            <a:r>
              <a:rPr lang="en-US" altLang="ko-KR" b="1" dirty="0"/>
              <a:t>&gt; list(</a:t>
            </a:r>
            <a:r>
              <a:rPr lang="en-US" altLang="ko-KR" b="1" dirty="0" err="1"/>
              <a:t>int</a:t>
            </a:r>
            <a:r>
              <a:rPr lang="en-US" altLang="ko-KR" b="1" dirty="0"/>
              <a:t> </a:t>
            </a:r>
            <a:r>
              <a:rPr lang="en-US" altLang="ko-KR" b="1" dirty="0" err="1"/>
              <a:t>page,int</a:t>
            </a:r>
            <a:r>
              <a:rPr lang="en-US" altLang="ko-KR" b="1" dirty="0"/>
              <a:t> </a:t>
            </a:r>
            <a:r>
              <a:rPr lang="en-US" altLang="ko-KR" b="1" dirty="0" err="1"/>
              <a:t>limit,String</a:t>
            </a:r>
            <a:r>
              <a:rPr lang="en-US" altLang="ko-KR" b="1" dirty="0"/>
              <a:t> </a:t>
            </a:r>
            <a:r>
              <a:rPr lang="en-US" altLang="ko-KR" b="1" dirty="0" err="1"/>
              <a:t>opt,String</a:t>
            </a:r>
            <a:r>
              <a:rPr lang="en-US" altLang="ko-KR" b="1" dirty="0"/>
              <a:t> search) {</a:t>
            </a: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/>
              <a:t>switch (opt) {</a:t>
            </a:r>
          </a:p>
          <a:p>
            <a:r>
              <a:rPr lang="en-US" altLang="ko-KR" sz="1200" b="1" dirty="0"/>
              <a:t>case "":</a:t>
            </a:r>
          </a:p>
          <a:p>
            <a:pPr lvl="1"/>
            <a:r>
              <a:rPr lang="en-US" altLang="ko-KR" sz="1200" dirty="0" err="1"/>
              <a:t>sql</a:t>
            </a:r>
            <a:r>
              <a:rPr lang="en-US" altLang="ko-KR" sz="1200" dirty="0"/>
              <a:t>="select * from "</a:t>
            </a:r>
          </a:p>
          <a:p>
            <a:pPr lvl="1"/>
            <a:r>
              <a:rPr lang="en-US" altLang="ko-KR" sz="1200" dirty="0"/>
              <a:t>+ "(select </a:t>
            </a:r>
            <a:r>
              <a:rPr lang="en-US" altLang="ko-KR" sz="1200" dirty="0" err="1"/>
              <a:t>rownum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rnum,bid,bname,btitle,bcontent,bdate,bhit,bgroup,bstep,bindent</a:t>
            </a:r>
            <a:r>
              <a:rPr lang="en-US" altLang="ko-KR" sz="1200" dirty="0"/>
              <a:t> from"</a:t>
            </a:r>
          </a:p>
          <a:p>
            <a:pPr lvl="1"/>
            <a:r>
              <a:rPr lang="en-US" altLang="ko-KR" sz="1200" dirty="0"/>
              <a:t>+ "(select * from </a:t>
            </a:r>
            <a:r>
              <a:rPr lang="en-US" altLang="ko-KR" sz="1200" dirty="0" err="1"/>
              <a:t>mvc_board</a:t>
            </a:r>
            <a:r>
              <a:rPr lang="en-US" altLang="ko-KR" sz="1200" dirty="0"/>
              <a:t> order by </a:t>
            </a:r>
            <a:r>
              <a:rPr lang="en-US" altLang="ko-KR" sz="1200" dirty="0" err="1"/>
              <a:t>bgroup</a:t>
            </a:r>
            <a:r>
              <a:rPr lang="en-US" altLang="ko-KR" sz="1200" dirty="0"/>
              <a:t> </a:t>
            </a:r>
            <a:r>
              <a:rPr lang="en-US" altLang="ko-KR" sz="1200" dirty="0" err="1"/>
              <a:t>desc,bid</a:t>
            </a:r>
            <a:r>
              <a:rPr lang="en-US" altLang="ko-KR" sz="1200" dirty="0"/>
              <a:t> </a:t>
            </a:r>
            <a:r>
              <a:rPr lang="en-US" altLang="ko-KR" sz="1200" dirty="0" err="1"/>
              <a:t>asc</a:t>
            </a:r>
            <a:r>
              <a:rPr lang="en-US" altLang="ko-KR" sz="1200" dirty="0"/>
              <a:t>))"</a:t>
            </a:r>
          </a:p>
          <a:p>
            <a:pPr lvl="1"/>
            <a:r>
              <a:rPr lang="en-US" altLang="ko-KR" sz="1200" dirty="0"/>
              <a:t>+ "where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&gt;=? and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&lt;=?";</a:t>
            </a:r>
          </a:p>
          <a:p>
            <a:r>
              <a:rPr lang="en-US" altLang="ko-KR" sz="1200" b="1" dirty="0"/>
              <a:t>break;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b="1" dirty="0"/>
              <a:t>case "all":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sql</a:t>
            </a:r>
            <a:r>
              <a:rPr lang="en-US" altLang="ko-KR" sz="1200" dirty="0"/>
              <a:t>="select * from "</a:t>
            </a:r>
          </a:p>
          <a:p>
            <a:r>
              <a:rPr lang="en-US" altLang="ko-KR" sz="1200" dirty="0"/>
              <a:t>        + "(select </a:t>
            </a:r>
            <a:r>
              <a:rPr lang="en-US" altLang="ko-KR" sz="1200" dirty="0" err="1"/>
              <a:t>rownum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rnum,bid,bname,btitle,bcontent,bdate,bhit,bgroup,bstep,bindent</a:t>
            </a:r>
            <a:r>
              <a:rPr lang="en-US" altLang="ko-KR" sz="1200" dirty="0"/>
              <a:t> from"</a:t>
            </a:r>
          </a:p>
          <a:p>
            <a:r>
              <a:rPr lang="en-US" altLang="ko-KR" sz="1200" dirty="0"/>
              <a:t>        + "(select * from </a:t>
            </a:r>
            <a:r>
              <a:rPr lang="en-US" altLang="ko-KR" sz="1200" dirty="0" err="1"/>
              <a:t>mvc_board</a:t>
            </a:r>
            <a:r>
              <a:rPr lang="en-US" altLang="ko-KR" sz="1200" dirty="0"/>
              <a:t> where </a:t>
            </a:r>
            <a:r>
              <a:rPr lang="en-US" altLang="ko-KR" sz="1200" dirty="0" err="1"/>
              <a:t>btitle</a:t>
            </a:r>
            <a:r>
              <a:rPr lang="en-US" altLang="ko-KR" sz="1200" dirty="0"/>
              <a:t> like '%?%' or </a:t>
            </a:r>
            <a:r>
              <a:rPr lang="en-US" altLang="ko-KR" sz="1200" dirty="0" err="1"/>
              <a:t>bcontent</a:t>
            </a:r>
            <a:r>
              <a:rPr lang="en-US" altLang="ko-KR" sz="1200" dirty="0"/>
              <a:t> like ‘%?%' order by </a:t>
            </a:r>
            <a:r>
              <a:rPr lang="en-US" altLang="ko-KR" sz="1200" dirty="0" err="1"/>
              <a:t>bgroup</a:t>
            </a:r>
            <a:r>
              <a:rPr lang="en-US" altLang="ko-KR" sz="1200" dirty="0"/>
              <a:t> </a:t>
            </a:r>
            <a:r>
              <a:rPr lang="en-US" altLang="ko-KR" sz="1200" dirty="0" err="1"/>
              <a:t>desc,bid</a:t>
            </a:r>
            <a:r>
              <a:rPr lang="en-US" altLang="ko-KR" sz="1200" dirty="0"/>
              <a:t> </a:t>
            </a:r>
            <a:r>
              <a:rPr lang="en-US" altLang="ko-KR" sz="1200" dirty="0" err="1"/>
              <a:t>asc</a:t>
            </a:r>
            <a:r>
              <a:rPr lang="en-US" altLang="ko-KR" sz="1200" dirty="0"/>
              <a:t>))"</a:t>
            </a:r>
          </a:p>
          <a:p>
            <a:r>
              <a:rPr lang="en-US" altLang="ko-KR" sz="1200" dirty="0"/>
              <a:t>        + "where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&gt;=? and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&lt;=?";</a:t>
            </a:r>
          </a:p>
          <a:p>
            <a:r>
              <a:rPr lang="en-US" altLang="ko-KR" sz="1200" b="1" dirty="0"/>
              <a:t>break;</a:t>
            </a:r>
          </a:p>
          <a:p>
            <a:endParaRPr lang="en-US" altLang="ko-KR" sz="1200" b="1" dirty="0"/>
          </a:p>
          <a:p>
            <a:r>
              <a:rPr lang="en-US" altLang="ko-KR" sz="1200" b="1" dirty="0"/>
              <a:t>.</a:t>
            </a:r>
          </a:p>
          <a:p>
            <a:r>
              <a:rPr lang="en-US" altLang="ko-KR" sz="1200" b="1" dirty="0"/>
              <a:t>.</a:t>
            </a:r>
          </a:p>
          <a:p>
            <a:r>
              <a:rPr lang="en-US" altLang="ko-KR" sz="1200" b="1" dirty="0"/>
              <a:t>.</a:t>
            </a:r>
          </a:p>
          <a:p>
            <a:r>
              <a:rPr lang="en-US" altLang="ko-KR" sz="1200" dirty="0" err="1"/>
              <a:t>pstmt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con.prepareStatement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sql</a:t>
            </a:r>
            <a:r>
              <a:rPr lang="en-US" altLang="ko-KR" sz="1200" dirty="0"/>
              <a:t>);</a:t>
            </a:r>
          </a:p>
          <a:p>
            <a:r>
              <a:rPr lang="en-US" altLang="ko-KR" sz="1200" b="1" dirty="0" err="1">
                <a:solidFill>
                  <a:srgbClr val="FF0000"/>
                </a:solidFill>
              </a:rPr>
              <a:t>pstmt.setString</a:t>
            </a:r>
            <a:r>
              <a:rPr lang="en-US" altLang="ko-KR" sz="1200" b="1" dirty="0">
                <a:solidFill>
                  <a:srgbClr val="FF0000"/>
                </a:solidFill>
              </a:rPr>
              <a:t>(1,”%”+search+”%”);</a:t>
            </a:r>
          </a:p>
          <a:p>
            <a:r>
              <a:rPr lang="en-US" altLang="ko-KR" sz="1200" dirty="0" err="1"/>
              <a:t>pstmt.setInt</a:t>
            </a:r>
            <a:r>
              <a:rPr lang="en-US" altLang="ko-KR" sz="1200" dirty="0"/>
              <a:t>(2, </a:t>
            </a:r>
            <a:r>
              <a:rPr lang="en-US" altLang="ko-KR" sz="1200" dirty="0" err="1"/>
              <a:t>startrow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 err="1"/>
              <a:t>pstmt.setInt</a:t>
            </a:r>
            <a:r>
              <a:rPr lang="en-US" altLang="ko-KR" sz="1200" dirty="0"/>
              <a:t>(3, </a:t>
            </a:r>
            <a:r>
              <a:rPr lang="en-US" altLang="ko-KR" sz="1200" dirty="0" err="1"/>
              <a:t>endrow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 err="1"/>
              <a:t>rs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pstmt.executeQuery</a:t>
            </a:r>
            <a:r>
              <a:rPr lang="en-US" altLang="ko-KR" sz="1200" dirty="0"/>
              <a:t>();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477755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30-1.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E97C42-9C6B-44B5-8E47-1BD763D9CB0F}"/>
              </a:ext>
            </a:extLst>
          </p:cNvPr>
          <p:cNvSpPr txBox="1"/>
          <p:nvPr/>
        </p:nvSpPr>
        <p:spPr>
          <a:xfrm>
            <a:off x="711666" y="2066400"/>
            <a:ext cx="108231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c:choose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c:when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7F007F"/>
                </a:solidFill>
                <a:latin typeface="Consolas" panose="020B0609020204030204" pitchFamily="49" charset="0"/>
              </a:rPr>
              <a:t>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altLang="ko-KR" sz="16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not empty </a:t>
            </a:r>
            <a:r>
              <a:rPr lang="en-US" altLang="ko-K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sessionScope.naver_usernName</a:t>
            </a:r>
            <a:r>
              <a:rPr lang="en-US" altLang="ko-K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r>
              <a:rPr lang="en-US" altLang="ko-K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b="1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a </a:t>
            </a:r>
            <a:r>
              <a:rPr lang="en-US" altLang="ko-KR" sz="1600" dirty="0" err="1">
                <a:solidFill>
                  <a:srgbClr val="7F007F"/>
                </a:solidFill>
                <a:latin typeface="Consolas" panose="020B0609020204030204" pitchFamily="49" charset="0"/>
              </a:rPr>
              <a:t>href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"member_info.do"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altLang="ko-K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naver_usernName</a:t>
            </a:r>
            <a:r>
              <a:rPr lang="en-US" altLang="ko-K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} </a:t>
            </a:r>
            <a:r>
              <a:rPr lang="ko-KR" alt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님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a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a </a:t>
            </a:r>
            <a:r>
              <a:rPr lang="en-US" altLang="ko-KR" sz="1600" dirty="0" err="1">
                <a:solidFill>
                  <a:srgbClr val="7F007F"/>
                </a:solidFill>
                <a:latin typeface="Consolas" panose="020B0609020204030204" pitchFamily="49" charset="0"/>
              </a:rPr>
              <a:t>href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"logout.do"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로그아웃 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a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c:when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c:otherwise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script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window.onload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(){ alert(</a:t>
            </a:r>
            <a:r>
              <a:rPr lang="en-US" altLang="ko-K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로그인이 필요합니다</a:t>
            </a:r>
            <a:r>
              <a:rPr lang="en-US" altLang="ko-K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.!"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);}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script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3F7F7F"/>
                </a:solidFill>
                <a:latin typeface="Consolas" panose="020B0609020204030204" pitchFamily="49" charset="0"/>
              </a:rPr>
              <a:t>a </a:t>
            </a:r>
            <a:r>
              <a:rPr lang="en-US" altLang="ko-KR" sz="1600" dirty="0" err="1">
                <a:solidFill>
                  <a:srgbClr val="7F007F"/>
                </a:solidFill>
                <a:latin typeface="Consolas" panose="020B0609020204030204" pitchFamily="49" charset="0"/>
              </a:rPr>
              <a:t>href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“login.do”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로그인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a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i="1" dirty="0">
                <a:solidFill>
                  <a:srgbClr val="3F7F7F"/>
                </a:solidFill>
                <a:latin typeface="Consolas" panose="020B0609020204030204" pitchFamily="49" charset="0"/>
              </a:rPr>
              <a:t>li</a:t>
            </a:r>
            <a:r>
              <a:rPr lang="en-US" altLang="ko-KR" sz="16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c:otherwise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</a:t>
            </a:r>
          </a:p>
          <a:p>
            <a:pPr algn="l"/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 err="1">
                <a:solidFill>
                  <a:srgbClr val="3F7F7F"/>
                </a:solidFill>
                <a:latin typeface="Consolas" panose="020B0609020204030204" pitchFamily="49" charset="0"/>
              </a:rPr>
              <a:t>c:choose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85A4B-F800-4836-B3A0-20BAC91E026F}"/>
              </a:ext>
            </a:extLst>
          </p:cNvPr>
          <p:cNvSpPr txBox="1"/>
          <p:nvPr/>
        </p:nvSpPr>
        <p:spPr>
          <a:xfrm>
            <a:off x="677008" y="161149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jsp</a:t>
            </a:r>
            <a:r>
              <a:rPr lang="ko-KR" altLang="en-US" b="1" dirty="0"/>
              <a:t>페이지에서 </a:t>
            </a:r>
            <a:r>
              <a:rPr lang="en-US" altLang="ko-KR" b="1" dirty="0"/>
              <a:t>session </a:t>
            </a:r>
            <a:r>
              <a:rPr lang="ko-KR" altLang="en-US" b="1" dirty="0"/>
              <a:t>체크 </a:t>
            </a:r>
            <a:r>
              <a:rPr lang="en-US" altLang="ko-KR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3608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6009</TotalTime>
  <Words>1998</Words>
  <Application>Microsoft Office PowerPoint</Application>
  <PresentationFormat>와이드스크린</PresentationFormat>
  <Paragraphs>280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lee-pc</cp:lastModifiedBy>
  <cp:revision>1575</cp:revision>
  <dcterms:created xsi:type="dcterms:W3CDTF">2014-12-01T08:37:15Z</dcterms:created>
  <dcterms:modified xsi:type="dcterms:W3CDTF">2021-06-01T11:01:23Z</dcterms:modified>
</cp:coreProperties>
</file>