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99" r:id="rId2"/>
    <p:sldId id="401" r:id="rId3"/>
    <p:sldId id="415" r:id="rId4"/>
    <p:sldId id="417" r:id="rId5"/>
    <p:sldId id="419" r:id="rId6"/>
    <p:sldId id="420" r:id="rId7"/>
    <p:sldId id="421" r:id="rId8"/>
    <p:sldId id="352" r:id="rId9"/>
    <p:sldId id="418" r:id="rId10"/>
    <p:sldId id="416" r:id="rId11"/>
    <p:sldId id="413" r:id="rId12"/>
    <p:sldId id="414" r:id="rId13"/>
    <p:sldId id="407" r:id="rId14"/>
    <p:sldId id="408" r:id="rId15"/>
    <p:sldId id="406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719"/>
    <a:srgbClr val="FFDA1A"/>
    <a:srgbClr val="86EAEF"/>
    <a:srgbClr val="EFD5B2"/>
    <a:srgbClr val="6BC0FF"/>
    <a:srgbClr val="4785B8"/>
    <a:srgbClr val="396E9A"/>
    <a:srgbClr val="174366"/>
    <a:srgbClr val="000000"/>
    <a:srgbClr val="4B5C75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90" y="1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0A07CD-7CF1-42E6-88F0-1E16322EAFE4}" type="datetimeFigureOut">
              <a:rPr lang="ko-KR" altLang="en-US" smtClean="0"/>
              <a:t>2023-12-05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571B74-8A38-4139-8F3A-2A7FCD344B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054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E0B428E5-4487-4DFD-8F28-9D964CD37D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084DD16E-187C-4E7E-ABBE-F6BAC9F37A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A88A4909-5F9B-4C27-B710-67153ABAF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ADB4A-3A8B-4072-ACF2-B9A64CC5A17A}" type="datetimeFigureOut">
              <a:rPr lang="ko-KR" altLang="en-US" smtClean="0"/>
              <a:t>2023-12-05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ECFC0D00-E907-440E-A201-CB22D51C4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04CD4DB-7CDF-4DC5-A588-36FF3B79E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92F1-F94B-4A11-B68E-69D397619E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9937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3CC0765E-FEE5-4F3E-B758-957F9D1DD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0B8203BB-146D-4B44-AA2A-D336C0BFB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4FEA8557-8690-42D1-8E15-36046512D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ADB4A-3A8B-4072-ACF2-B9A64CC5A17A}" type="datetimeFigureOut">
              <a:rPr lang="ko-KR" altLang="en-US" smtClean="0"/>
              <a:t>2023-12-05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6D162651-A169-457B-99EA-EA1182CF1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7244B403-3C1C-4CE4-AA5F-DF4C2A7CB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92F1-F94B-4A11-B68E-69D397619E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1689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830486F1-7E70-4862-B180-2F6D6C675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36908656-EF8F-48E0-9146-072072465B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B16B4667-8BEE-4EC9-BA83-01E5A6FD4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ADB4A-3A8B-4072-ACF2-B9A64CC5A17A}" type="datetimeFigureOut">
              <a:rPr lang="ko-KR" altLang="en-US" smtClean="0"/>
              <a:t>2023-12-05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4F9D9826-20A3-4308-8A7E-4443ADE46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A7094DF9-3D1A-4060-B052-7334DBE8C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92F1-F94B-4A11-B68E-69D397619E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9082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9F522D55-7DBF-4DF1-AA0F-67C643A6A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3B12F76A-C30B-4227-9FF3-E27F34C3E1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67C20396-A042-42DD-9F0A-41B357119C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AC3142A1-0A63-479E-9A20-AF9E0235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ADB4A-3A8B-4072-ACF2-B9A64CC5A17A}" type="datetimeFigureOut">
              <a:rPr lang="ko-KR" altLang="en-US" smtClean="0"/>
              <a:t>2023-12-05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ADA1015A-5E4C-48EF-B12F-BAC88CCB5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46BA470E-15C8-4466-BB2E-CE85324BD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92F1-F94B-4A11-B68E-69D397619E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2723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E1AA09FD-4F6B-48E5-BE06-783FEA30E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DFAB8419-E738-4085-9DEA-BCA42D09E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0F587FC7-027E-491E-BED2-077EECD8E7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52F5D329-9162-4215-8C89-91A50AF8A2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="" xmlns:a16="http://schemas.microsoft.com/office/drawing/2014/main" id="{E0CA0DCA-1843-474C-A22A-E55A19E91A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="" xmlns:a16="http://schemas.microsoft.com/office/drawing/2014/main" id="{D80573AA-E75C-4AEF-B12E-B708309CD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ADB4A-3A8B-4072-ACF2-B9A64CC5A17A}" type="datetimeFigureOut">
              <a:rPr lang="ko-KR" altLang="en-US" smtClean="0"/>
              <a:t>2023-12-05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="" xmlns:a16="http://schemas.microsoft.com/office/drawing/2014/main" id="{B403317B-845F-46B5-AEAD-5D1A351ED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="" xmlns:a16="http://schemas.microsoft.com/office/drawing/2014/main" id="{C00B0CCC-652B-4FAD-9905-871FB0B13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92F1-F94B-4A11-B68E-69D397619E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5134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B3211D18-6A50-431A-910D-D067F0BD7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="" xmlns:a16="http://schemas.microsoft.com/office/drawing/2014/main" id="{0FD8662F-716A-4A1D-B2EA-998F00F97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ADB4A-3A8B-4072-ACF2-B9A64CC5A17A}" type="datetimeFigureOut">
              <a:rPr lang="ko-KR" altLang="en-US" smtClean="0"/>
              <a:t>2023-12-05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="" xmlns:a16="http://schemas.microsoft.com/office/drawing/2014/main" id="{41E16FA2-A4DB-4FA7-9701-60D7AF426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="" xmlns:a16="http://schemas.microsoft.com/office/drawing/2014/main" id="{4FB5A49D-3517-4E67-A938-EB73ECC0C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92F1-F94B-4A11-B68E-69D397619E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1021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="" xmlns:a16="http://schemas.microsoft.com/office/drawing/2014/main" id="{977F62E5-67D8-42BE-9DF1-88D6EFCA1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ADB4A-3A8B-4072-ACF2-B9A64CC5A17A}" type="datetimeFigureOut">
              <a:rPr lang="ko-KR" altLang="en-US" smtClean="0"/>
              <a:t>2023-12-05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="" xmlns:a16="http://schemas.microsoft.com/office/drawing/2014/main" id="{0D1683B0-EB4C-4A8A-96E4-0FF5D6FD7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53859FCB-EB4F-4D28-900A-B3B9CC0A0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92F1-F94B-4A11-B68E-69D397619E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0385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="" xmlns:a16="http://schemas.microsoft.com/office/drawing/2014/main" id="{977F62E5-67D8-42BE-9DF1-88D6EFCA1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ADB4A-3A8B-4072-ACF2-B9A64CC5A17A}" type="datetimeFigureOut">
              <a:rPr lang="ko-KR" altLang="en-US" smtClean="0"/>
              <a:t>2023-12-05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="" xmlns:a16="http://schemas.microsoft.com/office/drawing/2014/main" id="{0D1683B0-EB4C-4A8A-96E4-0FF5D6FD7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53859FCB-EB4F-4D28-900A-B3B9CC0A0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92F1-F94B-4A11-B68E-69D397619E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5466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59BD9945-F253-480F-B350-42D887245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3EAA3872-D885-4E5E-93E0-787173DD7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51EA71B0-39FE-4979-8EEE-D65F5EED9F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F1FD771C-80C4-4A89-9DDE-75DEF39A4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ADB4A-3A8B-4072-ACF2-B9A64CC5A17A}" type="datetimeFigureOut">
              <a:rPr lang="ko-KR" altLang="en-US" smtClean="0"/>
              <a:t>2023-12-05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701BA1B2-C8F1-4247-A6DE-B7406BF01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E95EDE68-03B7-446B-9B78-5F31A3A37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92F1-F94B-4A11-B68E-69D397619E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9495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52966B7B-1EDC-4343-9BA3-A7E1981C8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="" xmlns:a16="http://schemas.microsoft.com/office/drawing/2014/main" id="{195A37DD-A068-47F0-B5E9-276C85D0A7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F0B77AA3-0D93-4AAE-923B-6CB8DC910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8B4F825F-B1F5-43F1-867C-C0771F648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ADB4A-3A8B-4072-ACF2-B9A64CC5A17A}" type="datetimeFigureOut">
              <a:rPr lang="ko-KR" altLang="en-US" smtClean="0"/>
              <a:t>2023-12-05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A1DF479B-B03B-4053-AC71-D2F3CCE3E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8E3258AE-092A-4CB5-839C-AEFEF5417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92F1-F94B-4A11-B68E-69D397619E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75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D32D5B9B-7087-4278-8D9F-742BE7B1F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33D46886-A0A8-4BC6-BC27-C23665A860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15FFBE18-7E7B-464D-AD6B-7728D2936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ADB4A-3A8B-4072-ACF2-B9A64CC5A17A}" type="datetimeFigureOut">
              <a:rPr lang="ko-KR" altLang="en-US" smtClean="0"/>
              <a:t>2023-12-05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39FB71CC-82EF-4AF7-B753-454DFD33D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6061512D-1F1E-4E61-8590-1679657EA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92F1-F94B-4A11-B68E-69D397619E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43167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="" xmlns:a16="http://schemas.microsoft.com/office/drawing/2014/main" id="{13D78E37-5232-46D5-834E-28C0916B63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A0468B19-65B1-488C-AE29-F57BCDB927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DF0112E3-2C15-484C-AA1B-F968958EA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ADB4A-3A8B-4072-ACF2-B9A64CC5A17A}" type="datetimeFigureOut">
              <a:rPr lang="ko-KR" altLang="en-US" smtClean="0"/>
              <a:t>2023-12-05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0F28E4BE-748D-4FB8-BC6B-A661EC4E8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24E3EE48-1179-4BE7-B1F5-AAA66B518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92F1-F94B-4A11-B68E-69D397619E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9130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="" xmlns:a16="http://schemas.microsoft.com/office/drawing/2014/main" id="{64E0DACC-CEE6-4418-B167-457C89CF0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C29CE159-3C04-447D-A17B-131FA83178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7C73AF69-C0A0-4CD9-9332-EB467E43C9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1ADB4A-3A8B-4072-ACF2-B9A64CC5A17A}" type="datetimeFigureOut">
              <a:rPr lang="ko-KR" altLang="en-US" smtClean="0"/>
              <a:t>2023-12-05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B7477B31-56FC-4575-A118-0FB21F2D81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987745DC-A89F-4B55-AEDC-D856DADB58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DD92F1-F94B-4A11-B68E-69D397619E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5376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2700"/>
            <a:ext cx="12192000" cy="6858000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420101" y="448871"/>
            <a:ext cx="11351799" cy="5960258"/>
          </a:xfrm>
          <a:prstGeom prst="rect">
            <a:avLst/>
          </a:prstGeom>
          <a:solidFill>
            <a:srgbClr val="0058A3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4277532" y="2454601"/>
            <a:ext cx="71118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4800" kern="1800" spc="300" dirty="0" smtClean="0">
                <a:solidFill>
                  <a:schemeClr val="bg1"/>
                </a:solidFill>
                <a:latin typeface="+mj-ea"/>
                <a:ea typeface="+mj-ea"/>
              </a:rPr>
              <a:t>07</a:t>
            </a:r>
            <a:r>
              <a:rPr lang="ko-KR" altLang="en-US" sz="4800" kern="1800" spc="300" dirty="0" smtClean="0">
                <a:solidFill>
                  <a:schemeClr val="bg1"/>
                </a:solidFill>
                <a:latin typeface="+mj-ea"/>
                <a:ea typeface="+mj-ea"/>
              </a:rPr>
              <a:t>강</a:t>
            </a:r>
            <a:r>
              <a:rPr lang="en-US" altLang="ko-KR" sz="4800" kern="1800" spc="300" dirty="0" smtClean="0">
                <a:solidFill>
                  <a:schemeClr val="bg1"/>
                </a:solidFill>
                <a:latin typeface="+mj-ea"/>
                <a:ea typeface="+mj-ea"/>
              </a:rPr>
              <a:t>. servlet </a:t>
            </a:r>
            <a:r>
              <a:rPr lang="ko-KR" altLang="en-US" sz="4800" kern="1800" spc="300" dirty="0" smtClean="0">
                <a:solidFill>
                  <a:schemeClr val="bg1"/>
                </a:solidFill>
                <a:latin typeface="+mj-ea"/>
                <a:ea typeface="+mj-ea"/>
              </a:rPr>
              <a:t>구현</a:t>
            </a:r>
            <a:r>
              <a:rPr lang="en-US" altLang="ko-KR" sz="4800" kern="1800" spc="300" dirty="0" smtClean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ko-KR" sz="4800" kern="1800" spc="3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4414" y="2549330"/>
            <a:ext cx="697791" cy="697791"/>
          </a:xfrm>
          <a:prstGeom prst="rect">
            <a:avLst/>
          </a:prstGeom>
          <a:ln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95410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89"/>
    </mc:Choice>
    <mc:Fallback xmlns="">
      <p:transition spd="slow" advTm="338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="" xmlns:a16="http://schemas.microsoft.com/office/drawing/2014/main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="" xmlns:a16="http://schemas.microsoft.com/office/drawing/2014/main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="" xmlns:a16="http://schemas.microsoft.com/office/drawing/2014/main" id="{CB80EB46-A41F-42D1-925C-1E1D34396238}"/>
              </a:ext>
            </a:extLst>
          </p:cNvPr>
          <p:cNvSpPr txBox="1"/>
          <p:nvPr/>
        </p:nvSpPr>
        <p:spPr>
          <a:xfrm>
            <a:off x="660400" y="203587"/>
            <a:ext cx="1112606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HTML form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태그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="" xmlns:a16="http://schemas.microsoft.com/office/drawing/2014/main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1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="" xmlns:a16="http://schemas.microsoft.com/office/drawing/2014/main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/>
          <p:cNvSpPr/>
          <p:nvPr/>
        </p:nvSpPr>
        <p:spPr>
          <a:xfrm>
            <a:off x="416359" y="1117801"/>
            <a:ext cx="11370102" cy="36933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>
                <a:latin typeface="NanumBarunGothic" panose="020B0603020101020101" pitchFamily="50" charset="-127"/>
                <a:ea typeface="NanumBarunGothic" panose="020B0603020101020101" pitchFamily="50" charset="-127"/>
              </a:rPr>
              <a:t>Html</a:t>
            </a:r>
            <a:r>
              <a:rPr lang="ko-KR" altLang="en-US" dirty="0">
                <a:latin typeface="NanumBarunGothic" panose="020B0603020101020101" pitchFamily="50" charset="-127"/>
                <a:ea typeface="NanumBarunGothic" panose="020B0603020101020101" pitchFamily="50" charset="-127"/>
              </a:rPr>
              <a:t>의 </a:t>
            </a:r>
            <a:r>
              <a:rPr lang="en-US" altLang="ko-KR" dirty="0">
                <a:latin typeface="NanumBarunGothic" panose="020B0603020101020101" pitchFamily="50" charset="-127"/>
                <a:ea typeface="NanumBarunGothic" panose="020B0603020101020101" pitchFamily="50" charset="-127"/>
              </a:rPr>
              <a:t>form</a:t>
            </a:r>
            <a:r>
              <a:rPr lang="ko-KR" altLang="en-US" dirty="0">
                <a:latin typeface="NanumBarunGothic" panose="020B0603020101020101" pitchFamily="50" charset="-127"/>
                <a:ea typeface="NanumBarunGothic" panose="020B0603020101020101" pitchFamily="50" charset="-127"/>
              </a:rPr>
              <a:t>태그 </a:t>
            </a:r>
            <a:r>
              <a:rPr lang="en-US" altLang="ko-KR" dirty="0">
                <a:latin typeface="NanumBarunGothic" panose="020B0603020101020101" pitchFamily="50" charset="-127"/>
                <a:ea typeface="NanumBarunGothic" panose="020B0603020101020101" pitchFamily="50" charset="-127"/>
              </a:rPr>
              <a:t>: </a:t>
            </a:r>
            <a:r>
              <a:rPr lang="ko-KR" altLang="en-US" dirty="0" err="1">
                <a:latin typeface="NanumBarunGothic" panose="020B0603020101020101" pitchFamily="50" charset="-127"/>
                <a:ea typeface="NanumBarunGothic" panose="020B0603020101020101" pitchFamily="50" charset="-127"/>
              </a:rPr>
              <a:t>서버쪽으로</a:t>
            </a:r>
            <a:r>
              <a:rPr lang="ko-KR" altLang="en-US" dirty="0">
                <a:latin typeface="NanumBarunGothic" panose="020B0603020101020101" pitchFamily="50" charset="-127"/>
                <a:ea typeface="NanumBarunGothic" panose="020B0603020101020101" pitchFamily="50" charset="-127"/>
              </a:rPr>
              <a:t> 정보를 전달할 때 사용하는 태그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="" xmlns:a16="http://schemas.microsoft.com/office/drawing/2014/main" id="{F96FD223-81B1-5F9A-DBD5-5538A7EDBD82}"/>
              </a:ext>
            </a:extLst>
          </p:cNvPr>
          <p:cNvSpPr/>
          <p:nvPr/>
        </p:nvSpPr>
        <p:spPr>
          <a:xfrm>
            <a:off x="3855309" y="1755016"/>
            <a:ext cx="7488194" cy="20784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action : </a:t>
            </a:r>
            <a:r>
              <a:rPr lang="ko-KR" altLang="en-US" sz="16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폼을 전송할 서버 쪽 스크립트 파일을 지정</a:t>
            </a:r>
          </a:p>
          <a:p>
            <a:r>
              <a:rPr lang="en-US" altLang="ko-KR" sz="16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name : </a:t>
            </a:r>
            <a:r>
              <a:rPr lang="ko-KR" altLang="en-US" sz="16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폼을 식별하기 위한 이름을 지정</a:t>
            </a:r>
          </a:p>
          <a:p>
            <a:r>
              <a:rPr lang="en-US" altLang="ko-KR" sz="16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target : action</a:t>
            </a:r>
            <a:r>
              <a:rPr lang="ko-KR" altLang="en-US" sz="16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에서 이동할 페이지 위치를 지정 </a:t>
            </a:r>
            <a:r>
              <a:rPr lang="en-US" altLang="ko-KR" sz="16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 </a:t>
            </a:r>
            <a:r>
              <a:rPr lang="ko-KR" altLang="en-US" sz="16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현재창 또는 </a:t>
            </a:r>
            <a:r>
              <a:rPr lang="ko-KR" altLang="en-US" sz="1600" spc="-15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새창</a:t>
            </a:r>
            <a:r>
              <a:rPr lang="ko-KR" altLang="en-US" sz="16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6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r>
              <a:rPr lang="en-US" altLang="ko-KR" sz="16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method : </a:t>
            </a:r>
            <a:r>
              <a:rPr lang="ko-KR" altLang="en-US" sz="16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폼을 서버에 전송할 </a:t>
            </a:r>
            <a:r>
              <a:rPr lang="en-US" altLang="ko-KR" sz="16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http </a:t>
            </a:r>
            <a:r>
              <a:rPr lang="ko-KR" altLang="en-US" sz="1600" spc="-15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메소드</a:t>
            </a:r>
            <a:r>
              <a:rPr lang="ko-KR" altLang="en-US" sz="16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지정 </a:t>
            </a:r>
            <a:r>
              <a:rPr lang="en-US" altLang="ko-KR" sz="16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(GET </a:t>
            </a:r>
            <a:r>
              <a:rPr lang="ko-KR" altLang="en-US" sz="16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또는 </a:t>
            </a:r>
            <a:r>
              <a:rPr lang="en-US" altLang="ko-KR" sz="16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POST</a:t>
            </a:r>
            <a:r>
              <a:rPr lang="en-US" altLang="ko-KR" sz="1600" spc="-15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r>
              <a:rPr lang="en-US" altLang="ko-KR" sz="16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accept-charset : </a:t>
            </a:r>
            <a:r>
              <a:rPr lang="ko-KR" altLang="en-US" sz="16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폼 전송에 사용할 문자 </a:t>
            </a:r>
            <a:r>
              <a:rPr lang="ko-KR" altLang="en-US" sz="1600" spc="-15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인코딩을</a:t>
            </a:r>
            <a:r>
              <a:rPr lang="ko-KR" altLang="en-US" sz="16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1600" spc="-15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지정</a:t>
            </a:r>
            <a:endParaRPr lang="en-US" altLang="ko-KR" sz="1600" spc="-15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enctype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: multipart/form-data &lt;input type="file"&gt;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이 존재하는 경우 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사용</a:t>
            </a:r>
            <a:endParaRPr lang="en-US" altLang="ko-KR" sz="16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autocomplete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자동완성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이전에 입력했던 값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비슷한 값들을 </a:t>
            </a:r>
            <a:r>
              <a:rPr lang="ko-KR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드롭다운으로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보여줌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xmlns="" id="{CA2EE044-8E61-E904-1196-F1BB9FB53FEE}"/>
              </a:ext>
            </a:extLst>
          </p:cNvPr>
          <p:cNvSpPr/>
          <p:nvPr/>
        </p:nvSpPr>
        <p:spPr>
          <a:xfrm>
            <a:off x="951818" y="1755016"/>
            <a:ext cx="2755209" cy="20784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altLang="ko-KR" sz="2400" dirty="0"/>
              <a:t>Form </a:t>
            </a:r>
            <a:r>
              <a:rPr lang="ko-KR" altLang="en-US" sz="2400" dirty="0"/>
              <a:t>태그 속성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951818" y="4036712"/>
            <a:ext cx="10391685" cy="246221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/>
              <a:t>&lt;html&gt;</a:t>
            </a:r>
          </a:p>
          <a:p>
            <a:r>
              <a:rPr lang="en-US" altLang="ko-KR" sz="1400" dirty="0"/>
              <a:t>    &lt;head&gt;</a:t>
            </a:r>
          </a:p>
          <a:p>
            <a:r>
              <a:rPr lang="en-US" altLang="ko-KR" sz="1400" dirty="0"/>
              <a:t>    &lt;/head&gt;</a:t>
            </a:r>
          </a:p>
          <a:p>
            <a:endParaRPr lang="en-US" altLang="ko-KR" sz="1400" dirty="0"/>
          </a:p>
          <a:p>
            <a:r>
              <a:rPr lang="en-US" altLang="ko-KR" sz="1400" dirty="0"/>
              <a:t>    &lt;body&gt;</a:t>
            </a:r>
          </a:p>
          <a:p>
            <a:r>
              <a:rPr lang="en-US" altLang="ko-KR" sz="1400" dirty="0"/>
              <a:t>        &lt;form action = "http://localhost:8080/</a:t>
            </a:r>
            <a:r>
              <a:rPr lang="en-US" altLang="ko-KR" sz="1400" dirty="0" err="1"/>
              <a:t>form.jsp</a:t>
            </a:r>
            <a:r>
              <a:rPr lang="en-US" altLang="ko-KR" sz="1400" dirty="0"/>
              <a:t>" </a:t>
            </a:r>
            <a:r>
              <a:rPr lang="en-US" altLang="ko-KR" sz="1400" dirty="0" smtClean="0"/>
              <a:t>name = “</a:t>
            </a:r>
            <a:r>
              <a:rPr lang="en-US" altLang="ko-KR" sz="1400" dirty="0" err="1" smtClean="0"/>
              <a:t>frm</a:t>
            </a:r>
            <a:r>
              <a:rPr lang="en-US" altLang="ko-KR" sz="1400" dirty="0" smtClean="0"/>
              <a:t>” </a:t>
            </a:r>
            <a:r>
              <a:rPr lang="en-US" altLang="ko-KR" sz="1400" dirty="0"/>
              <a:t>method = "get"&gt; </a:t>
            </a:r>
          </a:p>
          <a:p>
            <a:r>
              <a:rPr lang="en-US" altLang="ko-KR" sz="1400" dirty="0" smtClean="0"/>
              <a:t>              &lt;label for=“id”&gt;</a:t>
            </a:r>
            <a:r>
              <a:rPr lang="ko-KR" altLang="en-US" sz="1400" dirty="0" smtClean="0"/>
              <a:t>아이디</a:t>
            </a:r>
            <a:r>
              <a:rPr lang="en-US" altLang="ko-KR" sz="1400" dirty="0" smtClean="0"/>
              <a:t>&lt;/label&gt;  </a:t>
            </a:r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         &lt;input type=“text” name=“id” id=“id”&gt;</a:t>
            </a:r>
            <a:endParaRPr lang="en-US" altLang="ko-KR" sz="1400" dirty="0"/>
          </a:p>
          <a:p>
            <a:r>
              <a:rPr lang="en-US" altLang="ko-KR" sz="1400" dirty="0"/>
              <a:t>        &lt;/form&gt;</a:t>
            </a:r>
          </a:p>
          <a:p>
            <a:r>
              <a:rPr lang="en-US" altLang="ko-KR" sz="1400" dirty="0"/>
              <a:t>    &lt;/body&gt;</a:t>
            </a:r>
          </a:p>
          <a:p>
            <a:r>
              <a:rPr lang="en-US" altLang="ko-KR" sz="1400" dirty="0"/>
              <a:t>&lt;html&gt;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926696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="" xmlns:a16="http://schemas.microsoft.com/office/drawing/2014/main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="" xmlns:a16="http://schemas.microsoft.com/office/drawing/2014/main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="" xmlns:a16="http://schemas.microsoft.com/office/drawing/2014/main" id="{CB80EB46-A41F-42D1-925C-1E1D34396238}"/>
              </a:ext>
            </a:extLst>
          </p:cNvPr>
          <p:cNvSpPr txBox="1"/>
          <p:nvPr/>
        </p:nvSpPr>
        <p:spPr>
          <a:xfrm>
            <a:off x="660400" y="203587"/>
            <a:ext cx="1112606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00" spc="-3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Input </a:t>
            </a:r>
            <a:r>
              <a:rPr lang="ko-KR" altLang="en-US" sz="3300" spc="-3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태그 속성</a:t>
            </a:r>
            <a:endParaRPr lang="ko-KR" altLang="en-US" sz="33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="" xmlns:a16="http://schemas.microsoft.com/office/drawing/2014/main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 smtClean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2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="" xmlns:a16="http://schemas.microsoft.com/office/drawing/2014/main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>
            <a:extLst>
              <a:ext uri="{FF2B5EF4-FFF2-40B4-BE49-F238E27FC236}">
                <a16:creationId xmlns="" xmlns:a16="http://schemas.microsoft.com/office/drawing/2014/main" id="{F96FD223-81B1-5F9A-DBD5-5538A7EDBD82}"/>
              </a:ext>
            </a:extLst>
          </p:cNvPr>
          <p:cNvSpPr/>
          <p:nvPr/>
        </p:nvSpPr>
        <p:spPr>
          <a:xfrm>
            <a:off x="416359" y="1668162"/>
            <a:ext cx="11370102" cy="26443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type :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태그 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형태 결정 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- text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radio, checkbox, password, button, hidden,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fileupload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submit, reset 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등</a:t>
            </a:r>
            <a:endParaRPr lang="en-US" altLang="ko-KR" sz="16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name : 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태그 이름 지정</a:t>
            </a:r>
            <a:endParaRPr lang="en-US" altLang="ko-KR" sz="16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readonly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: 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태그 읽기 전용 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– 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글자 수정을 할 수 없음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maxlength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: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해당 태그 최대 글자 수를 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지정</a:t>
            </a:r>
            <a:endParaRPr lang="en-US" altLang="ko-KR" sz="16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required :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해당 태그가 필수태그로 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지정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  - </a:t>
            </a:r>
            <a:r>
              <a:rPr lang="ko-KR" alt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입력없이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submit 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할 경우 에러표시</a:t>
            </a:r>
            <a:endParaRPr lang="en-US" altLang="ko-KR" sz="16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Autofocus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웹 페이지가 로딩되자마자 이 속성을 지정한 태그로 포커스가 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이동</a:t>
            </a:r>
            <a:endParaRPr lang="en-US" altLang="ko-KR" sz="16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placeholder : 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input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창 안에 입력할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값에 대한 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설명 글 출력</a:t>
            </a:r>
            <a:endParaRPr lang="en-US" altLang="ko-KR" sz="16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pattern : </a:t>
            </a:r>
            <a:r>
              <a:rPr lang="ko-KR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정규표현식을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사용하여 특정범위 내의 유효한 값을 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입력 받을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때 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사용</a:t>
            </a:r>
            <a:endParaRPr lang="en-US" altLang="ko-KR" sz="16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utocomplete : 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자동완성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 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이전에 입력했던 값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비슷한 값들을 </a:t>
            </a:r>
            <a:r>
              <a:rPr lang="ko-KR" alt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드롭다운으로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보여줌</a:t>
            </a:r>
            <a:endParaRPr lang="en-US" altLang="ko-KR" sz="16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416359" y="5044414"/>
            <a:ext cx="7780290" cy="132343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 smtClean="0"/>
              <a:t>&lt;form action="</a:t>
            </a:r>
            <a:r>
              <a:rPr lang="en-US" altLang="ko-KR" sz="1600" dirty="0" err="1" smtClean="0"/>
              <a:t>target.jsp</a:t>
            </a:r>
            <a:r>
              <a:rPr lang="en-US" altLang="ko-KR" sz="1600" dirty="0" smtClean="0"/>
              <a:t>" method="get"&gt;</a:t>
            </a:r>
          </a:p>
          <a:p>
            <a:r>
              <a:rPr lang="ko-KR" altLang="en-US" sz="1600" dirty="0"/>
              <a:t>주민번호 </a:t>
            </a:r>
            <a:r>
              <a:rPr lang="en-US" altLang="ko-KR" sz="1600" dirty="0"/>
              <a:t>: &lt;input type = "text" name = "</a:t>
            </a:r>
            <a:r>
              <a:rPr lang="en-US" altLang="ko-KR" sz="1600" dirty="0" err="1"/>
              <a:t>security_number</a:t>
            </a:r>
            <a:r>
              <a:rPr lang="en-US" altLang="ko-KR" sz="1600" dirty="0"/>
              <a:t>" </a:t>
            </a:r>
            <a:r>
              <a:rPr lang="en-US" altLang="ko-KR" sz="1600" dirty="0" smtClean="0"/>
              <a:t>pattern </a:t>
            </a:r>
            <a:r>
              <a:rPr lang="en-US" altLang="ko-KR" sz="1600" dirty="0"/>
              <a:t>= "\d{6}\-\d{7}" </a:t>
            </a:r>
          </a:p>
          <a:p>
            <a:r>
              <a:rPr lang="en-US" altLang="ko-KR" sz="1600" dirty="0"/>
              <a:t>                              title = "123456-1234567 </a:t>
            </a:r>
            <a:r>
              <a:rPr lang="ko-KR" altLang="en-US" sz="1600" dirty="0"/>
              <a:t>형식으로 입력해주세요</a:t>
            </a:r>
            <a:r>
              <a:rPr lang="en-US" altLang="ko-KR" sz="1600" dirty="0"/>
              <a:t>"/&gt;&lt;</a:t>
            </a:r>
            <a:r>
              <a:rPr lang="en-US" altLang="ko-KR" sz="1600" dirty="0" err="1" smtClean="0"/>
              <a:t>br</a:t>
            </a:r>
            <a:r>
              <a:rPr lang="en-US" altLang="ko-KR" sz="1600" dirty="0" smtClean="0"/>
              <a:t>&gt;</a:t>
            </a:r>
          </a:p>
          <a:p>
            <a:r>
              <a:rPr lang="en-US" altLang="ko-KR" sz="1600" dirty="0" smtClean="0"/>
              <a:t>        &lt;input type="submit"&gt;</a:t>
            </a:r>
          </a:p>
          <a:p>
            <a:r>
              <a:rPr lang="en-US" altLang="ko-KR" sz="1600" dirty="0" smtClean="0"/>
              <a:t>&lt;/form&gt;</a:t>
            </a:r>
            <a:endParaRPr lang="ko-KR" altLang="en-US" sz="16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CA2EE044-8E61-E904-1196-F1BB9FB53FEE}"/>
              </a:ext>
            </a:extLst>
          </p:cNvPr>
          <p:cNvSpPr/>
          <p:nvPr/>
        </p:nvSpPr>
        <p:spPr>
          <a:xfrm>
            <a:off x="416359" y="4482326"/>
            <a:ext cx="2755209" cy="4724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p</a:t>
            </a:r>
            <a:r>
              <a:rPr lang="en-US" altLang="ko-KR" sz="1600" dirty="0" smtClean="0"/>
              <a:t>attern </a:t>
            </a:r>
            <a:r>
              <a:rPr lang="ko-KR" altLang="en-US" sz="1600" dirty="0" smtClean="0"/>
              <a:t>사용방법</a:t>
            </a:r>
            <a:endParaRPr lang="ko-KR" altLang="en-US" sz="1600" dirty="0"/>
          </a:p>
        </p:txBody>
      </p:sp>
      <p:pic>
        <p:nvPicPr>
          <p:cNvPr id="1026" name="Picture 2" descr="https://www.nextree.co.kr/content/images/2021/01/hjkwon-140328-form_-0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5546" y="4537932"/>
            <a:ext cx="2774819" cy="2182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CA2EE044-8E61-E904-1196-F1BB9FB53FEE}"/>
              </a:ext>
            </a:extLst>
          </p:cNvPr>
          <p:cNvSpPr/>
          <p:nvPr/>
        </p:nvSpPr>
        <p:spPr>
          <a:xfrm>
            <a:off x="416359" y="1126187"/>
            <a:ext cx="2755209" cy="4724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다양한 </a:t>
            </a:r>
            <a:r>
              <a:rPr lang="en-US" altLang="ko-KR" sz="1600" dirty="0"/>
              <a:t>input </a:t>
            </a:r>
            <a:r>
              <a:rPr lang="ko-KR" altLang="en-US" sz="1600" dirty="0"/>
              <a:t>태그 속성들</a:t>
            </a:r>
          </a:p>
        </p:txBody>
      </p:sp>
    </p:spTree>
    <p:extLst>
      <p:ext uri="{BB962C8B-B14F-4D97-AF65-F5344CB8AC3E}">
        <p14:creationId xmlns:p14="http://schemas.microsoft.com/office/powerpoint/2010/main" val="1582541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="" xmlns:a16="http://schemas.microsoft.com/office/drawing/2014/main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="" xmlns:a16="http://schemas.microsoft.com/office/drawing/2014/main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="" xmlns:a16="http://schemas.microsoft.com/office/drawing/2014/main" id="{CB80EB46-A41F-42D1-925C-1E1D34396238}"/>
              </a:ext>
            </a:extLst>
          </p:cNvPr>
          <p:cNvSpPr txBox="1"/>
          <p:nvPr/>
        </p:nvSpPr>
        <p:spPr>
          <a:xfrm>
            <a:off x="660400" y="203587"/>
            <a:ext cx="1112606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00" spc="-3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Input -type </a:t>
            </a:r>
            <a:r>
              <a:rPr lang="ko-KR" altLang="en-US" sz="3300" spc="-3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속성의</a:t>
            </a:r>
            <a:r>
              <a:rPr lang="en-US" altLang="ko-KR" sz="3300" spc="-3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ko-KR" altLang="en-US" sz="3300" spc="-3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종류</a:t>
            </a:r>
            <a:endParaRPr lang="ko-KR" altLang="en-US" sz="33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="" xmlns:a16="http://schemas.microsoft.com/office/drawing/2014/main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 smtClean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3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="" xmlns:a16="http://schemas.microsoft.com/office/drawing/2014/main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>
            <a:extLst>
              <a:ext uri="{FF2B5EF4-FFF2-40B4-BE49-F238E27FC236}">
                <a16:creationId xmlns="" xmlns:a16="http://schemas.microsoft.com/office/drawing/2014/main" id="{F96FD223-81B1-5F9A-DBD5-5538A7EDBD82}"/>
              </a:ext>
            </a:extLst>
          </p:cNvPr>
          <p:cNvSpPr/>
          <p:nvPr/>
        </p:nvSpPr>
        <p:spPr>
          <a:xfrm>
            <a:off x="416359" y="1719899"/>
            <a:ext cx="4089738" cy="26443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text: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일반 문자</a:t>
            </a:r>
          </a:p>
          <a:p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password: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비밀번호</a:t>
            </a:r>
          </a:p>
          <a:p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button: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버튼</a:t>
            </a:r>
          </a:p>
          <a:p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submit: 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전송 버튼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eset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내용삭제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버튼</a:t>
            </a:r>
          </a:p>
          <a:p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radio: 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한 개 만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선택할 수 있는 컴포넌트</a:t>
            </a:r>
          </a:p>
          <a:p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checkbox: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다수를 선택할 수 있는 컴포넌트</a:t>
            </a:r>
          </a:p>
          <a:p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file: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파일 업로드</a:t>
            </a:r>
          </a:p>
          <a:p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hidden: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사용자에게 보이지 않는 숨은 요소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4634132" y="1719899"/>
            <a:ext cx="7152329" cy="452431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dirty="0"/>
              <a:t>&lt;form&gt;</a:t>
            </a:r>
          </a:p>
          <a:p>
            <a:r>
              <a:rPr lang="en-US" altLang="ko-KR" sz="1200" dirty="0"/>
              <a:t>	&lt;p&gt;</a:t>
            </a:r>
          </a:p>
          <a:p>
            <a:r>
              <a:rPr lang="en-US" altLang="ko-KR" sz="1200" dirty="0"/>
              <a:t>		&lt;strong&gt;</a:t>
            </a:r>
            <a:r>
              <a:rPr lang="ko-KR" altLang="en-US" sz="1200" dirty="0"/>
              <a:t>아이디</a:t>
            </a:r>
            <a:r>
              <a:rPr lang="en-US" altLang="ko-KR" sz="1200" dirty="0"/>
              <a:t>&lt;/strong&gt;</a:t>
            </a:r>
          </a:p>
          <a:p>
            <a:r>
              <a:rPr lang="en-US" altLang="ko-KR" sz="1200" dirty="0"/>
              <a:t>		&lt;input type="text" name="name" value="</a:t>
            </a:r>
            <a:r>
              <a:rPr lang="ko-KR" altLang="en-US" sz="1200" dirty="0"/>
              <a:t>아이디 입력</a:t>
            </a:r>
            <a:r>
              <a:rPr lang="en-US" altLang="ko-KR" sz="1200" dirty="0"/>
              <a:t>"&gt;</a:t>
            </a:r>
          </a:p>
          <a:p>
            <a:r>
              <a:rPr lang="en-US" altLang="ko-KR" sz="1200" dirty="0"/>
              <a:t>	&lt;/p&gt;</a:t>
            </a:r>
          </a:p>
          <a:p>
            <a:r>
              <a:rPr lang="en-US" altLang="ko-KR" sz="1200" dirty="0"/>
              <a:t>	&lt;p&gt;</a:t>
            </a:r>
          </a:p>
          <a:p>
            <a:r>
              <a:rPr lang="en-US" altLang="ko-KR" sz="1200" dirty="0"/>
              <a:t>		&lt;strong&gt;</a:t>
            </a:r>
            <a:r>
              <a:rPr lang="ko-KR" altLang="en-US" sz="1200" dirty="0"/>
              <a:t>비밀번호</a:t>
            </a:r>
            <a:r>
              <a:rPr lang="en-US" altLang="ko-KR" sz="1200" dirty="0"/>
              <a:t>&lt;/strong&gt;</a:t>
            </a:r>
          </a:p>
          <a:p>
            <a:r>
              <a:rPr lang="en-US" altLang="ko-KR" sz="1200" dirty="0"/>
              <a:t>		&lt;input type="password" name="password" value="</a:t>
            </a:r>
            <a:r>
              <a:rPr lang="ko-KR" altLang="en-US" sz="1200" dirty="0"/>
              <a:t>비밀번호 입력</a:t>
            </a:r>
            <a:r>
              <a:rPr lang="en-US" altLang="ko-KR" sz="1200" dirty="0"/>
              <a:t>"&gt;</a:t>
            </a:r>
          </a:p>
          <a:p>
            <a:r>
              <a:rPr lang="en-US" altLang="ko-KR" sz="1200" dirty="0"/>
              <a:t>	&lt;/p&gt;</a:t>
            </a:r>
          </a:p>
          <a:p>
            <a:r>
              <a:rPr lang="en-US" altLang="ko-KR" sz="1200" dirty="0"/>
              <a:t>	&lt;p&gt;</a:t>
            </a:r>
          </a:p>
          <a:p>
            <a:r>
              <a:rPr lang="en-US" altLang="ko-KR" sz="1200" dirty="0"/>
              <a:t>		&lt;strong&gt;</a:t>
            </a:r>
            <a:r>
              <a:rPr lang="ko-KR" altLang="en-US" sz="1200" dirty="0"/>
              <a:t>성별</a:t>
            </a:r>
            <a:r>
              <a:rPr lang="en-US" altLang="ko-KR" sz="1200" dirty="0"/>
              <a:t>&lt;/strong&gt;</a:t>
            </a:r>
          </a:p>
          <a:p>
            <a:r>
              <a:rPr lang="en-US" altLang="ko-KR" sz="1200" dirty="0"/>
              <a:t>		&lt;input type="radio" name="gender" value="M"&gt;</a:t>
            </a:r>
            <a:r>
              <a:rPr lang="ko-KR" altLang="en-US" sz="1200" dirty="0"/>
              <a:t>남자</a:t>
            </a:r>
          </a:p>
          <a:p>
            <a:r>
              <a:rPr lang="ko-KR" altLang="en-US" sz="1200" dirty="0"/>
              <a:t>		</a:t>
            </a:r>
            <a:r>
              <a:rPr lang="en-US" altLang="ko-KR" sz="1200" dirty="0"/>
              <a:t>&lt;input type="radio" name="gender" value="F"&gt;</a:t>
            </a:r>
            <a:r>
              <a:rPr lang="ko-KR" altLang="en-US" sz="1200" dirty="0"/>
              <a:t>여자</a:t>
            </a:r>
          </a:p>
          <a:p>
            <a:r>
              <a:rPr lang="ko-KR" altLang="en-US" sz="1200" dirty="0"/>
              <a:t>	</a:t>
            </a:r>
            <a:r>
              <a:rPr lang="en-US" altLang="ko-KR" sz="1200" dirty="0"/>
              <a:t>&lt;/p&gt;</a:t>
            </a:r>
          </a:p>
          <a:p>
            <a:r>
              <a:rPr lang="en-US" altLang="ko-KR" sz="1200" dirty="0"/>
              <a:t>	&lt;p&gt;</a:t>
            </a:r>
          </a:p>
          <a:p>
            <a:r>
              <a:rPr lang="en-US" altLang="ko-KR" sz="1200" dirty="0"/>
              <a:t>		&lt;strong&gt;</a:t>
            </a:r>
            <a:r>
              <a:rPr lang="ko-KR" altLang="en-US" sz="1200" dirty="0"/>
              <a:t>응시분야</a:t>
            </a:r>
            <a:r>
              <a:rPr lang="en-US" altLang="ko-KR" sz="1200" dirty="0"/>
              <a:t>&lt;/strong&gt;</a:t>
            </a:r>
          </a:p>
          <a:p>
            <a:r>
              <a:rPr lang="en-US" altLang="ko-KR" sz="1200" dirty="0"/>
              <a:t>		&lt;input type="checkbox" name="part" value="</a:t>
            </a:r>
            <a:r>
              <a:rPr lang="en-US" altLang="ko-KR" sz="1200" dirty="0" err="1"/>
              <a:t>eng</a:t>
            </a:r>
            <a:r>
              <a:rPr lang="en-US" altLang="ko-KR" sz="1200" dirty="0"/>
              <a:t>"&gt;</a:t>
            </a:r>
            <a:r>
              <a:rPr lang="ko-KR" altLang="en-US" sz="1200" dirty="0"/>
              <a:t>영어</a:t>
            </a:r>
          </a:p>
          <a:p>
            <a:r>
              <a:rPr lang="ko-KR" altLang="en-US" sz="1200" dirty="0"/>
              <a:t>		</a:t>
            </a:r>
            <a:r>
              <a:rPr lang="en-US" altLang="ko-KR" sz="1200" dirty="0"/>
              <a:t>&lt;input type="checkbox" name="part" value="math"&gt;</a:t>
            </a:r>
            <a:r>
              <a:rPr lang="ko-KR" altLang="en-US" sz="1200" dirty="0"/>
              <a:t>수학</a:t>
            </a:r>
          </a:p>
          <a:p>
            <a:r>
              <a:rPr lang="ko-KR" altLang="en-US" sz="1200" dirty="0"/>
              <a:t>	</a:t>
            </a:r>
            <a:r>
              <a:rPr lang="en-US" altLang="ko-KR" sz="1200" dirty="0"/>
              <a:t>&lt;/p&gt;</a:t>
            </a:r>
          </a:p>
          <a:p>
            <a:r>
              <a:rPr lang="en-US" altLang="ko-KR" sz="1200" dirty="0"/>
              <a:t>	&lt;p&gt;</a:t>
            </a:r>
          </a:p>
          <a:p>
            <a:r>
              <a:rPr lang="en-US" altLang="ko-KR" sz="1200" dirty="0"/>
              <a:t>		&lt;input type="submit" value="</a:t>
            </a:r>
            <a:r>
              <a:rPr lang="ko-KR" altLang="en-US" sz="1200" dirty="0"/>
              <a:t>제출</a:t>
            </a:r>
            <a:r>
              <a:rPr lang="en-US" altLang="ko-KR" sz="1200" dirty="0" smtClean="0"/>
              <a:t>"&gt;</a:t>
            </a:r>
          </a:p>
          <a:p>
            <a:r>
              <a:rPr lang="en-US" altLang="ko-KR" sz="1200" dirty="0" smtClean="0"/>
              <a:t>                                           &lt;</a:t>
            </a:r>
            <a:r>
              <a:rPr lang="en-US" altLang="ko-KR" sz="1200" dirty="0"/>
              <a:t>input type</a:t>
            </a:r>
            <a:r>
              <a:rPr lang="en-US" altLang="ko-KR" sz="1200" dirty="0" smtClean="0"/>
              <a:t>=“reset" </a:t>
            </a:r>
            <a:r>
              <a:rPr lang="en-US" altLang="ko-KR" sz="1200" dirty="0"/>
              <a:t>value</a:t>
            </a:r>
            <a:r>
              <a:rPr lang="en-US" altLang="ko-KR" sz="1200" dirty="0" smtClean="0"/>
              <a:t>=＂</a:t>
            </a:r>
            <a:r>
              <a:rPr lang="ko-KR" altLang="en-US" sz="1200" dirty="0" smtClean="0"/>
              <a:t>입력취소</a:t>
            </a:r>
            <a:r>
              <a:rPr lang="en-US" altLang="ko-KR" sz="1200" dirty="0" smtClean="0"/>
              <a:t>"&gt;</a:t>
            </a:r>
            <a:endParaRPr lang="en-US" altLang="ko-KR" sz="1200" dirty="0"/>
          </a:p>
          <a:p>
            <a:r>
              <a:rPr lang="en-US" altLang="ko-KR" sz="1200" dirty="0"/>
              <a:t>	&lt;/p&gt;</a:t>
            </a:r>
          </a:p>
          <a:p>
            <a:r>
              <a:rPr lang="en-US" altLang="ko-KR" sz="1200" dirty="0"/>
              <a:t>&lt;/form&gt;</a:t>
            </a:r>
            <a:endParaRPr lang="ko-KR" altLang="en-US" sz="1200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504" y="4513711"/>
            <a:ext cx="2721447" cy="2063695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xmlns="" id="{CA2EE044-8E61-E904-1196-F1BB9FB53FEE}"/>
              </a:ext>
            </a:extLst>
          </p:cNvPr>
          <p:cNvSpPr/>
          <p:nvPr/>
        </p:nvSpPr>
        <p:spPr>
          <a:xfrm>
            <a:off x="416359" y="1126187"/>
            <a:ext cx="2755209" cy="4724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/>
              <a:t>Input - type</a:t>
            </a:r>
            <a:r>
              <a:rPr lang="ko-KR" altLang="en-US" sz="1600" dirty="0" smtClean="0"/>
              <a:t>속성 종류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280640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="" xmlns:a16="http://schemas.microsoft.com/office/drawing/2014/main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="" xmlns:a16="http://schemas.microsoft.com/office/drawing/2014/main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="" xmlns:a16="http://schemas.microsoft.com/office/drawing/2014/main" id="{CB80EB46-A41F-42D1-925C-1E1D34396238}"/>
              </a:ext>
            </a:extLst>
          </p:cNvPr>
          <p:cNvSpPr txBox="1"/>
          <p:nvPr/>
        </p:nvSpPr>
        <p:spPr>
          <a:xfrm>
            <a:off x="660400" y="203587"/>
            <a:ext cx="1112606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00" spc="-3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Type – text</a:t>
            </a:r>
            <a:endParaRPr lang="ko-KR" altLang="en-US" sz="33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="" xmlns:a16="http://schemas.microsoft.com/office/drawing/2014/main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 smtClean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4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="" xmlns:a16="http://schemas.microsoft.com/office/drawing/2014/main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xmlns="" id="{CA2EE044-8E61-E904-1196-F1BB9FB53FEE}"/>
              </a:ext>
            </a:extLst>
          </p:cNvPr>
          <p:cNvSpPr/>
          <p:nvPr/>
        </p:nvSpPr>
        <p:spPr>
          <a:xfrm>
            <a:off x="416359" y="1126187"/>
            <a:ext cx="2755209" cy="4724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/>
              <a:t>Type - text</a:t>
            </a:r>
            <a:endParaRPr lang="ko-KR" altLang="en-US" sz="1600" dirty="0"/>
          </a:p>
        </p:txBody>
      </p:sp>
      <p:sp>
        <p:nvSpPr>
          <p:cNvPr id="4" name="직사각형 3"/>
          <p:cNvSpPr/>
          <p:nvPr/>
        </p:nvSpPr>
        <p:spPr>
          <a:xfrm>
            <a:off x="1321196" y="1829241"/>
            <a:ext cx="102100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dirty="0"/>
              <a:t>&lt;input type="text" </a:t>
            </a:r>
            <a:r>
              <a:rPr lang="en-US" altLang="ko-KR" sz="2400" dirty="0" smtClean="0"/>
              <a:t>value=“</a:t>
            </a:r>
            <a:r>
              <a:rPr lang="en-US" altLang="ko-KR" sz="2400" dirty="0" err="1" smtClean="0"/>
              <a:t>aaa</a:t>
            </a:r>
            <a:r>
              <a:rPr lang="en-US" altLang="ko-KR" sz="2400" dirty="0" smtClean="0"/>
              <a:t>” </a:t>
            </a:r>
            <a:r>
              <a:rPr lang="en-US" altLang="ko-KR" sz="2400" dirty="0"/>
              <a:t>size="10" </a:t>
            </a:r>
            <a:r>
              <a:rPr lang="en-US" altLang="ko-KR" sz="2400" dirty="0" err="1"/>
              <a:t>maxlength</a:t>
            </a:r>
            <a:r>
              <a:rPr lang="en-US" altLang="ko-KR" sz="2400" dirty="0"/>
              <a:t>="5" </a:t>
            </a:r>
            <a:r>
              <a:rPr lang="en-US" altLang="ko-KR" sz="2400" dirty="0" smtClean="0"/>
              <a:t>/&gt;</a:t>
            </a:r>
            <a:endParaRPr lang="ko-KR" altLang="en-US" sz="2400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289526"/>
              </p:ext>
            </p:extLst>
          </p:nvPr>
        </p:nvGraphicFramePr>
        <p:xfrm>
          <a:off x="1417971" y="2383047"/>
          <a:ext cx="8858250" cy="1657350"/>
        </p:xfrm>
        <a:graphic>
          <a:graphicData uri="http://schemas.openxmlformats.org/drawingml/2006/table">
            <a:tbl>
              <a:tblPr/>
              <a:tblGrid>
                <a:gridCol w="2497931"/>
                <a:gridCol w="6360319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lang="ko-KR" altLang="en-US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47625" marR="47625" marT="47625" marB="47625" anchor="ctr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</a:tr>
              <a:tr h="3219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effectLst/>
                          <a:latin typeface="+mn-ea"/>
                          <a:ea typeface="+mn-ea"/>
                        </a:rPr>
                        <a:t>size</a:t>
                      </a:r>
                      <a:endParaRPr lang="ko-KR" altLang="en-US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7625" marR="47625" marT="47625" marB="47625" anchor="ctr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>
                          <a:effectLst/>
                          <a:latin typeface="+mn-ea"/>
                          <a:ea typeface="+mn-ea"/>
                        </a:rPr>
                        <a:t>&lt;input&gt; </a:t>
                      </a:r>
                      <a:r>
                        <a:rPr lang="ko-KR" altLang="en-US" dirty="0">
                          <a:effectLst/>
                          <a:latin typeface="+mn-ea"/>
                          <a:ea typeface="+mn-ea"/>
                        </a:rPr>
                        <a:t>요소의 너비를 </a:t>
                      </a:r>
                      <a:r>
                        <a:rPr lang="ko-KR" altLang="en-US" dirty="0" err="1">
                          <a:effectLst/>
                          <a:latin typeface="+mn-ea"/>
                          <a:ea typeface="+mn-ea"/>
                        </a:rPr>
                        <a:t>문자수</a:t>
                      </a:r>
                      <a:r>
                        <a:rPr lang="en-US" altLang="ko-KR" dirty="0">
                          <a:effectLst/>
                          <a:latin typeface="+mn-ea"/>
                          <a:ea typeface="+mn-ea"/>
                        </a:rPr>
                        <a:t>(in characters) </a:t>
                      </a:r>
                      <a:r>
                        <a:rPr lang="ko-KR" altLang="en-US" dirty="0">
                          <a:effectLst/>
                          <a:latin typeface="+mn-ea"/>
                          <a:ea typeface="+mn-ea"/>
                        </a:rPr>
                        <a:t>단위로 명시함</a:t>
                      </a:r>
                      <a:r>
                        <a:rPr lang="en-US" altLang="ko-KR" dirty="0"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algn="l" latinLnBrk="1"/>
                      <a:r>
                        <a:rPr lang="ko-KR" altLang="en-US" dirty="0" err="1" smtClean="0">
                          <a:effectLst/>
                          <a:latin typeface="+mn-ea"/>
                          <a:ea typeface="+mn-ea"/>
                        </a:rPr>
                        <a:t>입력창</a:t>
                      </a:r>
                      <a:r>
                        <a:rPr lang="ko-KR" altLang="en-US" dirty="0" smtClean="0">
                          <a:effectLst/>
                          <a:latin typeface="+mn-ea"/>
                          <a:ea typeface="+mn-ea"/>
                        </a:rPr>
                        <a:t> 길이조절 됨</a:t>
                      </a:r>
                      <a:endParaRPr lang="en-US" altLang="ko-KR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7625" marR="47625" marT="47625" marB="47625" anchor="ctr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19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 smtClean="0">
                          <a:effectLst/>
                          <a:latin typeface="+mn-ea"/>
                          <a:ea typeface="+mn-ea"/>
                        </a:rPr>
                        <a:t>maxlength</a:t>
                      </a:r>
                      <a:endParaRPr lang="ko-KR" altLang="en-US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7625" marR="47625" marT="47625" marB="47625" anchor="ctr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&lt;input&gt; </a:t>
                      </a:r>
                      <a:r>
                        <a:rPr lang="ko-KR" alt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요소에서 허용되는 최대 </a:t>
                      </a:r>
                      <a:r>
                        <a:rPr lang="ko-KR" altLang="en-US" sz="18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문자수를</a:t>
                      </a:r>
                      <a:r>
                        <a:rPr lang="ko-KR" alt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명시함</a:t>
                      </a:r>
                      <a:r>
                        <a:rPr lang="en-US" altLang="ko-KR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글자수를 입력할 수 있는 길이</a:t>
                      </a:r>
                      <a:endParaRPr lang="en-US" altLang="ko-KR" sz="1800" b="0" i="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7625" marR="47625" marT="47625" marB="47625" anchor="ctr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직사각형 7"/>
          <p:cNvSpPr/>
          <p:nvPr/>
        </p:nvSpPr>
        <p:spPr>
          <a:xfrm>
            <a:off x="375614" y="4495449"/>
            <a:ext cx="7839401" cy="175432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 smtClean="0"/>
              <a:t>&lt;</a:t>
            </a:r>
            <a:r>
              <a:rPr lang="en-US" altLang="ko-KR" dirty="0"/>
              <a:t>form action</a:t>
            </a:r>
            <a:r>
              <a:rPr lang="en-US" altLang="ko-KR" dirty="0" smtClean="0"/>
              <a:t>=“#" </a:t>
            </a:r>
            <a:r>
              <a:rPr lang="en-US" altLang="ko-KR" dirty="0"/>
              <a:t>method="get"&gt;</a:t>
            </a:r>
          </a:p>
          <a:p>
            <a:r>
              <a:rPr lang="ko-KR" altLang="en-US" dirty="0" smtClean="0"/>
              <a:t>  이름 </a:t>
            </a:r>
            <a:r>
              <a:rPr lang="en-US" altLang="ko-KR" dirty="0"/>
              <a:t>: &lt;input type="text" name</a:t>
            </a:r>
            <a:r>
              <a:rPr lang="en-US" altLang="ko-KR" dirty="0" smtClean="0"/>
              <a:t>="name</a:t>
            </a:r>
            <a:r>
              <a:rPr lang="en-US" altLang="ko-KR" dirty="0"/>
              <a:t>" size="10" </a:t>
            </a:r>
            <a:r>
              <a:rPr lang="en-US" altLang="ko-KR" dirty="0" err="1"/>
              <a:t>maxlength</a:t>
            </a:r>
            <a:r>
              <a:rPr lang="en-US" altLang="ko-KR" dirty="0"/>
              <a:t>="8"&gt;&lt;</a:t>
            </a:r>
            <a:r>
              <a:rPr lang="en-US" altLang="ko-KR" dirty="0" err="1"/>
              <a:t>br</a:t>
            </a:r>
            <a:r>
              <a:rPr lang="en-US" altLang="ko-KR" dirty="0"/>
              <a:t>&gt;</a:t>
            </a:r>
          </a:p>
          <a:p>
            <a:r>
              <a:rPr lang="ko-KR" altLang="en-US" dirty="0" smtClean="0"/>
              <a:t>  학번 </a:t>
            </a:r>
            <a:r>
              <a:rPr lang="en-US" altLang="ko-KR" dirty="0"/>
              <a:t>: &lt;input type="text" name</a:t>
            </a:r>
            <a:r>
              <a:rPr lang="en-US" altLang="ko-KR" dirty="0" smtClean="0"/>
              <a:t>="id</a:t>
            </a:r>
            <a:r>
              <a:rPr lang="en-US" altLang="ko-KR" dirty="0"/>
              <a:t>" size="30" </a:t>
            </a:r>
            <a:r>
              <a:rPr lang="en-US" altLang="ko-KR" dirty="0" err="1"/>
              <a:t>maxlength</a:t>
            </a:r>
            <a:r>
              <a:rPr lang="en-US" altLang="ko-KR" dirty="0"/>
              <a:t>="12"&gt;&lt;</a:t>
            </a:r>
            <a:r>
              <a:rPr lang="en-US" altLang="ko-KR" dirty="0" err="1"/>
              <a:t>br</a:t>
            </a:r>
            <a:r>
              <a:rPr lang="en-US" altLang="ko-KR" dirty="0"/>
              <a:t>&gt;</a:t>
            </a:r>
          </a:p>
          <a:p>
            <a:r>
              <a:rPr lang="ko-KR" altLang="en-US" dirty="0" smtClean="0"/>
              <a:t>  학과 </a:t>
            </a:r>
            <a:r>
              <a:rPr lang="en-US" altLang="ko-KR" dirty="0"/>
              <a:t>: &lt;input type="text" name="department"&gt;&lt;</a:t>
            </a:r>
            <a:r>
              <a:rPr lang="en-US" altLang="ko-KR" dirty="0" err="1"/>
              <a:t>br</a:t>
            </a:r>
            <a:r>
              <a:rPr lang="en-US" altLang="ko-KR" dirty="0"/>
              <a:t>&gt;</a:t>
            </a:r>
          </a:p>
          <a:p>
            <a:r>
              <a:rPr lang="en-US" altLang="ko-KR" dirty="0" smtClean="0"/>
              <a:t>           &lt;</a:t>
            </a:r>
            <a:r>
              <a:rPr lang="en-US" altLang="ko-KR" dirty="0"/>
              <a:t>input type="submit"&gt;</a:t>
            </a:r>
          </a:p>
          <a:p>
            <a:r>
              <a:rPr lang="en-US" altLang="ko-KR" dirty="0" smtClean="0"/>
              <a:t>&lt;/</a:t>
            </a:r>
            <a:r>
              <a:rPr lang="en-US" altLang="ko-KR" dirty="0"/>
              <a:t>form&gt;</a:t>
            </a:r>
            <a:endParaRPr lang="ko-KR" altLang="en-US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8647" y="4858262"/>
            <a:ext cx="2924175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20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="" xmlns:a16="http://schemas.microsoft.com/office/drawing/2014/main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="" xmlns:a16="http://schemas.microsoft.com/office/drawing/2014/main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="" xmlns:a16="http://schemas.microsoft.com/office/drawing/2014/main" id="{CB80EB46-A41F-42D1-925C-1E1D34396238}"/>
              </a:ext>
            </a:extLst>
          </p:cNvPr>
          <p:cNvSpPr txBox="1"/>
          <p:nvPr/>
        </p:nvSpPr>
        <p:spPr>
          <a:xfrm>
            <a:off x="660400" y="203587"/>
            <a:ext cx="1112606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00" spc="-3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Type – </a:t>
            </a:r>
            <a:r>
              <a:rPr lang="en-US" altLang="ko-KR" sz="3300" spc="-3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radio</a:t>
            </a:r>
            <a:endParaRPr lang="ko-KR" altLang="en-US" sz="33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="" xmlns:a16="http://schemas.microsoft.com/office/drawing/2014/main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 smtClean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5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="" xmlns:a16="http://schemas.microsoft.com/office/drawing/2014/main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xmlns="" id="{CA2EE044-8E61-E904-1196-F1BB9FB53FEE}"/>
              </a:ext>
            </a:extLst>
          </p:cNvPr>
          <p:cNvSpPr/>
          <p:nvPr/>
        </p:nvSpPr>
        <p:spPr>
          <a:xfrm>
            <a:off x="416359" y="1126187"/>
            <a:ext cx="2755209" cy="4724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/>
              <a:t>Type - </a:t>
            </a:r>
            <a:r>
              <a:rPr lang="en-US" altLang="ko-KR" sz="1600" dirty="0" smtClean="0"/>
              <a:t>radio</a:t>
            </a:r>
            <a:endParaRPr lang="ko-KR" altLang="en-US" sz="1600" dirty="0"/>
          </a:p>
        </p:txBody>
      </p:sp>
      <p:sp>
        <p:nvSpPr>
          <p:cNvPr id="12" name="직사각형 11"/>
          <p:cNvSpPr/>
          <p:nvPr/>
        </p:nvSpPr>
        <p:spPr>
          <a:xfrm>
            <a:off x="416359" y="1720982"/>
            <a:ext cx="11370102" cy="64633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/>
              <a:t>여러 개의 항목 중에서 하나만 선택하도록 하는 동그란 버튼을 라디오 버튼이라고 </a:t>
            </a:r>
            <a:r>
              <a:rPr lang="ko-KR" altLang="en-US" dirty="0" smtClean="0"/>
              <a:t>함</a:t>
            </a:r>
            <a:endParaRPr lang="en-US" altLang="ko-KR" dirty="0"/>
          </a:p>
          <a:p>
            <a:r>
              <a:rPr lang="ko-KR" altLang="en-US" dirty="0"/>
              <a:t>라디오 버튼은 </a:t>
            </a:r>
            <a:r>
              <a:rPr lang="en-US" altLang="ko-KR" dirty="0"/>
              <a:t>input </a:t>
            </a:r>
            <a:r>
              <a:rPr lang="ko-KR" altLang="en-US" dirty="0"/>
              <a:t>태그로 </a:t>
            </a:r>
            <a:r>
              <a:rPr lang="ko-KR" altLang="en-US" dirty="0" err="1" smtClean="0"/>
              <a:t>만듬</a:t>
            </a:r>
            <a:endParaRPr lang="en-US" altLang="ko-KR" dirty="0"/>
          </a:p>
        </p:txBody>
      </p:sp>
      <p:sp>
        <p:nvSpPr>
          <p:cNvPr id="13" name="직사각형 12"/>
          <p:cNvSpPr/>
          <p:nvPr/>
        </p:nvSpPr>
        <p:spPr>
          <a:xfrm>
            <a:off x="785737" y="2595360"/>
            <a:ext cx="1021000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dirty="0"/>
              <a:t>&lt;input type="radio" name="major" value="</a:t>
            </a:r>
            <a:r>
              <a:rPr lang="en-US" altLang="ko-KR" sz="2400" dirty="0" err="1"/>
              <a:t>kor</a:t>
            </a:r>
            <a:r>
              <a:rPr lang="en-US" altLang="ko-KR" sz="2400" dirty="0"/>
              <a:t>"&gt;</a:t>
            </a:r>
            <a:r>
              <a:rPr lang="ko-KR" altLang="en-US" sz="2400" dirty="0"/>
              <a:t>국어</a:t>
            </a:r>
          </a:p>
          <a:p>
            <a:r>
              <a:rPr lang="en-US" altLang="ko-KR" sz="2400" dirty="0"/>
              <a:t>&lt;input type="radio" name="major" value="</a:t>
            </a:r>
            <a:r>
              <a:rPr lang="en-US" altLang="ko-KR" sz="2400" dirty="0" err="1"/>
              <a:t>eng</a:t>
            </a:r>
            <a:r>
              <a:rPr lang="en-US" altLang="ko-KR" sz="2400" dirty="0"/>
              <a:t>" checked="checked"&gt;</a:t>
            </a:r>
            <a:r>
              <a:rPr lang="ko-KR" altLang="en-US" sz="2400" dirty="0"/>
              <a:t>영어</a:t>
            </a:r>
          </a:p>
          <a:p>
            <a:r>
              <a:rPr lang="en-US" altLang="ko-KR" sz="2400" dirty="0"/>
              <a:t>&lt;input type="radio" name="major" value="mat" &gt;</a:t>
            </a:r>
            <a:r>
              <a:rPr lang="ko-KR" altLang="en-US" sz="2400" dirty="0"/>
              <a:t>수학</a:t>
            </a:r>
          </a:p>
          <a:p>
            <a:r>
              <a:rPr lang="en-US" altLang="ko-KR" sz="2400" dirty="0"/>
              <a:t>&lt;input type="radio" name="major" value="des" &gt;</a:t>
            </a:r>
            <a:r>
              <a:rPr lang="ko-KR" altLang="en-US" sz="2400" dirty="0"/>
              <a:t>디자인</a:t>
            </a:r>
            <a:endParaRPr lang="en-US" altLang="ko-KR" sz="2400" dirty="0">
              <a:latin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877678" y="4393067"/>
            <a:ext cx="6577565" cy="9233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ko-KR" dirty="0"/>
              <a:t>name : name</a:t>
            </a:r>
            <a:r>
              <a:rPr lang="ko-KR" altLang="en-US" dirty="0"/>
              <a:t>의 값이 같은 것 중에서 하나를 </a:t>
            </a:r>
            <a:r>
              <a:rPr lang="ko-KR" altLang="en-US" dirty="0" smtClean="0"/>
              <a:t>선택</a:t>
            </a:r>
            <a:endParaRPr lang="en-US" altLang="ko-KR" dirty="0"/>
          </a:p>
          <a:p>
            <a:r>
              <a:rPr lang="en-US" altLang="ko-KR" dirty="0"/>
              <a:t>value : </a:t>
            </a:r>
            <a:r>
              <a:rPr lang="ko-KR" altLang="en-US" dirty="0"/>
              <a:t>선택했을 때 전달될 </a:t>
            </a:r>
            <a:r>
              <a:rPr lang="ko-KR" altLang="en-US" dirty="0" smtClean="0"/>
              <a:t>값</a:t>
            </a:r>
            <a:endParaRPr lang="en-US" altLang="ko-KR" dirty="0"/>
          </a:p>
          <a:p>
            <a:r>
              <a:rPr lang="en-US" altLang="ko-KR" dirty="0"/>
              <a:t>checked : </a:t>
            </a:r>
            <a:r>
              <a:rPr lang="ko-KR" altLang="en-US" dirty="0"/>
              <a:t>선택된 상태로 </a:t>
            </a:r>
            <a:r>
              <a:rPr lang="ko-KR" altLang="en-US" dirty="0" err="1" smtClean="0"/>
              <a:t>만듬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9073481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="" xmlns:a16="http://schemas.microsoft.com/office/drawing/2014/main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="" xmlns:a16="http://schemas.microsoft.com/office/drawing/2014/main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="" xmlns:a16="http://schemas.microsoft.com/office/drawing/2014/main" id="{CB80EB46-A41F-42D1-925C-1E1D34396238}"/>
              </a:ext>
            </a:extLst>
          </p:cNvPr>
          <p:cNvSpPr txBox="1"/>
          <p:nvPr/>
        </p:nvSpPr>
        <p:spPr>
          <a:xfrm>
            <a:off x="660400" y="203587"/>
            <a:ext cx="1112606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00" spc="-3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Type – </a:t>
            </a:r>
            <a:r>
              <a:rPr lang="en-US" altLang="ko-KR" sz="3300" spc="-3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checkbox</a:t>
            </a:r>
            <a:endParaRPr lang="ko-KR" altLang="en-US" sz="33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="" xmlns:a16="http://schemas.microsoft.com/office/drawing/2014/main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 smtClean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5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="" xmlns:a16="http://schemas.microsoft.com/office/drawing/2014/main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xmlns="" id="{CA2EE044-8E61-E904-1196-F1BB9FB53FEE}"/>
              </a:ext>
            </a:extLst>
          </p:cNvPr>
          <p:cNvSpPr/>
          <p:nvPr/>
        </p:nvSpPr>
        <p:spPr>
          <a:xfrm>
            <a:off x="416359" y="1126187"/>
            <a:ext cx="2755209" cy="4724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/>
              <a:t>Type - </a:t>
            </a:r>
            <a:r>
              <a:rPr lang="en-US" altLang="ko-KR" sz="1600" dirty="0" smtClean="0"/>
              <a:t>radio</a:t>
            </a:r>
            <a:endParaRPr lang="ko-KR" altLang="en-US" sz="1600" dirty="0"/>
          </a:p>
        </p:txBody>
      </p:sp>
      <p:sp>
        <p:nvSpPr>
          <p:cNvPr id="12" name="직사각형 11"/>
          <p:cNvSpPr/>
          <p:nvPr/>
        </p:nvSpPr>
        <p:spPr>
          <a:xfrm>
            <a:off x="416359" y="1720982"/>
            <a:ext cx="11370102" cy="64633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/>
              <a:t>체크박스는 클릭하면 선택되고</a:t>
            </a:r>
            <a:r>
              <a:rPr lang="en-US" altLang="ko-KR" dirty="0"/>
              <a:t>, </a:t>
            </a:r>
            <a:r>
              <a:rPr lang="ko-KR" altLang="en-US" dirty="0"/>
              <a:t>다시 클릭하면 선택이 해제되는 사각형 모양의 박스이다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체크박스는 </a:t>
            </a:r>
            <a:r>
              <a:rPr lang="en-US" altLang="ko-KR" dirty="0"/>
              <a:t>input </a:t>
            </a:r>
            <a:r>
              <a:rPr lang="ko-KR" altLang="en-US" dirty="0"/>
              <a:t>태그로 만든다</a:t>
            </a:r>
            <a:r>
              <a:rPr lang="en-US" altLang="ko-KR"/>
              <a:t>.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785737" y="2595360"/>
            <a:ext cx="1021000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dirty="0"/>
              <a:t>&lt;input type="radio" name="major" value="</a:t>
            </a:r>
            <a:r>
              <a:rPr lang="en-US" altLang="ko-KR" sz="2400" dirty="0" err="1"/>
              <a:t>kor</a:t>
            </a:r>
            <a:r>
              <a:rPr lang="en-US" altLang="ko-KR" sz="2400" dirty="0"/>
              <a:t>"&gt;</a:t>
            </a:r>
            <a:r>
              <a:rPr lang="ko-KR" altLang="en-US" sz="2400" dirty="0"/>
              <a:t>국어</a:t>
            </a:r>
          </a:p>
          <a:p>
            <a:r>
              <a:rPr lang="en-US" altLang="ko-KR" sz="2400" dirty="0"/>
              <a:t>&lt;input type="radio" name="major" value="</a:t>
            </a:r>
            <a:r>
              <a:rPr lang="en-US" altLang="ko-KR" sz="2400" dirty="0" err="1"/>
              <a:t>eng</a:t>
            </a:r>
            <a:r>
              <a:rPr lang="en-US" altLang="ko-KR" sz="2400" dirty="0"/>
              <a:t>" checked="checked"&gt;</a:t>
            </a:r>
            <a:r>
              <a:rPr lang="ko-KR" altLang="en-US" sz="2400" dirty="0"/>
              <a:t>영어</a:t>
            </a:r>
          </a:p>
          <a:p>
            <a:r>
              <a:rPr lang="en-US" altLang="ko-KR" sz="2400" dirty="0"/>
              <a:t>&lt;input type="radio" name="major" value="mat" &gt;</a:t>
            </a:r>
            <a:r>
              <a:rPr lang="ko-KR" altLang="en-US" sz="2400" dirty="0"/>
              <a:t>수학</a:t>
            </a:r>
          </a:p>
          <a:p>
            <a:r>
              <a:rPr lang="en-US" altLang="ko-KR" sz="2400" dirty="0"/>
              <a:t>&lt;input type="radio" name="major" value="des" &gt;</a:t>
            </a:r>
            <a:r>
              <a:rPr lang="ko-KR" altLang="en-US" sz="2400" dirty="0"/>
              <a:t>디자인</a:t>
            </a:r>
            <a:endParaRPr lang="en-US" altLang="ko-KR" sz="2400" dirty="0">
              <a:latin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877678" y="4393067"/>
            <a:ext cx="6577565" cy="9233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ko-KR" dirty="0"/>
              <a:t>name : name</a:t>
            </a:r>
            <a:r>
              <a:rPr lang="ko-KR" altLang="en-US" dirty="0"/>
              <a:t>의 값이 같은 것 중에서 하나를 </a:t>
            </a:r>
            <a:r>
              <a:rPr lang="ko-KR" altLang="en-US" dirty="0" smtClean="0"/>
              <a:t>선택</a:t>
            </a:r>
            <a:endParaRPr lang="en-US" altLang="ko-KR" dirty="0"/>
          </a:p>
          <a:p>
            <a:r>
              <a:rPr lang="en-US" altLang="ko-KR" dirty="0"/>
              <a:t>value : </a:t>
            </a:r>
            <a:r>
              <a:rPr lang="ko-KR" altLang="en-US" dirty="0"/>
              <a:t>선택했을 때 전달될 </a:t>
            </a:r>
            <a:r>
              <a:rPr lang="ko-KR" altLang="en-US" dirty="0" smtClean="0"/>
              <a:t>값</a:t>
            </a:r>
            <a:endParaRPr lang="en-US" altLang="ko-KR" dirty="0"/>
          </a:p>
          <a:p>
            <a:r>
              <a:rPr lang="en-US" altLang="ko-KR" dirty="0"/>
              <a:t>checked : </a:t>
            </a:r>
            <a:r>
              <a:rPr lang="ko-KR" altLang="en-US" dirty="0"/>
              <a:t>선택된 상태로 </a:t>
            </a:r>
            <a:r>
              <a:rPr lang="ko-KR" altLang="en-US" dirty="0" err="1" smtClean="0"/>
              <a:t>만듬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570325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="" xmlns:a16="http://schemas.microsoft.com/office/drawing/2014/main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="" xmlns:a16="http://schemas.microsoft.com/office/drawing/2014/main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="" xmlns:a16="http://schemas.microsoft.com/office/drawing/2014/main" id="{CB80EB46-A41F-42D1-925C-1E1D34396238}"/>
              </a:ext>
            </a:extLst>
          </p:cNvPr>
          <p:cNvSpPr txBox="1"/>
          <p:nvPr/>
        </p:nvSpPr>
        <p:spPr>
          <a:xfrm>
            <a:off x="660400" y="203587"/>
            <a:ext cx="111260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spc="-3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textarea</a:t>
            </a:r>
            <a:endParaRPr lang="ko-KR" altLang="en-US" sz="36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="" xmlns:a16="http://schemas.microsoft.com/office/drawing/2014/main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 smtClean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2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="" xmlns:a16="http://schemas.microsoft.com/office/drawing/2014/main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/>
          <p:cNvSpPr/>
          <p:nvPr/>
        </p:nvSpPr>
        <p:spPr>
          <a:xfrm>
            <a:off x="416359" y="1670563"/>
            <a:ext cx="11370102" cy="64633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/>
              <a:t>여러 줄을 </a:t>
            </a:r>
            <a:r>
              <a:rPr lang="ko-KR" altLang="en-US" dirty="0" err="1"/>
              <a:t>입력받는</a:t>
            </a:r>
            <a:r>
              <a:rPr lang="ko-KR" altLang="en-US" dirty="0"/>
              <a:t> </a:t>
            </a:r>
            <a:r>
              <a:rPr lang="ko-KR" altLang="en-US" dirty="0" smtClean="0"/>
              <a:t>태그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속성 </a:t>
            </a:r>
            <a:r>
              <a:rPr lang="ko-KR" altLang="en-US" dirty="0"/>
              <a:t>중에 </a:t>
            </a:r>
            <a:r>
              <a:rPr lang="en-US" altLang="ko-KR" dirty="0"/>
              <a:t>rows</a:t>
            </a:r>
            <a:r>
              <a:rPr lang="ko-KR" altLang="en-US" dirty="0"/>
              <a:t>와 </a:t>
            </a:r>
            <a:r>
              <a:rPr lang="en-US" altLang="ko-KR" dirty="0"/>
              <a:t>cols</a:t>
            </a:r>
            <a:r>
              <a:rPr lang="ko-KR" altLang="en-US" dirty="0"/>
              <a:t>가 </a:t>
            </a:r>
            <a:r>
              <a:rPr lang="ko-KR" altLang="en-US" dirty="0" smtClean="0"/>
              <a:t>있음</a:t>
            </a:r>
            <a:r>
              <a:rPr lang="en-US" altLang="ko-KR" dirty="0" smtClean="0"/>
              <a:t>. </a:t>
            </a:r>
            <a:r>
              <a:rPr lang="en-US" altLang="ko-KR" dirty="0"/>
              <a:t>rows</a:t>
            </a:r>
            <a:r>
              <a:rPr lang="ko-KR" altLang="en-US" dirty="0"/>
              <a:t>는 줄을</a:t>
            </a:r>
            <a:r>
              <a:rPr lang="en-US" altLang="ko-KR" dirty="0"/>
              <a:t>, cols</a:t>
            </a:r>
            <a:r>
              <a:rPr lang="ko-KR" altLang="en-US" dirty="0"/>
              <a:t>는 한 줄에 입력될 크기를 </a:t>
            </a:r>
            <a:r>
              <a:rPr lang="ko-KR" altLang="en-US" dirty="0" smtClean="0"/>
              <a:t>지정</a:t>
            </a:r>
            <a:r>
              <a:rPr lang="en-US" altLang="ko-KR" dirty="0" smtClean="0"/>
              <a:t>.</a:t>
            </a:r>
            <a:endParaRPr lang="ko-KR" altLang="en-US" dirty="0">
              <a:latin typeface="NanumBarunGothic" panose="020B0603020101020101" pitchFamily="50" charset="-127"/>
              <a:ea typeface="NanumBarunGothic" panose="020B0603020101020101" pitchFamily="50" charset="-127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16359" y="2679716"/>
            <a:ext cx="6569327" cy="403187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/>
              <a:t>&lt;html&gt;</a:t>
            </a:r>
          </a:p>
          <a:p>
            <a:r>
              <a:rPr lang="en-US" altLang="ko-KR" sz="1600" dirty="0"/>
              <a:t>    &lt;head&gt;&lt;/head</a:t>
            </a:r>
            <a:r>
              <a:rPr lang="en-US" altLang="ko-KR" sz="1600" dirty="0" smtClean="0"/>
              <a:t>&gt;</a:t>
            </a:r>
            <a:endParaRPr lang="en-US" altLang="ko-KR" sz="1600" dirty="0"/>
          </a:p>
          <a:p>
            <a:r>
              <a:rPr lang="en-US" altLang="ko-KR" sz="1600" dirty="0"/>
              <a:t>    &lt;body &gt;</a:t>
            </a:r>
          </a:p>
          <a:p>
            <a:r>
              <a:rPr lang="en-US" altLang="ko-KR" sz="1600" dirty="0"/>
              <a:t>        &lt;form action = "#" </a:t>
            </a:r>
            <a:r>
              <a:rPr lang="en-US" altLang="ko-KR" sz="1600" dirty="0" smtClean="0"/>
              <a:t>name </a:t>
            </a:r>
            <a:r>
              <a:rPr lang="en-US" altLang="ko-KR" sz="1600" dirty="0"/>
              <a:t>= "</a:t>
            </a:r>
            <a:r>
              <a:rPr lang="en-US" altLang="ko-KR" sz="1600" dirty="0" err="1"/>
              <a:t>person_info</a:t>
            </a:r>
            <a:r>
              <a:rPr lang="en-US" altLang="ko-KR" sz="1600" dirty="0"/>
              <a:t>" method = "get"&gt; </a:t>
            </a:r>
          </a:p>
          <a:p>
            <a:r>
              <a:rPr lang="en-US" altLang="ko-KR" sz="1600" dirty="0"/>
              <a:t>            &lt;</a:t>
            </a:r>
            <a:r>
              <a:rPr lang="en-US" altLang="ko-KR" sz="1600" dirty="0" err="1"/>
              <a:t>fieldset</a:t>
            </a:r>
            <a:r>
              <a:rPr lang="en-US" altLang="ko-KR" sz="1600" dirty="0"/>
              <a:t> style = "width:250"&gt;</a:t>
            </a:r>
          </a:p>
          <a:p>
            <a:r>
              <a:rPr lang="en-US" altLang="ko-KR" sz="1600" dirty="0"/>
              <a:t>                &lt;legend&gt;</a:t>
            </a:r>
            <a:r>
              <a:rPr lang="ko-KR" altLang="en-US" sz="1600" dirty="0"/>
              <a:t>개인 정보 입력</a:t>
            </a:r>
            <a:r>
              <a:rPr lang="en-US" altLang="ko-KR" sz="1600" dirty="0"/>
              <a:t>&lt;/legend&gt;</a:t>
            </a:r>
          </a:p>
          <a:p>
            <a:r>
              <a:rPr lang="en-US" altLang="ko-KR" sz="1600" dirty="0"/>
              <a:t>                    </a:t>
            </a:r>
            <a:r>
              <a:rPr lang="ko-KR" altLang="en-US" sz="1600" dirty="0"/>
              <a:t>가입 인사 </a:t>
            </a:r>
            <a:r>
              <a:rPr lang="en-US" altLang="ko-KR" sz="1600" dirty="0"/>
              <a:t>&lt;</a:t>
            </a:r>
            <a:r>
              <a:rPr lang="en-US" altLang="ko-KR" sz="1600" dirty="0" err="1"/>
              <a:t>br</a:t>
            </a:r>
            <a:r>
              <a:rPr lang="en-US" altLang="ko-KR" sz="1600" dirty="0"/>
              <a:t>&gt;</a:t>
            </a:r>
          </a:p>
          <a:p>
            <a:r>
              <a:rPr lang="en-US" altLang="ko-KR" sz="1600" dirty="0"/>
              <a:t>                    &lt;</a:t>
            </a:r>
            <a:r>
              <a:rPr lang="en-US" altLang="ko-KR" sz="1600" dirty="0" err="1"/>
              <a:t>textarea</a:t>
            </a:r>
            <a:r>
              <a:rPr lang="en-US" altLang="ko-KR" sz="1600" dirty="0"/>
              <a:t> name = "comment" cols = "50" rows = "5"  </a:t>
            </a:r>
          </a:p>
          <a:p>
            <a:r>
              <a:rPr lang="en-US" altLang="ko-KR" sz="1600" dirty="0"/>
              <a:t>                              placeholder="</a:t>
            </a:r>
            <a:r>
              <a:rPr lang="ko-KR" altLang="en-US" sz="1600" dirty="0"/>
              <a:t>가입인사를 남겨주세요</a:t>
            </a:r>
            <a:r>
              <a:rPr lang="en-US" altLang="ko-KR" sz="1600" dirty="0"/>
              <a:t>."&gt;&lt;/</a:t>
            </a:r>
            <a:r>
              <a:rPr lang="en-US" altLang="ko-KR" sz="1600" dirty="0" err="1"/>
              <a:t>textarea</a:t>
            </a:r>
            <a:r>
              <a:rPr lang="en-US" altLang="ko-KR" sz="1600" dirty="0"/>
              <a:t>&gt;</a:t>
            </a:r>
          </a:p>
          <a:p>
            <a:r>
              <a:rPr lang="en-US" altLang="ko-KR" sz="1600" dirty="0"/>
              <a:t>                    &lt;</a:t>
            </a:r>
            <a:r>
              <a:rPr lang="en-US" altLang="ko-KR" sz="1600" dirty="0" err="1"/>
              <a:t>br</a:t>
            </a:r>
            <a:r>
              <a:rPr lang="en-US" altLang="ko-KR" sz="1600" dirty="0"/>
              <a:t>&gt;&lt;</a:t>
            </a:r>
            <a:r>
              <a:rPr lang="en-US" altLang="ko-KR" sz="1600" dirty="0" err="1"/>
              <a:t>br</a:t>
            </a:r>
            <a:r>
              <a:rPr lang="en-US" altLang="ko-KR" sz="1600" dirty="0"/>
              <a:t>&gt;</a:t>
            </a:r>
          </a:p>
          <a:p>
            <a:r>
              <a:rPr lang="en-US" altLang="ko-KR" sz="1600" dirty="0"/>
              <a:t>                    &lt;input type = "submit" value = "submit"/&gt;</a:t>
            </a:r>
          </a:p>
          <a:p>
            <a:r>
              <a:rPr lang="en-US" altLang="ko-KR" sz="1600" dirty="0"/>
              <a:t>                    &lt;input type = "reset" value = "reset"/&gt;&lt;</a:t>
            </a:r>
            <a:r>
              <a:rPr lang="en-US" altLang="ko-KR" sz="1600" dirty="0" err="1"/>
              <a:t>br</a:t>
            </a:r>
            <a:r>
              <a:rPr lang="en-US" altLang="ko-KR" sz="1600" dirty="0"/>
              <a:t>&gt;&lt;</a:t>
            </a:r>
            <a:r>
              <a:rPr lang="en-US" altLang="ko-KR" sz="1600" dirty="0" err="1"/>
              <a:t>br</a:t>
            </a:r>
            <a:r>
              <a:rPr lang="en-US" altLang="ko-KR" sz="1600" dirty="0"/>
              <a:t>&gt;</a:t>
            </a:r>
          </a:p>
          <a:p>
            <a:r>
              <a:rPr lang="en-US" altLang="ko-KR" sz="1600" dirty="0"/>
              <a:t>            &lt;/</a:t>
            </a:r>
            <a:r>
              <a:rPr lang="en-US" altLang="ko-KR" sz="1600" dirty="0" err="1"/>
              <a:t>fieldset</a:t>
            </a:r>
            <a:r>
              <a:rPr lang="en-US" altLang="ko-KR" sz="1600" dirty="0"/>
              <a:t>&gt; </a:t>
            </a:r>
          </a:p>
          <a:p>
            <a:r>
              <a:rPr lang="en-US" altLang="ko-KR" sz="1600" dirty="0"/>
              <a:t>        &lt;/form&gt;</a:t>
            </a:r>
          </a:p>
          <a:p>
            <a:r>
              <a:rPr lang="en-US" altLang="ko-KR" sz="1600" dirty="0"/>
              <a:t>    &lt;/body&gt;</a:t>
            </a:r>
          </a:p>
          <a:p>
            <a:r>
              <a:rPr lang="en-US" altLang="ko-KR" sz="1600" dirty="0"/>
              <a:t>&lt;/html&gt;</a:t>
            </a:r>
            <a:endParaRPr lang="ko-KR" altLang="en-US" sz="1600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xmlns="" id="{CA2EE044-8E61-E904-1196-F1BB9FB53FEE}"/>
              </a:ext>
            </a:extLst>
          </p:cNvPr>
          <p:cNvSpPr/>
          <p:nvPr/>
        </p:nvSpPr>
        <p:spPr>
          <a:xfrm>
            <a:off x="416359" y="1126187"/>
            <a:ext cx="2755209" cy="4724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/>
              <a:t>Form - </a:t>
            </a:r>
            <a:r>
              <a:rPr lang="en-US" altLang="ko-KR" sz="1600" dirty="0" err="1" smtClean="0"/>
              <a:t>textarea</a:t>
            </a:r>
            <a:endParaRPr lang="ko-KR" altLang="en-US" sz="1600" dirty="0"/>
          </a:p>
        </p:txBody>
      </p:sp>
      <p:pic>
        <p:nvPicPr>
          <p:cNvPr id="2050" name="Picture 2" descr="https://www.nextree.co.kr/content/images/2021/01/hjkwon-140328-form_-0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6062" y="3621687"/>
            <a:ext cx="3971925" cy="2019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4408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="" xmlns:a16="http://schemas.microsoft.com/office/drawing/2014/main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="" xmlns:a16="http://schemas.microsoft.com/office/drawing/2014/main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="" xmlns:a16="http://schemas.microsoft.com/office/drawing/2014/main" id="{CB80EB46-A41F-42D1-925C-1E1D34396238}"/>
              </a:ext>
            </a:extLst>
          </p:cNvPr>
          <p:cNvSpPr txBox="1"/>
          <p:nvPr/>
        </p:nvSpPr>
        <p:spPr>
          <a:xfrm>
            <a:off x="660400" y="203587"/>
            <a:ext cx="111260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select, option</a:t>
            </a:r>
            <a:endParaRPr lang="ko-KR" altLang="en-US" sz="36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="" xmlns:a16="http://schemas.microsoft.com/office/drawing/2014/main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 smtClean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2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="" xmlns:a16="http://schemas.microsoft.com/office/drawing/2014/main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/>
          <p:cNvSpPr/>
          <p:nvPr/>
        </p:nvSpPr>
        <p:spPr>
          <a:xfrm>
            <a:off x="416359" y="1670563"/>
            <a:ext cx="11370102" cy="36933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/>
              <a:t>&lt;select&gt; </a:t>
            </a:r>
            <a:r>
              <a:rPr lang="ko-KR" altLang="en-US" dirty="0"/>
              <a:t>및 </a:t>
            </a:r>
            <a:r>
              <a:rPr lang="en-US" altLang="ko-KR" dirty="0"/>
              <a:t>&lt;option&gt;</a:t>
            </a:r>
            <a:r>
              <a:rPr lang="ko-KR" altLang="en-US" dirty="0"/>
              <a:t>은 </a:t>
            </a:r>
            <a:r>
              <a:rPr lang="ko-KR" altLang="en-US" dirty="0" err="1"/>
              <a:t>드롭다운</a:t>
            </a:r>
            <a:r>
              <a:rPr lang="ko-KR" altLang="en-US" dirty="0"/>
              <a:t> 리스트를 만드는 태그</a:t>
            </a:r>
            <a:endParaRPr lang="ko-KR" altLang="en-US" dirty="0">
              <a:latin typeface="NanumBarunGothic" panose="020B0603020101020101" pitchFamily="50" charset="-127"/>
              <a:ea typeface="NanumBarunGothic" panose="020B0603020101020101" pitchFamily="50" charset="-127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16359" y="2178055"/>
            <a:ext cx="5473695" cy="132343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/>
              <a:t>&lt;</a:t>
            </a:r>
            <a:r>
              <a:rPr lang="en-US" altLang="ko-KR" sz="1600" dirty="0" smtClean="0"/>
              <a:t>select name=“train”&gt;</a:t>
            </a:r>
            <a:endParaRPr lang="en-US" altLang="ko-KR" sz="1600" dirty="0"/>
          </a:p>
          <a:p>
            <a:r>
              <a:rPr lang="en-US" altLang="ko-KR" sz="1600" dirty="0"/>
              <a:t>	&lt;option value="</a:t>
            </a:r>
            <a:r>
              <a:rPr lang="en-US" altLang="ko-KR" sz="1600" dirty="0" err="1"/>
              <a:t>ktx</a:t>
            </a:r>
            <a:r>
              <a:rPr lang="en-US" altLang="ko-KR" sz="1600" dirty="0"/>
              <a:t>"&gt;KTX&lt;/option&gt;</a:t>
            </a:r>
          </a:p>
          <a:p>
            <a:r>
              <a:rPr lang="en-US" altLang="ko-KR" sz="1600" dirty="0"/>
              <a:t>	&lt;option value="</a:t>
            </a:r>
            <a:r>
              <a:rPr lang="en-US" altLang="ko-KR" sz="1600" dirty="0" err="1"/>
              <a:t>itx</a:t>
            </a:r>
            <a:r>
              <a:rPr lang="en-US" altLang="ko-KR" sz="1600" dirty="0"/>
              <a:t>"&gt;ITX </a:t>
            </a:r>
            <a:r>
              <a:rPr lang="ko-KR" altLang="en-US" sz="1600" dirty="0"/>
              <a:t>새마을</a:t>
            </a:r>
            <a:r>
              <a:rPr lang="en-US" altLang="ko-KR" sz="1600" dirty="0"/>
              <a:t>&lt;/option&gt;</a:t>
            </a:r>
          </a:p>
          <a:p>
            <a:r>
              <a:rPr lang="en-US" altLang="ko-KR" sz="1600" dirty="0"/>
              <a:t>	&lt;option value="</a:t>
            </a:r>
            <a:r>
              <a:rPr lang="en-US" altLang="ko-KR" sz="1600" dirty="0" err="1"/>
              <a:t>mugung</a:t>
            </a:r>
            <a:r>
              <a:rPr lang="en-US" altLang="ko-KR" sz="1600" dirty="0"/>
              <a:t>"&gt;</a:t>
            </a:r>
            <a:r>
              <a:rPr lang="ko-KR" altLang="en-US" sz="1600" dirty="0" err="1"/>
              <a:t>무궁화호</a:t>
            </a:r>
            <a:r>
              <a:rPr lang="en-US" altLang="ko-KR" sz="1600" dirty="0"/>
              <a:t>&lt;/option&gt;</a:t>
            </a:r>
          </a:p>
          <a:p>
            <a:r>
              <a:rPr lang="en-US" altLang="ko-KR" sz="1600" dirty="0"/>
              <a:t>&lt;/select&gt;</a:t>
            </a:r>
            <a:endParaRPr lang="ko-KR" altLang="en-US" sz="1600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xmlns="" id="{CA2EE044-8E61-E904-1196-F1BB9FB53FEE}"/>
              </a:ext>
            </a:extLst>
          </p:cNvPr>
          <p:cNvSpPr/>
          <p:nvPr/>
        </p:nvSpPr>
        <p:spPr>
          <a:xfrm>
            <a:off x="416359" y="1126187"/>
            <a:ext cx="2755209" cy="4724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select, option</a:t>
            </a:r>
            <a:endParaRPr lang="ko-KR" altLang="en-US" sz="16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0793" y="2111857"/>
            <a:ext cx="1248023" cy="138892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16359" y="4719125"/>
            <a:ext cx="5594434" cy="15696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dirty="0" smtClean="0"/>
              <a:t>&lt;</a:t>
            </a:r>
            <a:r>
              <a:rPr lang="en-US" altLang="ko-KR" sz="1600" dirty="0"/>
              <a:t>select name="protocol"&gt;</a:t>
            </a:r>
          </a:p>
          <a:p>
            <a:pPr lvl="1"/>
            <a:r>
              <a:rPr lang="en-US" altLang="ko-KR" sz="1600" dirty="0"/>
              <a:t>&lt;option value="http"&gt;http&lt;/option&gt;</a:t>
            </a:r>
          </a:p>
          <a:p>
            <a:pPr lvl="1"/>
            <a:r>
              <a:rPr lang="en-US" altLang="ko-KR" sz="1600" dirty="0"/>
              <a:t>&lt;option value="ftp" selected="selected"&gt;ftp&lt;/option&gt;</a:t>
            </a:r>
          </a:p>
          <a:p>
            <a:r>
              <a:rPr lang="en-US" altLang="ko-KR" sz="1600" dirty="0"/>
              <a:t>      &lt;option value="</a:t>
            </a:r>
            <a:r>
              <a:rPr lang="en-US" altLang="ko-KR" sz="1600" dirty="0" err="1"/>
              <a:t>smtp</a:t>
            </a:r>
            <a:r>
              <a:rPr lang="en-US" altLang="ko-KR" sz="1600" dirty="0"/>
              <a:t>"&gt;</a:t>
            </a:r>
            <a:r>
              <a:rPr lang="en-US" altLang="ko-KR" sz="1600" dirty="0" err="1"/>
              <a:t>smtp</a:t>
            </a:r>
            <a:r>
              <a:rPr lang="en-US" altLang="ko-KR" sz="1600" dirty="0"/>
              <a:t>&lt;/option&gt;</a:t>
            </a:r>
          </a:p>
          <a:p>
            <a:r>
              <a:rPr lang="en-US" altLang="ko-KR" sz="1600" dirty="0"/>
              <a:t>      &lt;option value="pop"&gt;pop&lt;/option&gt;</a:t>
            </a:r>
          </a:p>
          <a:p>
            <a:r>
              <a:rPr lang="en-US" altLang="ko-KR" sz="1600" dirty="0"/>
              <a:t>&lt;/select</a:t>
            </a:r>
            <a:r>
              <a:rPr lang="en-US" altLang="ko-KR" sz="1600" dirty="0" smtClean="0"/>
              <a:t>&gt;</a:t>
            </a:r>
            <a:endParaRPr lang="en-US" altLang="ko-KR" sz="1100" dirty="0" smtClean="0">
              <a:latin typeface="+mn-ea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6101410" y="5204939"/>
            <a:ext cx="3111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latin typeface="+mn-ea"/>
              </a:rPr>
              <a:t>미리 선택하려면 </a:t>
            </a:r>
            <a:r>
              <a:rPr lang="en-US" altLang="ko-KR" dirty="0" smtClean="0">
                <a:latin typeface="+mn-ea"/>
              </a:rPr>
              <a:t>selected </a:t>
            </a:r>
            <a:r>
              <a:rPr lang="ko-KR" altLang="en-US" dirty="0" smtClean="0">
                <a:latin typeface="+mn-ea"/>
              </a:rPr>
              <a:t>사용</a:t>
            </a:r>
            <a:endParaRPr lang="en-US" altLang="ko-KR" dirty="0">
              <a:latin typeface="+mn-ea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xmlns="" id="{CA2EE044-8E61-E904-1196-F1BB9FB53FEE}"/>
              </a:ext>
            </a:extLst>
          </p:cNvPr>
          <p:cNvSpPr/>
          <p:nvPr/>
        </p:nvSpPr>
        <p:spPr>
          <a:xfrm>
            <a:off x="416359" y="4157711"/>
            <a:ext cx="2755209" cy="4724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smtClean="0"/>
              <a:t>예제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803790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="" xmlns:a16="http://schemas.microsoft.com/office/drawing/2014/main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="" xmlns:a16="http://schemas.microsoft.com/office/drawing/2014/main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="" xmlns:a16="http://schemas.microsoft.com/office/drawing/2014/main" id="{CB80EB46-A41F-42D1-925C-1E1D34396238}"/>
              </a:ext>
            </a:extLst>
          </p:cNvPr>
          <p:cNvSpPr txBox="1"/>
          <p:nvPr/>
        </p:nvSpPr>
        <p:spPr>
          <a:xfrm>
            <a:off x="660400" y="203587"/>
            <a:ext cx="111260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spc="-3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textarea</a:t>
            </a:r>
            <a:endParaRPr lang="ko-KR" altLang="en-US" sz="36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="" xmlns:a16="http://schemas.microsoft.com/office/drawing/2014/main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 smtClean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2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="" xmlns:a16="http://schemas.microsoft.com/office/drawing/2014/main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/>
          <p:cNvSpPr/>
          <p:nvPr/>
        </p:nvSpPr>
        <p:spPr>
          <a:xfrm>
            <a:off x="416359" y="1130968"/>
            <a:ext cx="11370102" cy="64633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/>
              <a:t>여러 줄을 </a:t>
            </a:r>
            <a:r>
              <a:rPr lang="ko-KR" altLang="en-US" dirty="0" err="1"/>
              <a:t>입력받는</a:t>
            </a:r>
            <a:r>
              <a:rPr lang="ko-KR" altLang="en-US" dirty="0"/>
              <a:t> </a:t>
            </a:r>
            <a:r>
              <a:rPr lang="ko-KR" altLang="en-US" dirty="0" smtClean="0"/>
              <a:t>태그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속성 </a:t>
            </a:r>
            <a:r>
              <a:rPr lang="ko-KR" altLang="en-US" dirty="0"/>
              <a:t>중에 </a:t>
            </a:r>
            <a:r>
              <a:rPr lang="en-US" altLang="ko-KR" dirty="0"/>
              <a:t>rows</a:t>
            </a:r>
            <a:r>
              <a:rPr lang="ko-KR" altLang="en-US" dirty="0"/>
              <a:t>와 </a:t>
            </a:r>
            <a:r>
              <a:rPr lang="en-US" altLang="ko-KR" dirty="0"/>
              <a:t>cols</a:t>
            </a:r>
            <a:r>
              <a:rPr lang="ko-KR" altLang="en-US" dirty="0"/>
              <a:t>가 </a:t>
            </a:r>
            <a:r>
              <a:rPr lang="ko-KR" altLang="en-US" dirty="0" smtClean="0"/>
              <a:t>있음</a:t>
            </a:r>
            <a:r>
              <a:rPr lang="en-US" altLang="ko-KR" dirty="0" smtClean="0"/>
              <a:t>. </a:t>
            </a:r>
            <a:r>
              <a:rPr lang="en-US" altLang="ko-KR" dirty="0"/>
              <a:t>rows</a:t>
            </a:r>
            <a:r>
              <a:rPr lang="ko-KR" altLang="en-US" dirty="0"/>
              <a:t>는 줄을</a:t>
            </a:r>
            <a:r>
              <a:rPr lang="en-US" altLang="ko-KR" dirty="0"/>
              <a:t>, cols</a:t>
            </a:r>
            <a:r>
              <a:rPr lang="ko-KR" altLang="en-US" dirty="0"/>
              <a:t>는 한 줄에 입력될 크기를 </a:t>
            </a:r>
            <a:r>
              <a:rPr lang="ko-KR" altLang="en-US" dirty="0" smtClean="0"/>
              <a:t>지정</a:t>
            </a:r>
            <a:r>
              <a:rPr lang="en-US" altLang="ko-KR" dirty="0" smtClean="0"/>
              <a:t>.</a:t>
            </a:r>
            <a:endParaRPr lang="ko-KR" altLang="en-US" dirty="0">
              <a:latin typeface="NanumBarunGothic" panose="020B0603020101020101" pitchFamily="50" charset="-127"/>
              <a:ea typeface="NanumBarunGothic" panose="020B0603020101020101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45832" y="3739555"/>
            <a:ext cx="68053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+mn-ea"/>
              </a:rPr>
              <a:t>t</a:t>
            </a:r>
            <a:r>
              <a:rPr lang="en-US" altLang="ko-KR" sz="1100" dirty="0" smtClean="0">
                <a:latin typeface="+mn-ea"/>
              </a:rPr>
              <a:t>ype = text</a:t>
            </a:r>
          </a:p>
        </p:txBody>
      </p:sp>
      <p:cxnSp>
        <p:nvCxnSpPr>
          <p:cNvPr id="22" name="직선 연결선 21"/>
          <p:cNvCxnSpPr/>
          <p:nvPr/>
        </p:nvCxnSpPr>
        <p:spPr>
          <a:xfrm>
            <a:off x="814656" y="3993036"/>
            <a:ext cx="6736518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14656" y="4039202"/>
            <a:ext cx="673651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일반적인 데이터를 입력하기 위해 사용합니다</a:t>
            </a:r>
            <a:r>
              <a:rPr lang="en-US" altLang="ko-KR" sz="1100" dirty="0" smtClean="0">
                <a:latin typeface="+mn-ea"/>
              </a:rPr>
              <a:t>.</a:t>
            </a:r>
            <a:endParaRPr lang="en-US" altLang="ko-KR" sz="1100" dirty="0">
              <a:latin typeface="+mn-ea"/>
            </a:endParaRPr>
          </a:p>
          <a:p>
            <a:r>
              <a:rPr lang="en-US" altLang="ko-KR" sz="1600" dirty="0">
                <a:latin typeface="+mn-ea"/>
              </a:rPr>
              <a:t>&lt;input type="text" name="name" size="10</a:t>
            </a:r>
            <a:r>
              <a:rPr lang="en-US" altLang="ko-KR" sz="1600" dirty="0" smtClean="0">
                <a:latin typeface="+mn-ea"/>
              </a:rPr>
              <a:t>"&gt;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832" y="4934175"/>
            <a:ext cx="68053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+mn-ea"/>
              </a:rPr>
              <a:t>t</a:t>
            </a:r>
            <a:r>
              <a:rPr lang="en-US" altLang="ko-KR" sz="1100" dirty="0" smtClean="0">
                <a:latin typeface="+mn-ea"/>
              </a:rPr>
              <a:t>ype = password</a:t>
            </a:r>
          </a:p>
        </p:txBody>
      </p:sp>
      <p:cxnSp>
        <p:nvCxnSpPr>
          <p:cNvPr id="26" name="직선 연결선 25"/>
          <p:cNvCxnSpPr/>
          <p:nvPr/>
        </p:nvCxnSpPr>
        <p:spPr>
          <a:xfrm>
            <a:off x="814656" y="5187656"/>
            <a:ext cx="6736518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14656" y="5233822"/>
            <a:ext cx="673651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로그인</a:t>
            </a:r>
            <a:r>
              <a:rPr lang="en-US" altLang="ko-KR" sz="1100" dirty="0" smtClean="0">
                <a:latin typeface="+mn-ea"/>
              </a:rPr>
              <a:t>, </a:t>
            </a:r>
            <a:r>
              <a:rPr lang="ko-KR" altLang="en-US" sz="1100" dirty="0" smtClean="0">
                <a:latin typeface="+mn-ea"/>
              </a:rPr>
              <a:t>회원가입 페이지 등에서 비밀번호 입력하기 위해 사용합니다</a:t>
            </a:r>
            <a:r>
              <a:rPr lang="en-US" altLang="ko-KR" sz="1100" dirty="0" smtClean="0">
                <a:latin typeface="+mn-ea"/>
              </a:rPr>
              <a:t>.</a:t>
            </a:r>
            <a:endParaRPr lang="en-US" altLang="ko-KR" sz="1100" dirty="0">
              <a:latin typeface="+mn-ea"/>
            </a:endParaRPr>
          </a:p>
          <a:p>
            <a:r>
              <a:rPr lang="en-US" altLang="ko-KR" sz="1600" dirty="0">
                <a:latin typeface="+mn-ea"/>
              </a:rPr>
              <a:t>&lt;input type="password" name="name" size="10"&gt;</a:t>
            </a:r>
            <a:endParaRPr lang="en-US" altLang="ko-KR" sz="1600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35236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="" xmlns:a16="http://schemas.microsoft.com/office/drawing/2014/main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="" xmlns:a16="http://schemas.microsoft.com/office/drawing/2014/main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="" xmlns:a16="http://schemas.microsoft.com/office/drawing/2014/main" id="{CB80EB46-A41F-42D1-925C-1E1D34396238}"/>
              </a:ext>
            </a:extLst>
          </p:cNvPr>
          <p:cNvSpPr txBox="1"/>
          <p:nvPr/>
        </p:nvSpPr>
        <p:spPr>
          <a:xfrm>
            <a:off x="660400" y="203587"/>
            <a:ext cx="111260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프로젝트 만들기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="" xmlns:a16="http://schemas.microsoft.com/office/drawing/2014/main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 smtClean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2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="" xmlns:a16="http://schemas.microsoft.com/office/drawing/2014/main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그림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195" y="1587671"/>
            <a:ext cx="8130886" cy="4381500"/>
          </a:xfrm>
          <a:prstGeom prst="rect">
            <a:avLst/>
          </a:prstGeom>
        </p:spPr>
      </p:pic>
      <p:cxnSp>
        <p:nvCxnSpPr>
          <p:cNvPr id="22" name="직선 연결선 21"/>
          <p:cNvCxnSpPr/>
          <p:nvPr/>
        </p:nvCxnSpPr>
        <p:spPr>
          <a:xfrm>
            <a:off x="2207100" y="1764489"/>
            <a:ext cx="435181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2207100" y="5594153"/>
            <a:ext cx="443047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440924" y="3052711"/>
            <a:ext cx="3913239" cy="43088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>
                <a:latin typeface="+mn-ea"/>
              </a:rPr>
              <a:t>GET</a:t>
            </a:r>
            <a:r>
              <a:rPr lang="ko-KR" altLang="en-US" sz="1100" b="1" dirty="0" smtClean="0">
                <a:latin typeface="+mn-ea"/>
              </a:rPr>
              <a:t> 방식</a:t>
            </a:r>
            <a:r>
              <a:rPr lang="en-US" altLang="ko-KR" sz="1100" b="1" dirty="0">
                <a:latin typeface="+mn-ea"/>
              </a:rPr>
              <a:t> </a:t>
            </a:r>
            <a:r>
              <a:rPr lang="en-US" altLang="ko-KR" sz="1100" b="1" dirty="0" smtClean="0">
                <a:latin typeface="+mn-ea"/>
              </a:rPr>
              <a:t>: </a:t>
            </a:r>
          </a:p>
          <a:p>
            <a:r>
              <a:rPr lang="en-US" altLang="ko-KR" sz="1100" dirty="0">
                <a:latin typeface="+mn-ea"/>
              </a:rPr>
              <a:t> </a:t>
            </a:r>
            <a:r>
              <a:rPr lang="en-US" altLang="ko-KR" sz="1100" dirty="0" smtClean="0">
                <a:latin typeface="+mn-ea"/>
              </a:rPr>
              <a:t>URL</a:t>
            </a:r>
            <a:r>
              <a:rPr lang="ko-KR" altLang="en-US" sz="1100" dirty="0" smtClean="0">
                <a:latin typeface="+mn-ea"/>
              </a:rPr>
              <a:t>값으로 정보가 전송되어 보안에 약함</a:t>
            </a:r>
            <a:r>
              <a:rPr lang="en-US" altLang="ko-KR" sz="1100" dirty="0" smtClean="0">
                <a:latin typeface="+mn-ea"/>
              </a:rPr>
              <a:t>.</a:t>
            </a:r>
          </a:p>
        </p:txBody>
      </p:sp>
      <p:cxnSp>
        <p:nvCxnSpPr>
          <p:cNvPr id="26" name="직선 화살표 연결선 25"/>
          <p:cNvCxnSpPr/>
          <p:nvPr/>
        </p:nvCxnSpPr>
        <p:spPr>
          <a:xfrm flipH="1" flipV="1">
            <a:off x="4484307" y="1764489"/>
            <a:ext cx="1956618" cy="1486267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/>
          <p:nvPr/>
        </p:nvCxnSpPr>
        <p:spPr>
          <a:xfrm flipH="1">
            <a:off x="4484307" y="3738361"/>
            <a:ext cx="1956618" cy="1597975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40924" y="3526683"/>
            <a:ext cx="3913239" cy="43088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>
                <a:latin typeface="+mn-ea"/>
              </a:rPr>
              <a:t>POST </a:t>
            </a:r>
            <a:r>
              <a:rPr lang="ko-KR" altLang="en-US" sz="1100" b="1" dirty="0" smtClean="0">
                <a:latin typeface="+mn-ea"/>
              </a:rPr>
              <a:t>방식 </a:t>
            </a:r>
            <a:r>
              <a:rPr lang="en-US" altLang="ko-KR" sz="1100" b="1" dirty="0" smtClean="0">
                <a:latin typeface="+mn-ea"/>
              </a:rPr>
              <a:t>: </a:t>
            </a:r>
          </a:p>
          <a:p>
            <a:r>
              <a:rPr lang="en-US" altLang="ko-KR" sz="1100" dirty="0">
                <a:latin typeface="+mn-ea"/>
              </a:rPr>
              <a:t> </a:t>
            </a:r>
            <a:r>
              <a:rPr lang="en-US" altLang="ko-KR" sz="1100" dirty="0" smtClean="0">
                <a:latin typeface="+mn-ea"/>
              </a:rPr>
              <a:t>header</a:t>
            </a:r>
            <a:r>
              <a:rPr lang="ko-KR" altLang="en-US" sz="1100" dirty="0" smtClean="0">
                <a:latin typeface="+mn-ea"/>
              </a:rPr>
              <a:t>를 이용해 정보가 전송되어 보안에 강함</a:t>
            </a:r>
            <a:r>
              <a:rPr lang="en-US" altLang="ko-KR" sz="1100" dirty="0" smtClean="0">
                <a:latin typeface="+mn-ea"/>
              </a:rPr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06264" y="2348163"/>
            <a:ext cx="12400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err="1" smtClean="0">
                <a:latin typeface="+mn-ea"/>
              </a:rPr>
              <a:t>doGet</a:t>
            </a:r>
            <a:r>
              <a:rPr lang="en-US" altLang="ko-KR" sz="1100" b="1" dirty="0" smtClean="0">
                <a:latin typeface="+mn-ea"/>
              </a:rPr>
              <a:t>() </a:t>
            </a:r>
            <a:r>
              <a:rPr lang="ko-KR" altLang="en-US" sz="1100" b="1" dirty="0" smtClean="0">
                <a:latin typeface="+mn-ea"/>
              </a:rPr>
              <a:t>호출</a:t>
            </a:r>
            <a:endParaRPr lang="en-US" altLang="ko-KR" sz="1100" b="1" dirty="0" smtClean="0">
              <a:latin typeface="+mn-ea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508271" y="4445529"/>
            <a:ext cx="11573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err="1" smtClean="0">
                <a:latin typeface="+mn-ea"/>
              </a:rPr>
              <a:t>doPost</a:t>
            </a:r>
            <a:r>
              <a:rPr lang="en-US" altLang="ko-KR" sz="1100" b="1" dirty="0" smtClean="0">
                <a:latin typeface="+mn-ea"/>
              </a:rPr>
              <a:t>() </a:t>
            </a:r>
            <a:r>
              <a:rPr lang="ko-KR" altLang="en-US" sz="1100" b="1" dirty="0" smtClean="0">
                <a:latin typeface="+mn-ea"/>
              </a:rPr>
              <a:t>호출</a:t>
            </a:r>
            <a:endParaRPr lang="en-US" altLang="ko-KR" sz="1100" b="1" dirty="0" smtClean="0">
              <a:latin typeface="+mn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397543" y="2507622"/>
            <a:ext cx="2359741" cy="26161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>
                <a:latin typeface="+mn-ea"/>
              </a:rPr>
              <a:t>Form</a:t>
            </a:r>
            <a:r>
              <a:rPr lang="ko-KR" altLang="en-US" sz="1100" b="1" dirty="0" smtClean="0">
                <a:latin typeface="+mn-ea"/>
              </a:rPr>
              <a:t>태그 </a:t>
            </a:r>
            <a:r>
              <a:rPr lang="en-US" altLang="ko-KR" sz="1100" b="1" dirty="0" smtClean="0">
                <a:latin typeface="+mn-ea"/>
              </a:rPr>
              <a:t>method </a:t>
            </a:r>
            <a:r>
              <a:rPr lang="ko-KR" altLang="en-US" sz="1100" b="1" dirty="0" smtClean="0">
                <a:latin typeface="+mn-ea"/>
              </a:rPr>
              <a:t>속성값 </a:t>
            </a:r>
            <a:r>
              <a:rPr lang="en-US" altLang="ko-KR" sz="1100" b="1" dirty="0" smtClean="0">
                <a:latin typeface="+mn-ea"/>
              </a:rPr>
              <a:t>= get</a:t>
            </a:r>
            <a:endParaRPr lang="en-US" altLang="ko-KR" sz="1100" dirty="0" smtClean="0">
              <a:latin typeface="+mn-ea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397543" y="4236788"/>
            <a:ext cx="2359741" cy="26161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>
                <a:latin typeface="+mn-ea"/>
              </a:rPr>
              <a:t>Form</a:t>
            </a:r>
            <a:r>
              <a:rPr lang="ko-KR" altLang="en-US" sz="1100" b="1" dirty="0" smtClean="0">
                <a:latin typeface="+mn-ea"/>
              </a:rPr>
              <a:t>태그 </a:t>
            </a:r>
            <a:r>
              <a:rPr lang="en-US" altLang="ko-KR" sz="1100" b="1" dirty="0" smtClean="0">
                <a:latin typeface="+mn-ea"/>
              </a:rPr>
              <a:t>method </a:t>
            </a:r>
            <a:r>
              <a:rPr lang="ko-KR" altLang="en-US" sz="1100" b="1" dirty="0" smtClean="0">
                <a:latin typeface="+mn-ea"/>
              </a:rPr>
              <a:t>속성값 </a:t>
            </a:r>
            <a:r>
              <a:rPr lang="en-US" altLang="ko-KR" sz="1100" b="1" dirty="0" smtClean="0">
                <a:latin typeface="+mn-ea"/>
              </a:rPr>
              <a:t>= post</a:t>
            </a:r>
            <a:endParaRPr lang="en-US" altLang="ko-KR" sz="1100" dirty="0" smtClean="0">
              <a:latin typeface="+mn-ea"/>
            </a:endParaRPr>
          </a:p>
        </p:txBody>
      </p:sp>
      <p:cxnSp>
        <p:nvCxnSpPr>
          <p:cNvPr id="35" name="직선 화살표 연결선 34"/>
          <p:cNvCxnSpPr/>
          <p:nvPr/>
        </p:nvCxnSpPr>
        <p:spPr>
          <a:xfrm flipH="1">
            <a:off x="9375855" y="2769232"/>
            <a:ext cx="226899" cy="283479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>
            <a:stCxn id="34" idx="0"/>
          </p:cNvCxnSpPr>
          <p:nvPr/>
        </p:nvCxnSpPr>
        <p:spPr>
          <a:xfrm flipH="1" flipV="1">
            <a:off x="9375856" y="3965488"/>
            <a:ext cx="201558" cy="2713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0851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="" xmlns:a16="http://schemas.microsoft.com/office/drawing/2014/main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="" xmlns:a16="http://schemas.microsoft.com/office/drawing/2014/main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="" xmlns:a16="http://schemas.microsoft.com/office/drawing/2014/main" id="{CB80EB46-A41F-42D1-925C-1E1D34396238}"/>
              </a:ext>
            </a:extLst>
          </p:cNvPr>
          <p:cNvSpPr txBox="1"/>
          <p:nvPr/>
        </p:nvSpPr>
        <p:spPr>
          <a:xfrm>
            <a:off x="660400" y="203587"/>
            <a:ext cx="1112606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300" spc="-3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한글처리</a:t>
            </a:r>
            <a:endParaRPr lang="ko-KR" altLang="en-US" sz="33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="" xmlns:a16="http://schemas.microsoft.com/office/drawing/2014/main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 smtClean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3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="" xmlns:a16="http://schemas.microsoft.com/office/drawing/2014/main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/>
          <p:cNvSpPr/>
          <p:nvPr/>
        </p:nvSpPr>
        <p:spPr>
          <a:xfrm>
            <a:off x="416359" y="1117801"/>
            <a:ext cx="11370102" cy="83099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+mn-ea"/>
              </a:rPr>
              <a:t>- Tomcat </a:t>
            </a:r>
            <a:r>
              <a:rPr lang="ko-KR" altLang="en-US" sz="1600" dirty="0">
                <a:latin typeface="+mn-ea"/>
              </a:rPr>
              <a:t>서버의 기본 문자 처리 방식은 </a:t>
            </a:r>
            <a:r>
              <a:rPr lang="en-US" altLang="ko-KR" sz="1600" dirty="0">
                <a:latin typeface="+mn-ea"/>
              </a:rPr>
              <a:t>IOS-8859-1 </a:t>
            </a:r>
            <a:r>
              <a:rPr lang="ko-KR" altLang="en-US" sz="1600" dirty="0">
                <a:latin typeface="+mn-ea"/>
              </a:rPr>
              <a:t>방식</a:t>
            </a:r>
            <a:r>
              <a:rPr lang="en-US" altLang="ko-KR" sz="1600" dirty="0">
                <a:latin typeface="+mn-ea"/>
              </a:rPr>
              <a:t/>
            </a:r>
            <a:br>
              <a:rPr lang="en-US" altLang="ko-KR" sz="1600" dirty="0">
                <a:latin typeface="+mn-ea"/>
              </a:rPr>
            </a:br>
            <a:r>
              <a:rPr lang="en-US" altLang="ko-KR" sz="1600" dirty="0">
                <a:latin typeface="+mn-ea"/>
              </a:rPr>
              <a:t>- GET</a:t>
            </a:r>
            <a:r>
              <a:rPr lang="ko-KR" altLang="en-US" sz="1600" dirty="0">
                <a:latin typeface="+mn-ea"/>
              </a:rPr>
              <a:t>방식 </a:t>
            </a:r>
            <a:r>
              <a:rPr lang="en-US" altLang="ko-KR" sz="1600" dirty="0">
                <a:latin typeface="+mn-ea"/>
              </a:rPr>
              <a:t>: server.xml </a:t>
            </a:r>
            <a:r>
              <a:rPr lang="ko-KR" altLang="en-US" sz="1600" dirty="0">
                <a:latin typeface="+mn-ea"/>
              </a:rPr>
              <a:t>에 </a:t>
            </a:r>
            <a:r>
              <a:rPr lang="en-US" altLang="ko-KR" sz="1600" dirty="0" err="1">
                <a:latin typeface="+mn-ea"/>
              </a:rPr>
              <a:t>URIEncoding</a:t>
            </a:r>
            <a:r>
              <a:rPr lang="en-US" altLang="ko-KR" sz="1600" dirty="0">
                <a:latin typeface="+mn-ea"/>
              </a:rPr>
              <a:t>=“utf-8”</a:t>
            </a:r>
            <a:r>
              <a:rPr lang="ko-KR" altLang="en-US" sz="1600" dirty="0">
                <a:latin typeface="+mn-ea"/>
              </a:rPr>
              <a:t>로 변경</a:t>
            </a:r>
            <a:r>
              <a:rPr lang="en-US" altLang="ko-KR" sz="1600" dirty="0">
                <a:latin typeface="+mn-ea"/>
              </a:rPr>
              <a:t/>
            </a:r>
            <a:br>
              <a:rPr lang="en-US" altLang="ko-KR" sz="1600" dirty="0">
                <a:latin typeface="+mn-ea"/>
              </a:rPr>
            </a:br>
            <a:r>
              <a:rPr lang="en-US" altLang="ko-KR" sz="1600" dirty="0">
                <a:latin typeface="+mn-ea"/>
              </a:rPr>
              <a:t>- post</a:t>
            </a:r>
            <a:r>
              <a:rPr lang="ko-KR" altLang="en-US" sz="1600" dirty="0">
                <a:latin typeface="+mn-ea"/>
              </a:rPr>
              <a:t>방식 </a:t>
            </a:r>
            <a:r>
              <a:rPr lang="en-US" altLang="ko-KR" sz="1600" dirty="0">
                <a:latin typeface="+mn-ea"/>
              </a:rPr>
              <a:t>: </a:t>
            </a:r>
            <a:r>
              <a:rPr lang="en-US" altLang="ko-KR" sz="1600" dirty="0" err="1">
                <a:latin typeface="+mn-ea"/>
              </a:rPr>
              <a:t>doPost</a:t>
            </a:r>
            <a:r>
              <a:rPr lang="ko-KR" altLang="en-US" sz="1600" dirty="0" err="1">
                <a:latin typeface="+mn-ea"/>
              </a:rPr>
              <a:t>메소드에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 err="1">
                <a:latin typeface="+mn-ea"/>
              </a:rPr>
              <a:t>request.setCharacterEncoding</a:t>
            </a:r>
            <a:r>
              <a:rPr lang="en-US" altLang="ko-KR" sz="1600" dirty="0">
                <a:latin typeface="+mn-ea"/>
              </a:rPr>
              <a:t>(“utf-8”) </a:t>
            </a:r>
            <a:r>
              <a:rPr lang="ko-KR" altLang="en-US" sz="1600" dirty="0">
                <a:latin typeface="+mn-ea"/>
              </a:rPr>
              <a:t>로 </a:t>
            </a:r>
            <a:r>
              <a:rPr lang="ko-KR" altLang="en-US" sz="1600" dirty="0" err="1">
                <a:latin typeface="+mn-ea"/>
              </a:rPr>
              <a:t>인코딩</a:t>
            </a:r>
            <a:endParaRPr lang="en-US" altLang="ko-KR" sz="1600" dirty="0">
              <a:latin typeface="+mn-ea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1787767" y="2438567"/>
            <a:ext cx="3681048" cy="14305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+mn-ea"/>
              </a:rPr>
              <a:t>Get</a:t>
            </a:r>
            <a:r>
              <a:rPr lang="ko-KR" altLang="en-US" dirty="0" smtClean="0">
                <a:latin typeface="+mn-ea"/>
              </a:rPr>
              <a:t>방식 요청</a:t>
            </a:r>
            <a:endParaRPr lang="en-US" altLang="ko-KR" dirty="0" smtClean="0">
              <a:latin typeface="+mn-ea"/>
            </a:endParaRPr>
          </a:p>
          <a:p>
            <a:pPr algn="ctr"/>
            <a:endParaRPr lang="en-US" altLang="ko-KR" sz="1200" dirty="0" smtClean="0">
              <a:latin typeface="+mn-ea"/>
            </a:endParaRPr>
          </a:p>
          <a:p>
            <a:pPr algn="ctr"/>
            <a:r>
              <a:rPr lang="en-US" altLang="ko-KR" sz="1200" dirty="0" smtClean="0">
                <a:latin typeface="+mn-ea"/>
              </a:rPr>
              <a:t>&lt;server.xml </a:t>
            </a:r>
            <a:r>
              <a:rPr lang="ko-KR" altLang="en-US" sz="1200" dirty="0" smtClean="0">
                <a:latin typeface="+mn-ea"/>
              </a:rPr>
              <a:t>수정</a:t>
            </a:r>
            <a:r>
              <a:rPr lang="en-US" altLang="ko-KR" sz="1200" dirty="0" smtClean="0">
                <a:latin typeface="+mn-ea"/>
              </a:rPr>
              <a:t>&gt;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6474067" y="2438567"/>
            <a:ext cx="3681048" cy="14305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+mn-ea"/>
              </a:rPr>
              <a:t>Post</a:t>
            </a:r>
            <a:r>
              <a:rPr lang="ko-KR" altLang="en-US" dirty="0" smtClean="0">
                <a:latin typeface="+mn-ea"/>
              </a:rPr>
              <a:t>방식 요청</a:t>
            </a:r>
            <a:endParaRPr lang="en-US" altLang="ko-KR" dirty="0" smtClean="0">
              <a:latin typeface="+mn-ea"/>
            </a:endParaRPr>
          </a:p>
          <a:p>
            <a:pPr algn="ctr"/>
            <a:endParaRPr lang="en-US" altLang="ko-KR" sz="1200" dirty="0">
              <a:latin typeface="+mn-ea"/>
            </a:endParaRPr>
          </a:p>
          <a:p>
            <a:pPr algn="ctr"/>
            <a:r>
              <a:rPr lang="en-US" altLang="ko-KR" sz="1200" dirty="0" smtClean="0">
                <a:latin typeface="+mn-ea"/>
              </a:rPr>
              <a:t>&lt;</a:t>
            </a:r>
            <a:r>
              <a:rPr lang="en-US" altLang="ko-KR" sz="1200" dirty="0" err="1" smtClean="0">
                <a:latin typeface="+mn-ea"/>
              </a:rPr>
              <a:t>request.setCharacterEncoding</a:t>
            </a:r>
            <a:r>
              <a:rPr lang="en-US" altLang="ko-KR" sz="1200" dirty="0" smtClean="0">
                <a:latin typeface="+mn-ea"/>
              </a:rPr>
              <a:t>() </a:t>
            </a:r>
            <a:r>
              <a:rPr lang="ko-KR" altLang="en-US" sz="1200" dirty="0" err="1" smtClean="0">
                <a:latin typeface="+mn-ea"/>
              </a:rPr>
              <a:t>메소드</a:t>
            </a:r>
            <a:r>
              <a:rPr lang="ko-KR" altLang="en-US" sz="1200" dirty="0" smtClean="0">
                <a:latin typeface="+mn-ea"/>
              </a:rPr>
              <a:t> 이용</a:t>
            </a:r>
            <a:r>
              <a:rPr lang="en-US" altLang="ko-KR" sz="1200" dirty="0" smtClean="0">
                <a:latin typeface="+mn-ea"/>
              </a:rPr>
              <a:t>&gt;</a:t>
            </a:r>
            <a:endParaRPr lang="ko-KR" altLang="en-US" sz="1200" dirty="0"/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291" y="4233497"/>
            <a:ext cx="3810000" cy="342900"/>
          </a:xfrm>
          <a:prstGeom prst="rect">
            <a:avLst/>
          </a:prstGeom>
        </p:spPr>
      </p:pic>
      <p:sp>
        <p:nvSpPr>
          <p:cNvPr id="22" name="직사각형 21"/>
          <p:cNvSpPr/>
          <p:nvPr/>
        </p:nvSpPr>
        <p:spPr>
          <a:xfrm>
            <a:off x="2656740" y="4211244"/>
            <a:ext cx="1739414" cy="36515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4067" y="4000134"/>
            <a:ext cx="3686175" cy="1152525"/>
          </a:xfrm>
          <a:prstGeom prst="rect">
            <a:avLst/>
          </a:prstGeom>
        </p:spPr>
      </p:pic>
      <p:sp>
        <p:nvSpPr>
          <p:cNvPr id="32" name="직사각형 31"/>
          <p:cNvSpPr/>
          <p:nvPr/>
        </p:nvSpPr>
        <p:spPr>
          <a:xfrm>
            <a:off x="6721717" y="4769922"/>
            <a:ext cx="3028952" cy="36515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/>
          <p:cNvSpPr txBox="1"/>
          <p:nvPr/>
        </p:nvSpPr>
        <p:spPr>
          <a:xfrm>
            <a:off x="3687306" y="4249973"/>
            <a:ext cx="708848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solidFill>
                  <a:srgbClr val="0000FF"/>
                </a:solidFill>
              </a:rPr>
              <a:t>“utf-8</a:t>
            </a:r>
            <a:r>
              <a:rPr lang="en-US" altLang="ko-KR" sz="1400" dirty="0" smtClean="0"/>
              <a:t>”</a:t>
            </a:r>
            <a:endParaRPr lang="ko-KR" altLang="en-US" sz="1400" dirty="0"/>
          </a:p>
        </p:txBody>
      </p:sp>
      <p:sp>
        <p:nvSpPr>
          <p:cNvPr id="34" name="TextBox 33"/>
          <p:cNvSpPr txBox="1"/>
          <p:nvPr/>
        </p:nvSpPr>
        <p:spPr>
          <a:xfrm>
            <a:off x="8892184" y="4793595"/>
            <a:ext cx="854721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solidFill>
                  <a:srgbClr val="0000FF"/>
                </a:solidFill>
              </a:rPr>
              <a:t>(“utf-8</a:t>
            </a:r>
            <a:r>
              <a:rPr lang="en-US" altLang="ko-KR" sz="1400" dirty="0" smtClean="0"/>
              <a:t>”);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397136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="" xmlns:a16="http://schemas.microsoft.com/office/drawing/2014/main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="" xmlns:a16="http://schemas.microsoft.com/office/drawing/2014/main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="" xmlns:a16="http://schemas.microsoft.com/office/drawing/2014/main" id="{CB80EB46-A41F-42D1-925C-1E1D34396238}"/>
              </a:ext>
            </a:extLst>
          </p:cNvPr>
          <p:cNvSpPr txBox="1"/>
          <p:nvPr/>
        </p:nvSpPr>
        <p:spPr>
          <a:xfrm>
            <a:off x="660400" y="203587"/>
            <a:ext cx="111260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Servlet </a:t>
            </a:r>
            <a:r>
              <a:rPr lang="en-US" altLang="ko-KR" sz="3600" spc="-3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- </a:t>
            </a:r>
            <a:r>
              <a:rPr lang="en-US" altLang="ko-KR" sz="3600" spc="-3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doPost</a:t>
            </a:r>
            <a:r>
              <a:rPr lang="en-US" altLang="ko-KR" sz="3600" spc="-3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() </a:t>
            </a:r>
            <a:r>
              <a:rPr lang="ko-KR" altLang="en-US" sz="3600" spc="-3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방식</a:t>
            </a:r>
            <a:endParaRPr lang="ko-KR" altLang="en-US" sz="36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="" xmlns:a16="http://schemas.microsoft.com/office/drawing/2014/main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 smtClean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4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="" xmlns:a16="http://schemas.microsoft.com/office/drawing/2014/main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872" y="1984614"/>
            <a:ext cx="4675909" cy="261347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541638" y="4680944"/>
            <a:ext cx="1150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 smtClean="0">
                <a:latin typeface="+mn-ea"/>
              </a:rPr>
              <a:t>HTML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26244" y="4680944"/>
            <a:ext cx="1150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 smtClean="0">
                <a:latin typeface="+mn-ea"/>
              </a:rPr>
              <a:t>Servlet</a:t>
            </a: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5404" y="2026781"/>
            <a:ext cx="5384380" cy="2322211"/>
          </a:xfrm>
          <a:prstGeom prst="rect">
            <a:avLst/>
          </a:prstGeom>
        </p:spPr>
      </p:pic>
      <p:sp>
        <p:nvSpPr>
          <p:cNvPr id="14" name="직사각형 13"/>
          <p:cNvSpPr/>
          <p:nvPr/>
        </p:nvSpPr>
        <p:spPr>
          <a:xfrm>
            <a:off x="2993921" y="3510116"/>
            <a:ext cx="1086465" cy="21631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6912077" y="1984614"/>
            <a:ext cx="639098" cy="21781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화살표 연결선 15"/>
          <p:cNvCxnSpPr/>
          <p:nvPr/>
        </p:nvCxnSpPr>
        <p:spPr>
          <a:xfrm flipV="1">
            <a:off x="4178710" y="2202426"/>
            <a:ext cx="2733367" cy="139618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0063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="" xmlns:a16="http://schemas.microsoft.com/office/drawing/2014/main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="" xmlns:a16="http://schemas.microsoft.com/office/drawing/2014/main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="" xmlns:a16="http://schemas.microsoft.com/office/drawing/2014/main" id="{CB80EB46-A41F-42D1-925C-1E1D34396238}"/>
              </a:ext>
            </a:extLst>
          </p:cNvPr>
          <p:cNvSpPr txBox="1"/>
          <p:nvPr/>
        </p:nvSpPr>
        <p:spPr>
          <a:xfrm>
            <a:off x="660400" y="203587"/>
            <a:ext cx="111260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spc="-3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Context path </a:t>
            </a:r>
            <a:r>
              <a:rPr lang="ko-KR" altLang="en-US" sz="3600" spc="-3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확인</a:t>
            </a:r>
            <a:endParaRPr lang="ko-KR" altLang="en-US" sz="36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="" xmlns:a16="http://schemas.microsoft.com/office/drawing/2014/main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 smtClean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5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="" xmlns:a16="http://schemas.microsoft.com/office/drawing/2014/main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그림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150" y="1958960"/>
            <a:ext cx="2200275" cy="1543050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6929" y="1958960"/>
            <a:ext cx="8356871" cy="3986222"/>
          </a:xfrm>
          <a:prstGeom prst="rect">
            <a:avLst/>
          </a:prstGeom>
        </p:spPr>
      </p:pic>
      <p:sp>
        <p:nvSpPr>
          <p:cNvPr id="26" name="직사각형 25"/>
          <p:cNvSpPr/>
          <p:nvPr/>
        </p:nvSpPr>
        <p:spPr>
          <a:xfrm>
            <a:off x="1244054" y="2851355"/>
            <a:ext cx="1086465" cy="21631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/>
          <p:cNvSpPr/>
          <p:nvPr/>
        </p:nvSpPr>
        <p:spPr>
          <a:xfrm>
            <a:off x="3382570" y="5579806"/>
            <a:ext cx="7187107" cy="22122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/>
          <p:cNvSpPr/>
          <p:nvPr/>
        </p:nvSpPr>
        <p:spPr>
          <a:xfrm>
            <a:off x="416359" y="1117801"/>
            <a:ext cx="11370102" cy="58477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 smtClean="0">
                <a:latin typeface="+mn-ea"/>
              </a:rPr>
              <a:t> - WAS(Web </a:t>
            </a:r>
            <a:r>
              <a:rPr lang="en-US" altLang="ko-KR" sz="1600" dirty="0">
                <a:latin typeface="+mn-ea"/>
              </a:rPr>
              <a:t>Application Server)</a:t>
            </a:r>
            <a:r>
              <a:rPr lang="ko-KR" altLang="en-US" sz="1600" dirty="0">
                <a:latin typeface="+mn-ea"/>
              </a:rPr>
              <a:t>에서 </a:t>
            </a:r>
            <a:r>
              <a:rPr lang="ko-KR" altLang="en-US" sz="1600" dirty="0" err="1">
                <a:latin typeface="+mn-ea"/>
              </a:rPr>
              <a:t>웹어플리케이션을</a:t>
            </a:r>
            <a:r>
              <a:rPr lang="ko-KR" altLang="en-US" sz="1600" dirty="0">
                <a:latin typeface="+mn-ea"/>
              </a:rPr>
              <a:t> 구분하기 위한 </a:t>
            </a:r>
            <a:r>
              <a:rPr lang="en-US" altLang="ko-KR" sz="1600" dirty="0" smtClean="0">
                <a:latin typeface="+mn-ea"/>
              </a:rPr>
              <a:t>path</a:t>
            </a:r>
            <a:endParaRPr lang="en-US" altLang="ko-KR" sz="1600" dirty="0">
              <a:latin typeface="+mn-ea"/>
            </a:endParaRPr>
          </a:p>
          <a:p>
            <a:r>
              <a:rPr lang="en-US" altLang="ko-KR" sz="1600" dirty="0" smtClean="0">
                <a:latin typeface="+mn-ea"/>
              </a:rPr>
              <a:t>- </a:t>
            </a:r>
            <a:r>
              <a:rPr lang="ko-KR" altLang="en-US" sz="1600" dirty="0" err="1" smtClean="0">
                <a:latin typeface="+mn-ea"/>
              </a:rPr>
              <a:t>이클립스에서</a:t>
            </a:r>
            <a:r>
              <a:rPr lang="ko-KR" altLang="en-US" sz="1600" dirty="0" smtClean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프로젝트를 생성하면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자동으로 </a:t>
            </a:r>
            <a:r>
              <a:rPr lang="en-US" altLang="ko-KR" sz="1600" dirty="0">
                <a:latin typeface="+mn-ea"/>
              </a:rPr>
              <a:t>server.xml</a:t>
            </a:r>
            <a:r>
              <a:rPr lang="ko-KR" altLang="en-US" sz="1600" dirty="0">
                <a:latin typeface="+mn-ea"/>
              </a:rPr>
              <a:t>에 </a:t>
            </a:r>
            <a:r>
              <a:rPr lang="ko-KR" altLang="en-US" sz="1600" dirty="0" smtClean="0">
                <a:latin typeface="+mn-ea"/>
              </a:rPr>
              <a:t>추가</a:t>
            </a:r>
            <a:endParaRPr lang="en-US" altLang="ko-KR" sz="16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11426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1D635ED1-ED7F-42FF-BBC4-E015AAC1D1A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" y="0"/>
            <a:ext cx="12190326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="" xmlns:a16="http://schemas.microsoft.com/office/drawing/2014/main" id="{0E00438A-FA4D-4AC6-AD9E-C18057FDD8C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44A48078-82E0-46B0-BFB6-AC766ABB0F40}"/>
              </a:ext>
            </a:extLst>
          </p:cNvPr>
          <p:cNvSpPr txBox="1"/>
          <p:nvPr/>
        </p:nvSpPr>
        <p:spPr>
          <a:xfrm>
            <a:off x="4362480" y="3034175"/>
            <a:ext cx="346703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400" dirty="0">
                <a:solidFill>
                  <a:schemeClr val="bg1"/>
                </a:solidFill>
              </a:rPr>
              <a:t>THANK</a:t>
            </a:r>
            <a:r>
              <a:rPr lang="ko-KR" altLang="en-US" sz="4400" dirty="0">
                <a:solidFill>
                  <a:schemeClr val="bg1"/>
                </a:solidFill>
              </a:rPr>
              <a:t> </a:t>
            </a:r>
            <a:r>
              <a:rPr lang="en-US" altLang="ko-KR" sz="4400" dirty="0">
                <a:solidFill>
                  <a:schemeClr val="bg1"/>
                </a:solidFill>
              </a:rPr>
              <a:t>YOU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5202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"/>
</p:tagLst>
</file>

<file path=ppt/theme/theme1.xml><?xml version="1.0" encoding="utf-8"?>
<a:theme xmlns:a="http://schemas.openxmlformats.org/drawingml/2006/main" name="Office 테마">
  <a:themeElements>
    <a:clrScheme name="블루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F518E"/>
      </a:accent1>
      <a:accent2>
        <a:srgbClr val="00608A"/>
      </a:accent2>
      <a:accent3>
        <a:srgbClr val="0286AD"/>
      </a:accent3>
      <a:accent4>
        <a:srgbClr val="01B1D0"/>
      </a:accent4>
      <a:accent5>
        <a:srgbClr val="90CBDD"/>
      </a:accent5>
      <a:accent6>
        <a:srgbClr val="F2EAE3"/>
      </a:accent6>
      <a:hlink>
        <a:srgbClr val="262626"/>
      </a:hlink>
      <a:folHlink>
        <a:srgbClr val="262626"/>
      </a:folHlink>
    </a:clrScheme>
    <a:fontScheme name="Arial나눔">
      <a:majorFont>
        <a:latin typeface="Arial"/>
        <a:ea typeface="나눔스퀘어 ExtraBold"/>
        <a:cs typeface=""/>
      </a:majorFont>
      <a:minorFont>
        <a:latin typeface="Arial"/>
        <a:ea typeface="나눔스퀘어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7517</TotalTime>
  <Words>1083</Words>
  <Application>Microsoft Office PowerPoint</Application>
  <PresentationFormat>와이드스크린</PresentationFormat>
  <Paragraphs>194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1" baseType="lpstr">
      <vt:lpstr>NanumBarunGothic</vt:lpstr>
      <vt:lpstr>나눔스퀘어 ExtraBold</vt:lpstr>
      <vt:lpstr>나눔스퀘어 Light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 Saebyeol</dc:creator>
  <cp:lastModifiedBy>KOREAVC Professor</cp:lastModifiedBy>
  <cp:revision>456</cp:revision>
  <dcterms:created xsi:type="dcterms:W3CDTF">2021-02-14T00:18:03Z</dcterms:created>
  <dcterms:modified xsi:type="dcterms:W3CDTF">2023-12-05T09:22:31Z</dcterms:modified>
</cp:coreProperties>
</file>