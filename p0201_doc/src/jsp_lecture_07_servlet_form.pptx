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74" r:id="rId3"/>
    <p:sldId id="281" r:id="rId4"/>
    <p:sldId id="275" r:id="rId5"/>
    <p:sldId id="276" r:id="rId6"/>
    <p:sldId id="277" r:id="rId7"/>
    <p:sldId id="278" r:id="rId8"/>
    <p:sldId id="280" r:id="rId9"/>
    <p:sldId id="279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8109528" y="176272"/>
            <a:ext cx="3470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7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Servlet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본격적으로 살펴보기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-III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IP:port/" TargetMode="Externa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55664" y="3500063"/>
            <a:ext cx="4848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7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en-US" altLang="ko-KR" sz="2400" spc="-150" dirty="0">
                <a:solidFill>
                  <a:srgbClr val="0070C0"/>
                </a:solidFill>
                <a:latin typeface="+mj-ea"/>
                <a:ea typeface="+mj-ea"/>
              </a:rPr>
              <a:t>Servlet </a:t>
            </a:r>
            <a:r>
              <a:rPr lang="ko-KR" altLang="en-US" sz="2400" spc="-150" dirty="0">
                <a:solidFill>
                  <a:srgbClr val="0070C0"/>
                </a:solidFill>
                <a:latin typeface="+mj-ea"/>
                <a:ea typeface="+mj-ea"/>
              </a:rPr>
              <a:t>본격적으로 </a:t>
            </a:r>
            <a:r>
              <a:rPr lang="ko-KR" altLang="en-US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살펴보기</a:t>
            </a:r>
            <a:r>
              <a:rPr lang="en-US" altLang="ko-KR" sz="2400" spc="-150" dirty="0" smtClean="0">
                <a:solidFill>
                  <a:srgbClr val="0070C0"/>
                </a:solidFill>
                <a:latin typeface="+mj-ea"/>
                <a:ea typeface="+mj-ea"/>
              </a:rPr>
              <a:t>-III</a:t>
            </a:r>
            <a:endParaRPr lang="ko-KR" altLang="en-US" sz="24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HTML form</a:t>
            </a:r>
            <a:r>
              <a:rPr lang="ko-KR" altLang="en-US" sz="1600" b="1" dirty="0" smtClean="0">
                <a:latin typeface="+mn-ea"/>
              </a:rPr>
              <a:t>태그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364046"/>
            <a:ext cx="1067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+mn-ea"/>
              </a:rPr>
              <a:t>Html</a:t>
            </a:r>
            <a:r>
              <a:rPr lang="ko-KR" altLang="en-US" sz="2000" dirty="0" smtClean="0">
                <a:latin typeface="+mn-ea"/>
              </a:rPr>
              <a:t>의 </a:t>
            </a:r>
            <a:r>
              <a:rPr lang="en-US" altLang="ko-KR" sz="2000" dirty="0" smtClean="0">
                <a:latin typeface="+mn-ea"/>
              </a:rPr>
              <a:t>form</a:t>
            </a:r>
            <a:r>
              <a:rPr lang="ko-KR" altLang="en-US" sz="2000" dirty="0" smtClean="0">
                <a:latin typeface="+mn-ea"/>
              </a:rPr>
              <a:t>태그 </a:t>
            </a:r>
            <a:r>
              <a:rPr lang="en-US" altLang="ko-KR" sz="2000" dirty="0" smtClean="0">
                <a:latin typeface="+mn-ea"/>
              </a:rPr>
              <a:t>:</a:t>
            </a:r>
            <a:r>
              <a:rPr lang="ko-KR" altLang="en-US" sz="2000" dirty="0" smtClean="0">
                <a:latin typeface="+mn-ea"/>
              </a:rPr>
              <a:t> </a:t>
            </a:r>
            <a:r>
              <a:rPr lang="ko-KR" altLang="en-US" sz="2000" dirty="0" err="1" smtClean="0">
                <a:latin typeface="+mn-ea"/>
              </a:rPr>
              <a:t>서버쪽으로</a:t>
            </a:r>
            <a:r>
              <a:rPr lang="ko-KR" altLang="en-US" sz="2000" dirty="0" smtClean="0">
                <a:latin typeface="+mn-ea"/>
              </a:rPr>
              <a:t> 정보를 전달할 때 사용하는 </a:t>
            </a:r>
            <a:r>
              <a:rPr lang="ko-KR" altLang="en-US" sz="2000" dirty="0" smtClean="0">
                <a:latin typeface="+mn-ea"/>
              </a:rPr>
              <a:t>태그</a:t>
            </a:r>
            <a:endParaRPr lang="en-US" altLang="ko-KR" sz="2000" dirty="0" smtClean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178010" y="3817057"/>
            <a:ext cx="9407612" cy="24622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    &lt;head&gt;</a:t>
            </a:r>
          </a:p>
          <a:p>
            <a:r>
              <a:rPr lang="en-US" altLang="ko-KR" sz="1400" dirty="0"/>
              <a:t>    &lt;/head&gt;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&lt;body&gt;</a:t>
            </a:r>
          </a:p>
          <a:p>
            <a:r>
              <a:rPr lang="en-US" altLang="ko-KR" sz="1400" dirty="0"/>
              <a:t>        &lt;form action = "http://localhost:8080/</a:t>
            </a:r>
            <a:r>
              <a:rPr lang="en-US" altLang="ko-KR" sz="1400" dirty="0" err="1"/>
              <a:t>form.jsp</a:t>
            </a:r>
            <a:r>
              <a:rPr lang="en-US" altLang="ko-KR" sz="1400" dirty="0"/>
              <a:t>" </a:t>
            </a:r>
            <a:r>
              <a:rPr lang="en-US" altLang="ko-KR" sz="1400" dirty="0" smtClean="0"/>
              <a:t>name = “</a:t>
            </a:r>
            <a:r>
              <a:rPr lang="en-US" altLang="ko-KR" sz="1400" dirty="0" err="1" smtClean="0"/>
              <a:t>frm</a:t>
            </a:r>
            <a:r>
              <a:rPr lang="en-US" altLang="ko-KR" sz="1400" dirty="0" smtClean="0"/>
              <a:t>” </a:t>
            </a:r>
            <a:r>
              <a:rPr lang="en-US" altLang="ko-KR" sz="1400" dirty="0"/>
              <a:t>method = "get"&gt; </a:t>
            </a:r>
          </a:p>
          <a:p>
            <a:r>
              <a:rPr lang="en-US" altLang="ko-KR" sz="1400" dirty="0" smtClean="0"/>
              <a:t>              &lt;label for=“id”&gt;</a:t>
            </a:r>
            <a:r>
              <a:rPr lang="ko-KR" altLang="en-US" sz="1400" dirty="0" smtClean="0"/>
              <a:t>아이디</a:t>
            </a:r>
            <a:r>
              <a:rPr lang="en-US" altLang="ko-KR" sz="1400" dirty="0" smtClean="0"/>
              <a:t>&lt;/label&gt;  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 &lt;input type=“text” name=“id” id=“id”&gt;</a:t>
            </a:r>
            <a:endParaRPr lang="en-US" altLang="ko-KR" sz="1400" dirty="0"/>
          </a:p>
          <a:p>
            <a:r>
              <a:rPr lang="en-US" altLang="ko-KR" sz="1400" dirty="0"/>
              <a:t>        &lt;/form&gt;</a:t>
            </a:r>
          </a:p>
          <a:p>
            <a:r>
              <a:rPr lang="en-US" altLang="ko-KR" sz="1400" dirty="0"/>
              <a:t>    &lt;/body&gt;</a:t>
            </a:r>
          </a:p>
          <a:p>
            <a:r>
              <a:rPr lang="en-US" altLang="ko-KR" sz="1400" dirty="0"/>
              <a:t>&lt;html&gt;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1178010" y="1971716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+mn-ea"/>
              </a:rPr>
              <a:t>Form </a:t>
            </a:r>
            <a:r>
              <a:rPr lang="ko-KR" altLang="en-US" sz="1600" dirty="0" smtClean="0">
                <a:latin typeface="+mn-ea"/>
              </a:rPr>
              <a:t>태그 속성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8010" y="2416538"/>
            <a:ext cx="9407612" cy="11079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action : </a:t>
            </a:r>
            <a:r>
              <a:rPr lang="ko-KR" altLang="en-US" sz="1600" dirty="0"/>
              <a:t>폼을 전송할 서버 쪽 스크립트 파일을 </a:t>
            </a:r>
            <a:r>
              <a:rPr lang="ko-KR" altLang="en-US" sz="1600" dirty="0" smtClean="0"/>
              <a:t>지정</a:t>
            </a:r>
            <a:endParaRPr lang="en-US" altLang="ko-KR" sz="1600" dirty="0" smtClean="0"/>
          </a:p>
          <a:p>
            <a:r>
              <a:rPr lang="en-US" altLang="ko-KR" sz="1600" dirty="0"/>
              <a:t>name : </a:t>
            </a:r>
            <a:r>
              <a:rPr lang="ko-KR" altLang="en-US" sz="1600" dirty="0"/>
              <a:t>폼을 식별하기 위한 이름을 </a:t>
            </a:r>
            <a:r>
              <a:rPr lang="ko-KR" altLang="en-US" sz="1600" dirty="0" smtClean="0"/>
              <a:t>지정</a:t>
            </a:r>
            <a:endParaRPr lang="en-US" altLang="ko-KR" sz="1600" dirty="0" smtClean="0"/>
          </a:p>
          <a:p>
            <a:r>
              <a:rPr lang="en-US" altLang="ko-KR" sz="1600" dirty="0"/>
              <a:t>target : action</a:t>
            </a:r>
            <a:r>
              <a:rPr lang="ko-KR" altLang="en-US" sz="1600" dirty="0"/>
              <a:t>에서 </a:t>
            </a:r>
            <a:r>
              <a:rPr lang="ko-KR" altLang="en-US" sz="1600" dirty="0" smtClean="0"/>
              <a:t>이동할 페이지 위치를 지정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현재창 또는</a:t>
            </a:r>
            <a:r>
              <a:rPr lang="en-US" altLang="ko-KR" sz="1600" dirty="0" smtClean="0"/>
              <a:t> </a:t>
            </a:r>
            <a:r>
              <a:rPr lang="ko-KR" altLang="en-US" sz="1600" dirty="0" err="1" smtClean="0"/>
              <a:t>새창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/>
              <a:t>method : </a:t>
            </a:r>
            <a:r>
              <a:rPr lang="ko-KR" altLang="en-US" sz="1600" dirty="0"/>
              <a:t>폼을 서버에 전송할 </a:t>
            </a:r>
            <a:r>
              <a:rPr lang="en-US" altLang="ko-KR" sz="1600" dirty="0"/>
              <a:t>http </a:t>
            </a:r>
            <a:r>
              <a:rPr lang="ko-KR" altLang="en-US" sz="1600" dirty="0" err="1" smtClean="0"/>
              <a:t>메소드</a:t>
            </a:r>
            <a:r>
              <a:rPr lang="ko-KR" altLang="en-US" sz="1600" dirty="0" smtClean="0"/>
              <a:t> 지정</a:t>
            </a:r>
            <a:r>
              <a:rPr lang="en-US" altLang="ko-KR" sz="1600" dirty="0" smtClean="0"/>
              <a:t> </a:t>
            </a:r>
            <a:r>
              <a:rPr lang="en-US" altLang="ko-KR" sz="1600" dirty="0"/>
              <a:t>(GET </a:t>
            </a:r>
            <a:r>
              <a:rPr lang="ko-KR" altLang="en-US" sz="1600" dirty="0"/>
              <a:t>또는 </a:t>
            </a:r>
            <a:r>
              <a:rPr lang="en-US" altLang="ko-KR" sz="1600" dirty="0"/>
              <a:t>POST)</a:t>
            </a:r>
            <a:endParaRPr lang="en-US" altLang="ko-KR" sz="1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41074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HTML form</a:t>
            </a:r>
            <a:r>
              <a:rPr lang="ko-KR" altLang="en-US" sz="1600" b="1" dirty="0" smtClean="0">
                <a:latin typeface="+mn-ea"/>
              </a:rPr>
              <a:t>태그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82810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+mn-ea"/>
              </a:rPr>
              <a:t>Html</a:t>
            </a:r>
            <a:r>
              <a:rPr lang="ko-KR" altLang="en-US" sz="1600" dirty="0" smtClean="0">
                <a:latin typeface="+mn-ea"/>
              </a:rPr>
              <a:t>의 </a:t>
            </a:r>
            <a:r>
              <a:rPr lang="en-US" altLang="ko-KR" sz="1600" dirty="0" smtClean="0">
                <a:latin typeface="+mn-ea"/>
              </a:rPr>
              <a:t>form</a:t>
            </a:r>
            <a:r>
              <a:rPr lang="ko-KR" altLang="en-US" sz="1600" dirty="0" smtClean="0">
                <a:latin typeface="+mn-ea"/>
              </a:rPr>
              <a:t>태그 </a:t>
            </a:r>
            <a:r>
              <a:rPr lang="en-US" altLang="ko-KR" sz="1600" dirty="0" smtClean="0">
                <a:latin typeface="+mn-ea"/>
              </a:rPr>
              <a:t>:</a:t>
            </a:r>
            <a:r>
              <a:rPr lang="ko-KR" altLang="en-US" sz="1600" dirty="0" smtClean="0">
                <a:latin typeface="+mn-ea"/>
              </a:rPr>
              <a:t> </a:t>
            </a:r>
            <a:r>
              <a:rPr lang="ko-KR" altLang="en-US" sz="1600" dirty="0" err="1" smtClean="0">
                <a:latin typeface="+mn-ea"/>
              </a:rPr>
              <a:t>서버쪽으로</a:t>
            </a:r>
            <a:r>
              <a:rPr lang="ko-KR" altLang="en-US" sz="1600" dirty="0" smtClean="0">
                <a:latin typeface="+mn-ea"/>
              </a:rPr>
              <a:t> 정보를 전달할 때 사용하는 </a:t>
            </a:r>
            <a:r>
              <a:rPr lang="ko-KR" altLang="en-US" sz="1600" dirty="0" smtClean="0">
                <a:latin typeface="+mn-ea"/>
              </a:rPr>
              <a:t>태그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7008" y="1974662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input</a:t>
            </a:r>
          </a:p>
        </p:txBody>
      </p:sp>
      <p:cxnSp>
        <p:nvCxnSpPr>
          <p:cNvPr id="26" name="직선 연결선 25"/>
          <p:cNvCxnSpPr/>
          <p:nvPr/>
        </p:nvCxnSpPr>
        <p:spPr>
          <a:xfrm>
            <a:off x="745832" y="2228143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77008" y="2274309"/>
            <a:ext cx="106767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태그의 종류를 지정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 smtClean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속성</a:t>
            </a:r>
            <a:r>
              <a:rPr lang="en-US" altLang="ko-KR" sz="1100" dirty="0" smtClean="0">
                <a:latin typeface="+mn-ea"/>
              </a:rPr>
              <a:t>(type, name, value)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 - type : </a:t>
            </a:r>
            <a:r>
              <a:rPr lang="ko-KR" altLang="en-US" sz="1100" dirty="0" smtClean="0">
                <a:latin typeface="+mn-ea"/>
              </a:rPr>
              <a:t>태그 종류 지정</a:t>
            </a:r>
            <a:r>
              <a:rPr lang="en-US" altLang="ko-KR" sz="1100" dirty="0" smtClean="0">
                <a:latin typeface="+mn-ea"/>
              </a:rPr>
              <a:t>(ex</a:t>
            </a:r>
            <a:r>
              <a:rPr lang="en-US" altLang="ko-KR" sz="1100" dirty="0">
                <a:latin typeface="+mn-ea"/>
              </a:rPr>
              <a:t>.</a:t>
            </a:r>
            <a:r>
              <a:rPr lang="en-US" altLang="ko-KR" sz="1100" dirty="0" smtClean="0">
                <a:latin typeface="+mn-ea"/>
              </a:rPr>
              <a:t> text, password, submit, </a:t>
            </a:r>
            <a:r>
              <a:rPr lang="en-US" altLang="ko-KR" sz="1100" dirty="0">
                <a:latin typeface="+mn-ea"/>
              </a:rPr>
              <a:t>checkbox, </a:t>
            </a:r>
            <a:r>
              <a:rPr lang="en-US" altLang="ko-KR" sz="1100" dirty="0" smtClean="0">
                <a:latin typeface="+mn-ea"/>
              </a:rPr>
              <a:t>radio, reset)</a:t>
            </a: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 - name : input</a:t>
            </a:r>
            <a:r>
              <a:rPr lang="ko-KR" altLang="en-US" sz="1100" dirty="0" smtClean="0">
                <a:latin typeface="+mn-ea"/>
              </a:rPr>
              <a:t>태그 이름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 - value : name</a:t>
            </a:r>
            <a:r>
              <a:rPr lang="ko-KR" altLang="en-US" sz="1100" dirty="0" smtClean="0">
                <a:latin typeface="+mn-ea"/>
              </a:rPr>
              <a:t>에 해당하는 값</a:t>
            </a:r>
            <a:r>
              <a:rPr lang="en-US" altLang="ko-KR" sz="1100" dirty="0" smtClean="0">
                <a:latin typeface="+mn-ea"/>
              </a:rPr>
              <a:t>(ex. name = value)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832" y="3739555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text</a:t>
            </a:r>
          </a:p>
        </p:txBody>
      </p:sp>
      <p:cxnSp>
        <p:nvCxnSpPr>
          <p:cNvPr id="29" name="직선 연결선 28"/>
          <p:cNvCxnSpPr/>
          <p:nvPr/>
        </p:nvCxnSpPr>
        <p:spPr>
          <a:xfrm>
            <a:off x="814656" y="3993036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4656" y="4039202"/>
            <a:ext cx="6736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일반적인 데이터를 입력하기 위해 사용합니다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&lt;input type="text" name="name" size="10</a:t>
            </a:r>
            <a:r>
              <a:rPr lang="en-US" altLang="ko-KR" sz="1600" dirty="0" smtClean="0">
                <a:latin typeface="+mn-ea"/>
              </a:rPr>
              <a:t>"&gt;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832" y="4934175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password</a:t>
            </a:r>
          </a:p>
        </p:txBody>
      </p:sp>
      <p:cxnSp>
        <p:nvCxnSpPr>
          <p:cNvPr id="33" name="직선 연결선 32"/>
          <p:cNvCxnSpPr/>
          <p:nvPr/>
        </p:nvCxnSpPr>
        <p:spPr>
          <a:xfrm>
            <a:off x="814656" y="5187656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4656" y="5233822"/>
            <a:ext cx="6736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로그인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회원가입 페이지 등에서 비밀번호 입력하기 위해 사용합니다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&lt;input type="password" name="name" size="10"&gt;</a:t>
            </a:r>
            <a:endParaRPr lang="en-US" altLang="ko-KR" sz="1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467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HTML form</a:t>
            </a:r>
            <a:r>
              <a:rPr lang="ko-KR" altLang="en-US" sz="1600" b="1" dirty="0" smtClean="0">
                <a:latin typeface="+mn-ea"/>
              </a:rPr>
              <a:t>태그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5832" y="1330649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submit</a:t>
            </a:r>
          </a:p>
        </p:txBody>
      </p:sp>
      <p:cxnSp>
        <p:nvCxnSpPr>
          <p:cNvPr id="29" name="직선 연결선 28"/>
          <p:cNvCxnSpPr/>
          <p:nvPr/>
        </p:nvCxnSpPr>
        <p:spPr>
          <a:xfrm>
            <a:off x="814656" y="1584130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4656" y="1630296"/>
            <a:ext cx="6736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form</a:t>
            </a:r>
            <a:r>
              <a:rPr lang="ko-KR" altLang="en-US" sz="1100" dirty="0" smtClean="0">
                <a:latin typeface="+mn-ea"/>
              </a:rPr>
              <a:t>내의 데이터를 전송할 때 사용합니다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&lt;input type="submit" value="</a:t>
            </a:r>
            <a:r>
              <a:rPr lang="ko-KR" altLang="en-US" sz="1600" dirty="0">
                <a:latin typeface="+mn-ea"/>
              </a:rPr>
              <a:t>전송</a:t>
            </a:r>
            <a:r>
              <a:rPr lang="en-US" altLang="ko-KR" sz="1600" dirty="0">
                <a:latin typeface="+mn-ea"/>
              </a:rPr>
              <a:t>"&gt;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5832" y="2525269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reset</a:t>
            </a:r>
          </a:p>
        </p:txBody>
      </p:sp>
      <p:cxnSp>
        <p:nvCxnSpPr>
          <p:cNvPr id="33" name="직선 연결선 32"/>
          <p:cNvCxnSpPr/>
          <p:nvPr/>
        </p:nvCxnSpPr>
        <p:spPr>
          <a:xfrm>
            <a:off x="814656" y="2778750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14656" y="2824916"/>
            <a:ext cx="6736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Form</a:t>
            </a:r>
            <a:r>
              <a:rPr lang="ko-KR" altLang="en-US" sz="1100" dirty="0" smtClean="0">
                <a:latin typeface="+mn-ea"/>
              </a:rPr>
              <a:t>내의 데이터를 초기화 할 때 사용합니다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r>
              <a:rPr lang="en-US" altLang="ko-KR" sz="1600" dirty="0">
                <a:latin typeface="+mn-ea"/>
              </a:rPr>
              <a:t>&lt;input type="reset" value="</a:t>
            </a:r>
            <a:r>
              <a:rPr lang="ko-KR" altLang="en-US" sz="1600" dirty="0">
                <a:latin typeface="+mn-ea"/>
              </a:rPr>
              <a:t>초기화</a:t>
            </a:r>
            <a:r>
              <a:rPr lang="en-US" altLang="ko-KR" sz="1600" dirty="0">
                <a:latin typeface="+mn-ea"/>
              </a:rPr>
              <a:t>"&gt;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5832" y="3719889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checkbox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814656" y="3973370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4656" y="4019536"/>
            <a:ext cx="673651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>
                <a:latin typeface="+mn-ea"/>
              </a:rPr>
              <a:t>데이터값을</a:t>
            </a:r>
            <a:r>
              <a:rPr lang="ko-KR" altLang="en-US" sz="1100" dirty="0" smtClean="0">
                <a:latin typeface="+mn-ea"/>
              </a:rPr>
              <a:t> 여러 개 전송해야 할 때 사용합니다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600" dirty="0" smtClean="0">
                <a:latin typeface="+mn-ea"/>
              </a:rPr>
              <a:t>&lt;</a:t>
            </a:r>
            <a:r>
              <a:rPr lang="en-US" altLang="ko-KR" sz="1600" dirty="0">
                <a:latin typeface="+mn-ea"/>
              </a:rPr>
              <a:t>input type="checkbox" name="hobby" value="read"&gt;</a:t>
            </a:r>
            <a:r>
              <a:rPr lang="ko-KR" altLang="en-US" sz="1600" dirty="0">
                <a:latin typeface="+mn-ea"/>
              </a:rPr>
              <a:t>독서</a:t>
            </a:r>
          </a:p>
          <a:p>
            <a:r>
              <a:rPr lang="en-US" altLang="ko-KR" sz="1600" dirty="0">
                <a:latin typeface="+mn-ea"/>
              </a:rPr>
              <a:t>&lt;input type="checkbox" name="hobby" value="cook"&gt;</a:t>
            </a:r>
            <a:r>
              <a:rPr lang="ko-KR" altLang="en-US" sz="1600" dirty="0">
                <a:latin typeface="+mn-ea"/>
              </a:rPr>
              <a:t>요리</a:t>
            </a:r>
          </a:p>
          <a:p>
            <a:r>
              <a:rPr lang="en-US" altLang="ko-KR" sz="1600" dirty="0">
                <a:latin typeface="+mn-ea"/>
              </a:rPr>
              <a:t>&lt;input type="checkbox" name="hobby" value="run"&gt;</a:t>
            </a:r>
            <a:r>
              <a:rPr lang="ko-KR" altLang="en-US" sz="1600" dirty="0">
                <a:latin typeface="+mn-ea"/>
              </a:rPr>
              <a:t>조깅</a:t>
            </a:r>
          </a:p>
          <a:p>
            <a:r>
              <a:rPr lang="en-US" altLang="ko-KR" sz="1600" dirty="0">
                <a:latin typeface="+mn-ea"/>
              </a:rPr>
              <a:t>&lt;input type="checkbox" name="hobby" value="swim"&gt;</a:t>
            </a:r>
            <a:r>
              <a:rPr lang="ko-KR" altLang="en-US" sz="1600" dirty="0">
                <a:latin typeface="+mn-ea"/>
              </a:rPr>
              <a:t>수영</a:t>
            </a:r>
          </a:p>
          <a:p>
            <a:r>
              <a:rPr lang="en-US" altLang="ko-KR" sz="1600" dirty="0">
                <a:latin typeface="+mn-ea"/>
              </a:rPr>
              <a:t>&lt;input type="checkbox" name="hobby" value="sleep"&gt;</a:t>
            </a:r>
            <a:r>
              <a:rPr lang="ko-KR" altLang="en-US" sz="1600" dirty="0" smtClean="0">
                <a:latin typeface="+mn-ea"/>
              </a:rPr>
              <a:t>취침</a:t>
            </a:r>
            <a:endParaRPr lang="en-US" altLang="ko-KR" sz="16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04870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HTML form</a:t>
            </a:r>
            <a:r>
              <a:rPr lang="ko-KR" altLang="en-US" sz="1600" b="1" dirty="0" smtClean="0">
                <a:latin typeface="+mn-ea"/>
              </a:rPr>
              <a:t>태그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5832" y="1330649"/>
            <a:ext cx="68053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t</a:t>
            </a:r>
            <a:r>
              <a:rPr lang="en-US" altLang="ko-KR" sz="1100" dirty="0" smtClean="0">
                <a:latin typeface="+mn-ea"/>
              </a:rPr>
              <a:t>ype = radio</a:t>
            </a:r>
          </a:p>
        </p:txBody>
      </p:sp>
      <p:cxnSp>
        <p:nvCxnSpPr>
          <p:cNvPr id="29" name="직선 연결선 28"/>
          <p:cNvCxnSpPr/>
          <p:nvPr/>
        </p:nvCxnSpPr>
        <p:spPr>
          <a:xfrm>
            <a:off x="814656" y="1584130"/>
            <a:ext cx="6736518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14655" y="1630296"/>
            <a:ext cx="766992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checkbox</a:t>
            </a:r>
            <a:r>
              <a:rPr lang="ko-KR" altLang="en-US" sz="1100" dirty="0"/>
              <a:t>와 달리 여러 개의 데이터 값 중 한 개의 값만을 전송할 때 사용합니다</a:t>
            </a:r>
            <a:r>
              <a:rPr lang="en-US" altLang="ko-KR" sz="1100" dirty="0" smtClean="0"/>
              <a:t>.</a:t>
            </a:r>
          </a:p>
          <a:p>
            <a:r>
              <a:rPr lang="en-US" altLang="ko-KR" sz="1600" dirty="0" smtClean="0"/>
              <a:t>&lt;</a:t>
            </a:r>
            <a:r>
              <a:rPr lang="en-US" altLang="ko-KR" sz="1600" dirty="0"/>
              <a:t>input type="radio" name="major" value="</a:t>
            </a:r>
            <a:r>
              <a:rPr lang="en-US" altLang="ko-KR" sz="1600" dirty="0" err="1"/>
              <a:t>kor</a:t>
            </a:r>
            <a:r>
              <a:rPr lang="en-US" altLang="ko-KR" sz="1600" dirty="0"/>
              <a:t>"&gt;</a:t>
            </a:r>
            <a:r>
              <a:rPr lang="ko-KR" altLang="en-US" sz="1600" dirty="0"/>
              <a:t>국어</a:t>
            </a:r>
          </a:p>
          <a:p>
            <a:r>
              <a:rPr lang="en-US" altLang="ko-KR" sz="1600" dirty="0" smtClean="0"/>
              <a:t>&lt;</a:t>
            </a:r>
            <a:r>
              <a:rPr lang="en-US" altLang="ko-KR" sz="1600" dirty="0"/>
              <a:t>input type="radio" name="major" value="</a:t>
            </a:r>
            <a:r>
              <a:rPr lang="en-US" altLang="ko-KR" sz="1600" dirty="0" err="1"/>
              <a:t>eng</a:t>
            </a:r>
            <a:r>
              <a:rPr lang="en-US" altLang="ko-KR" sz="1600" dirty="0"/>
              <a:t>" checked="checked"&gt;</a:t>
            </a:r>
            <a:r>
              <a:rPr lang="ko-KR" altLang="en-US" sz="1600" dirty="0"/>
              <a:t>영어</a:t>
            </a:r>
          </a:p>
          <a:p>
            <a:r>
              <a:rPr lang="en-US" altLang="ko-KR" sz="1600" dirty="0" smtClean="0"/>
              <a:t>&lt;</a:t>
            </a:r>
            <a:r>
              <a:rPr lang="en-US" altLang="ko-KR" sz="1600" dirty="0"/>
              <a:t>input type="radio" name="major" value="mat" &gt;</a:t>
            </a:r>
            <a:r>
              <a:rPr lang="ko-KR" altLang="en-US" sz="1600" dirty="0"/>
              <a:t>수학</a:t>
            </a:r>
          </a:p>
          <a:p>
            <a:r>
              <a:rPr lang="en-US" altLang="ko-KR" sz="1600" dirty="0" smtClean="0"/>
              <a:t>&lt;</a:t>
            </a:r>
            <a:r>
              <a:rPr lang="en-US" altLang="ko-KR" sz="1600" dirty="0"/>
              <a:t>input type="radio" name="major" value="des" &gt;</a:t>
            </a:r>
            <a:r>
              <a:rPr lang="ko-KR" altLang="en-US" sz="1600" dirty="0" smtClean="0"/>
              <a:t>디자인</a:t>
            </a:r>
            <a:endParaRPr lang="en-US" altLang="ko-KR" sz="1600" dirty="0" smtClean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7008" y="3513315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select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745832" y="3766796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7008" y="3812962"/>
            <a:ext cx="10676792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리스트형태의 데이터를 사용합니다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600" dirty="0" smtClean="0"/>
              <a:t>&lt;</a:t>
            </a:r>
            <a:r>
              <a:rPr lang="en-US" altLang="ko-KR" sz="1600" dirty="0"/>
              <a:t>select name="protocol"&gt;</a:t>
            </a:r>
          </a:p>
          <a:p>
            <a:pPr lvl="1"/>
            <a:r>
              <a:rPr lang="en-US" altLang="ko-KR" sz="1600" dirty="0"/>
              <a:t>&lt;option value="http"&gt;http&lt;/option&gt;</a:t>
            </a:r>
          </a:p>
          <a:p>
            <a:pPr lvl="1"/>
            <a:r>
              <a:rPr lang="en-US" altLang="ko-KR" sz="1600" dirty="0"/>
              <a:t>&lt;option value="ftp" selected="selected"&gt;ftp&lt;/option&gt;</a:t>
            </a:r>
          </a:p>
          <a:p>
            <a:r>
              <a:rPr lang="en-US" altLang="ko-KR" sz="1600" dirty="0"/>
              <a:t>      &lt;option value="</a:t>
            </a:r>
            <a:r>
              <a:rPr lang="en-US" altLang="ko-KR" sz="1600" dirty="0" err="1"/>
              <a:t>smtp</a:t>
            </a:r>
            <a:r>
              <a:rPr lang="en-US" altLang="ko-KR" sz="1600" dirty="0"/>
              <a:t>"&gt;</a:t>
            </a:r>
            <a:r>
              <a:rPr lang="en-US" altLang="ko-KR" sz="1600" dirty="0" err="1"/>
              <a:t>smtp</a:t>
            </a:r>
            <a:r>
              <a:rPr lang="en-US" altLang="ko-KR" sz="1600" dirty="0"/>
              <a:t>&lt;/option&gt;</a:t>
            </a:r>
          </a:p>
          <a:p>
            <a:r>
              <a:rPr lang="en-US" altLang="ko-KR" sz="1600" dirty="0"/>
              <a:t>      &lt;option value="pop"&gt;pop&lt;/option&gt;</a:t>
            </a:r>
          </a:p>
          <a:p>
            <a:r>
              <a:rPr lang="en-US" altLang="ko-KR" sz="1600" dirty="0"/>
              <a:t>&lt;/select</a:t>
            </a:r>
            <a:r>
              <a:rPr lang="en-US" altLang="ko-KR" sz="1600" dirty="0" smtClean="0"/>
              <a:t>&gt;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767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HTML form</a:t>
            </a:r>
            <a:r>
              <a:rPr lang="ko-KR" altLang="en-US" sz="1600" b="1" dirty="0" smtClean="0">
                <a:latin typeface="+mn-ea"/>
              </a:rPr>
              <a:t>태그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7008" y="1209730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form </a:t>
            </a:r>
            <a:r>
              <a:rPr lang="en-US" altLang="ko-KR" sz="1100" dirty="0" err="1" smtClean="0">
                <a:latin typeface="+mn-ea"/>
              </a:rPr>
              <a:t>태그</a:t>
            </a:r>
            <a:r>
              <a:rPr lang="en-US" altLang="ko-KR" sz="1100" dirty="0" smtClean="0">
                <a:latin typeface="+mn-ea"/>
              </a:rPr>
              <a:t> </a:t>
            </a:r>
          </a:p>
        </p:txBody>
      </p:sp>
      <p:cxnSp>
        <p:nvCxnSpPr>
          <p:cNvPr id="24" name="직선 연결선 23"/>
          <p:cNvCxnSpPr/>
          <p:nvPr/>
        </p:nvCxnSpPr>
        <p:spPr>
          <a:xfrm>
            <a:off x="745832" y="1463211"/>
            <a:ext cx="9932000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77008" y="1509377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Input </a:t>
            </a:r>
            <a:r>
              <a:rPr lang="ko-KR" altLang="en-US" sz="1100" dirty="0"/>
              <a:t>태그들의 값을 서버로 전송하기 위한 정보를 담고 있습니다</a:t>
            </a:r>
            <a:r>
              <a:rPr lang="en-US" altLang="ko-KR" sz="1100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008" y="2118977"/>
            <a:ext cx="10676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/>
              <a:t>&lt;form action="</a:t>
            </a:r>
            <a:r>
              <a:rPr lang="en-US" altLang="ko-KR" sz="3600" dirty="0" err="1"/>
              <a:t>FormEx</a:t>
            </a:r>
            <a:r>
              <a:rPr lang="en-US" altLang="ko-KR" sz="3600" dirty="0"/>
              <a:t>" method="post"&gt;</a:t>
            </a:r>
            <a:endParaRPr lang="en-US" altLang="ko-KR" sz="3600" dirty="0" smtClean="0"/>
          </a:p>
        </p:txBody>
      </p:sp>
      <p:cxnSp>
        <p:nvCxnSpPr>
          <p:cNvPr id="12" name="직선 연결선 11"/>
          <p:cNvCxnSpPr/>
          <p:nvPr/>
        </p:nvCxnSpPr>
        <p:spPr>
          <a:xfrm>
            <a:off x="4884647" y="2695001"/>
            <a:ext cx="163924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8791362" y="2720071"/>
            <a:ext cx="124066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 flipV="1">
            <a:off x="5650807" y="2720071"/>
            <a:ext cx="0" cy="54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40586" y="3288632"/>
            <a:ext cx="30204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/>
              <a:t>요청하는 컴포넌트 이름</a:t>
            </a:r>
            <a:endParaRPr lang="en-US" altLang="ko-KR" sz="1100" dirty="0" smtClean="0"/>
          </a:p>
          <a:p>
            <a:pPr algn="ctr"/>
            <a:r>
              <a:rPr lang="en-US" altLang="ko-KR" sz="1100" dirty="0" smtClean="0"/>
              <a:t>(ex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join.jsp</a:t>
            </a:r>
            <a:r>
              <a:rPr lang="en-US" altLang="ko-KR" sz="1100" dirty="0"/>
              <a:t>, info.html, </a:t>
            </a:r>
            <a:r>
              <a:rPr lang="en-US" altLang="ko-KR" sz="1100" dirty="0" err="1" smtClean="0"/>
              <a:t>HWorld</a:t>
            </a:r>
            <a:r>
              <a:rPr lang="en-US" altLang="ko-KR" sz="1100" dirty="0" smtClean="0"/>
              <a:t>) </a:t>
            </a:r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9425638" y="2728863"/>
            <a:ext cx="0" cy="54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15417" y="3297424"/>
            <a:ext cx="30204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smtClean="0"/>
              <a:t>요청을 처리하는 방식</a:t>
            </a:r>
            <a:endParaRPr lang="en-US" altLang="ko-KR" sz="1100" dirty="0" smtClean="0"/>
          </a:p>
          <a:p>
            <a:pPr algn="ctr"/>
            <a:r>
              <a:rPr lang="en-US" altLang="ko-KR" sz="1100" dirty="0" smtClean="0"/>
              <a:t>(ex. get, post)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45832" y="4460004"/>
            <a:ext cx="9932000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latin typeface="+mn-ea"/>
              </a:rPr>
              <a:t>Get : </a:t>
            </a:r>
            <a:r>
              <a:rPr lang="en-US" altLang="ko-KR" dirty="0" smtClean="0">
                <a:latin typeface="+mn-ea"/>
                <a:hlinkClick r:id="rId2"/>
              </a:rPr>
              <a:t>http://IP</a:t>
            </a:r>
            <a:r>
              <a:rPr lang="ko-KR" altLang="en-US" dirty="0" smtClean="0">
                <a:latin typeface="+mn-ea"/>
                <a:hlinkClick r:id="rId2"/>
              </a:rPr>
              <a:t>주소</a:t>
            </a:r>
            <a:r>
              <a:rPr lang="en-US" altLang="ko-KR" dirty="0" smtClean="0">
                <a:latin typeface="+mn-ea"/>
                <a:hlinkClick r:id="rId2"/>
              </a:rPr>
              <a:t>:port</a:t>
            </a:r>
            <a:r>
              <a:rPr lang="ko-KR" altLang="en-US" dirty="0" smtClean="0">
                <a:latin typeface="+mn-ea"/>
                <a:hlinkClick r:id="rId2"/>
              </a:rPr>
              <a:t>번호</a:t>
            </a:r>
            <a:r>
              <a:rPr lang="en-US" altLang="ko-KR" dirty="0" smtClean="0">
                <a:latin typeface="+mn-ea"/>
                <a:hlinkClick r:id="rId2"/>
              </a:rPr>
              <a:t>/</a:t>
            </a:r>
            <a:r>
              <a:rPr lang="ko-KR" altLang="en-US" dirty="0" err="1" smtClean="0">
                <a:latin typeface="+mn-ea"/>
              </a:rPr>
              <a:t>컨텍스트</a:t>
            </a:r>
            <a:r>
              <a:rPr lang="en-US" altLang="ko-KR" dirty="0" smtClean="0">
                <a:latin typeface="+mn-ea"/>
              </a:rPr>
              <a:t>/path/</a:t>
            </a:r>
            <a:r>
              <a:rPr lang="en-US" altLang="ko-KR" dirty="0" err="1" smtClean="0">
                <a:latin typeface="+mn-ea"/>
              </a:rPr>
              <a:t>MemberJoin?id</a:t>
            </a:r>
            <a:r>
              <a:rPr lang="en-US" altLang="ko-KR" dirty="0" smtClean="0">
                <a:latin typeface="+mn-ea"/>
              </a:rPr>
              <a:t>=“</a:t>
            </a:r>
            <a:r>
              <a:rPr lang="en-US" altLang="ko-KR" dirty="0" err="1" smtClean="0">
                <a:latin typeface="+mn-ea"/>
              </a:rPr>
              <a:t>abcdefg</a:t>
            </a:r>
            <a:r>
              <a:rPr lang="en-US" altLang="ko-KR" dirty="0" smtClean="0">
                <a:latin typeface="+mn-ea"/>
              </a:rPr>
              <a:t>”&amp;name=“</a:t>
            </a:r>
            <a:r>
              <a:rPr lang="ko-KR" altLang="en-US" dirty="0" smtClean="0">
                <a:latin typeface="+mn-ea"/>
              </a:rPr>
              <a:t>홍길동</a:t>
            </a:r>
            <a:r>
              <a:rPr lang="en-US" altLang="ko-KR" dirty="0" smtClean="0">
                <a:latin typeface="+mn-ea"/>
              </a:rPr>
              <a:t>”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745832" y="5054254"/>
            <a:ext cx="9932000" cy="5164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latin typeface="+mn-ea"/>
              </a:rPr>
              <a:t>Post : </a:t>
            </a:r>
            <a:r>
              <a:rPr lang="en-US" altLang="ko-KR" dirty="0" smtClean="0">
                <a:latin typeface="+mn-ea"/>
                <a:hlinkClick r:id="rId2"/>
              </a:rPr>
              <a:t>http://IP</a:t>
            </a:r>
            <a:r>
              <a:rPr lang="ko-KR" altLang="en-US" dirty="0" smtClean="0">
                <a:latin typeface="+mn-ea"/>
                <a:hlinkClick r:id="rId2"/>
              </a:rPr>
              <a:t>주소</a:t>
            </a:r>
            <a:r>
              <a:rPr lang="en-US" altLang="ko-KR" dirty="0" smtClean="0">
                <a:latin typeface="+mn-ea"/>
                <a:hlinkClick r:id="rId2"/>
              </a:rPr>
              <a:t>:port</a:t>
            </a:r>
            <a:r>
              <a:rPr lang="ko-KR" altLang="en-US" dirty="0" smtClean="0">
                <a:latin typeface="+mn-ea"/>
                <a:hlinkClick r:id="rId2"/>
              </a:rPr>
              <a:t>번호</a:t>
            </a:r>
            <a:r>
              <a:rPr lang="en-US" altLang="ko-KR" dirty="0" smtClean="0">
                <a:latin typeface="+mn-ea"/>
                <a:hlinkClick r:id="rId2"/>
              </a:rPr>
              <a:t>/</a:t>
            </a:r>
            <a:r>
              <a:rPr lang="ko-KR" altLang="en-US" dirty="0" err="1" smtClean="0">
                <a:latin typeface="+mn-ea"/>
              </a:rPr>
              <a:t>컨텍스트</a:t>
            </a:r>
            <a:r>
              <a:rPr lang="en-US" altLang="ko-KR" dirty="0" smtClean="0">
                <a:latin typeface="+mn-ea"/>
              </a:rPr>
              <a:t>/path/</a:t>
            </a:r>
            <a:r>
              <a:rPr lang="en-US" altLang="ko-KR" dirty="0" err="1" smtClean="0">
                <a:latin typeface="+mn-ea"/>
              </a:rPr>
              <a:t>MemberJoin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289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088" y="4325742"/>
            <a:ext cx="3341979" cy="195366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en-US" altLang="ko-KR" sz="1600" b="1" dirty="0" smtClean="0">
                <a:latin typeface="+mn-ea"/>
              </a:rPr>
              <a:t>Servlet Parameter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7008" y="1116906"/>
            <a:ext cx="106767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Form</a:t>
            </a:r>
            <a:r>
              <a:rPr lang="ko-KR" altLang="en-US" sz="1100" dirty="0" smtClean="0">
                <a:latin typeface="+mn-ea"/>
              </a:rPr>
              <a:t>태그의 </a:t>
            </a:r>
            <a:r>
              <a:rPr lang="en-US" altLang="ko-KR" sz="1100" dirty="0" smtClean="0">
                <a:latin typeface="+mn-ea"/>
              </a:rPr>
              <a:t>submit </a:t>
            </a:r>
            <a:r>
              <a:rPr lang="ko-KR" altLang="en-US" sz="1100" dirty="0" smtClean="0">
                <a:latin typeface="+mn-ea"/>
              </a:rPr>
              <a:t>버튼을 클릭하여 데이터를 서버로 전송하면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해당파일</a:t>
            </a:r>
            <a:r>
              <a:rPr lang="en-US" altLang="ko-KR" sz="1100" dirty="0" smtClean="0">
                <a:latin typeface="+mn-ea"/>
              </a:rPr>
              <a:t>(Servlet)</a:t>
            </a:r>
            <a:r>
              <a:rPr lang="ko-KR" altLang="en-US" sz="1100" dirty="0" smtClean="0">
                <a:latin typeface="+mn-ea"/>
              </a:rPr>
              <a:t>에서는 </a:t>
            </a:r>
            <a:r>
              <a:rPr lang="en-US" altLang="ko-KR" sz="1100" dirty="0" err="1" smtClean="0">
                <a:latin typeface="+mn-ea"/>
              </a:rPr>
              <a:t>HttpServletRequest</a:t>
            </a:r>
            <a:r>
              <a:rPr lang="ko-KR" altLang="en-US" sz="1100" dirty="0" smtClean="0">
                <a:latin typeface="+mn-ea"/>
              </a:rPr>
              <a:t>객체를 이용하여 </a:t>
            </a:r>
            <a:r>
              <a:rPr lang="en-US" altLang="ko-KR" sz="1100" dirty="0" smtClean="0">
                <a:latin typeface="+mn-ea"/>
              </a:rPr>
              <a:t>Parameter</a:t>
            </a:r>
            <a:r>
              <a:rPr lang="ko-KR" altLang="en-US" sz="1100" dirty="0" smtClean="0">
                <a:latin typeface="+mn-ea"/>
              </a:rPr>
              <a:t>값을 얻을 수 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(jsp_7_1_ex1_formex)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582614" y="2060495"/>
            <a:ext cx="2813540" cy="2048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HTML </a:t>
            </a:r>
            <a:r>
              <a:rPr lang="ko-KR" altLang="en-US" dirty="0" smtClean="0">
                <a:latin typeface="+mn-ea"/>
              </a:rPr>
              <a:t>파일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&lt;form&gt;</a:t>
            </a:r>
          </a:p>
          <a:p>
            <a:pPr algn="ctr"/>
            <a:r>
              <a:rPr lang="en-US" altLang="ko-KR" sz="1200" dirty="0" smtClean="0">
                <a:latin typeface="+mn-ea"/>
              </a:rPr>
              <a:t>&lt;input type=“submit” value=“</a:t>
            </a:r>
            <a:r>
              <a:rPr lang="ko-KR" altLang="en-US" sz="1200" dirty="0" smtClean="0">
                <a:latin typeface="+mn-ea"/>
              </a:rPr>
              <a:t>전송</a:t>
            </a:r>
            <a:r>
              <a:rPr lang="en-US" altLang="ko-KR" sz="1200" dirty="0" smtClean="0">
                <a:latin typeface="+mn-ea"/>
              </a:rPr>
              <a:t>”&gt;</a:t>
            </a:r>
          </a:p>
          <a:p>
            <a:pPr algn="ctr"/>
            <a:r>
              <a:rPr lang="en-US" altLang="ko-KR" sz="1200" dirty="0" smtClean="0">
                <a:latin typeface="+mn-ea"/>
              </a:rPr>
              <a:t>.</a:t>
            </a:r>
          </a:p>
          <a:p>
            <a:pPr algn="ctr"/>
            <a:r>
              <a:rPr lang="en-US" altLang="ko-KR" sz="1200" dirty="0" smtClean="0">
                <a:latin typeface="+mn-ea"/>
              </a:rPr>
              <a:t>.</a:t>
            </a:r>
          </a:p>
          <a:p>
            <a:pPr algn="ctr"/>
            <a:r>
              <a:rPr lang="en-US" altLang="ko-KR" sz="1200" dirty="0">
                <a:latin typeface="+mn-ea"/>
              </a:rPr>
              <a:t>.</a:t>
            </a:r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&lt;/form&gt;</a:t>
            </a:r>
            <a:endParaRPr lang="ko-KR" altLang="en-US" sz="1200" dirty="0"/>
          </a:p>
        </p:txBody>
      </p:sp>
      <p:sp>
        <p:nvSpPr>
          <p:cNvPr id="25" name="직사각형 24"/>
          <p:cNvSpPr/>
          <p:nvPr/>
        </p:nvSpPr>
        <p:spPr>
          <a:xfrm>
            <a:off x="6386145" y="2060495"/>
            <a:ext cx="2813540" cy="20488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Servlet </a:t>
            </a:r>
            <a:r>
              <a:rPr lang="ko-KR" altLang="en-US" dirty="0" smtClean="0">
                <a:latin typeface="+mn-ea"/>
              </a:rPr>
              <a:t>파일</a:t>
            </a:r>
            <a:endParaRPr lang="en-US" altLang="ko-KR" dirty="0" smtClean="0">
              <a:latin typeface="+mn-ea"/>
            </a:endParaRPr>
          </a:p>
          <a:p>
            <a:pPr algn="ctr"/>
            <a:r>
              <a:rPr lang="en-US" altLang="ko-KR" sz="1200" dirty="0" err="1" smtClean="0">
                <a:latin typeface="+mn-ea"/>
              </a:rPr>
              <a:t>HttpServletRequest</a:t>
            </a:r>
            <a:r>
              <a:rPr lang="ko-KR" altLang="en-US" sz="1200" dirty="0" smtClean="0">
                <a:latin typeface="+mn-ea"/>
              </a:rPr>
              <a:t>객체</a:t>
            </a:r>
            <a:r>
              <a:rPr lang="ko-KR" altLang="en-US" sz="1200" dirty="0" smtClean="0"/>
              <a:t>를 이용하여</a:t>
            </a:r>
            <a:r>
              <a:rPr lang="en-US" altLang="ko-KR" sz="1200" dirty="0" smtClean="0"/>
              <a:t>,</a:t>
            </a:r>
          </a:p>
          <a:p>
            <a:pPr algn="ctr"/>
            <a:r>
              <a:rPr lang="en-US" altLang="ko-KR" sz="1200" dirty="0" smtClean="0">
                <a:latin typeface="+mn-ea"/>
              </a:rPr>
              <a:t>Parameter</a:t>
            </a:r>
            <a:r>
              <a:rPr lang="ko-KR" altLang="en-US" sz="1200" dirty="0" smtClean="0">
                <a:latin typeface="+mn-ea"/>
              </a:rPr>
              <a:t>값을 얻음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algn="ctr"/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</a:t>
            </a:r>
            <a:r>
              <a:rPr lang="ko-KR" altLang="en-US" sz="1200" dirty="0" smtClean="0">
                <a:latin typeface="+mn-ea"/>
              </a:rPr>
              <a:t>관련 </a:t>
            </a:r>
            <a:r>
              <a:rPr lang="ko-KR" altLang="en-US" sz="1200" dirty="0" err="1" smtClean="0">
                <a:latin typeface="+mn-ea"/>
              </a:rPr>
              <a:t>메소드</a:t>
            </a:r>
            <a:r>
              <a:rPr lang="en-US" altLang="ko-KR" sz="1200" dirty="0" smtClean="0">
                <a:latin typeface="+mn-ea"/>
              </a:rPr>
              <a:t>&gt;</a:t>
            </a:r>
          </a:p>
          <a:p>
            <a:pPr algn="ctr"/>
            <a:r>
              <a:rPr lang="en-US" altLang="ko-KR" sz="1200" dirty="0" err="1" smtClean="0">
                <a:latin typeface="+mn-ea"/>
              </a:rPr>
              <a:t>getParameter</a:t>
            </a:r>
            <a:r>
              <a:rPr lang="en-US" altLang="ko-KR" sz="1200" dirty="0" smtClean="0">
                <a:latin typeface="+mn-ea"/>
              </a:rPr>
              <a:t>(name)</a:t>
            </a:r>
          </a:p>
          <a:p>
            <a:pPr algn="ctr"/>
            <a:r>
              <a:rPr lang="en-US" altLang="ko-KR" sz="1200" dirty="0" err="1" smtClean="0">
                <a:latin typeface="+mn-ea"/>
              </a:rPr>
              <a:t>getParameterValues</a:t>
            </a:r>
            <a:r>
              <a:rPr lang="en-US" altLang="ko-KR" sz="1200" dirty="0" smtClean="0">
                <a:latin typeface="+mn-ea"/>
              </a:rPr>
              <a:t>(name)</a:t>
            </a:r>
          </a:p>
          <a:p>
            <a:pPr algn="ctr"/>
            <a:r>
              <a:rPr lang="en-US" altLang="ko-KR" sz="1200" dirty="0" err="1" smtClean="0">
                <a:latin typeface="+mn-ea"/>
              </a:rPr>
              <a:t>getParameterNames</a:t>
            </a:r>
            <a:r>
              <a:rPr lang="en-US" altLang="ko-KR" sz="1200" dirty="0" smtClean="0">
                <a:latin typeface="+mn-ea"/>
              </a:rPr>
              <a:t>()</a:t>
            </a:r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4554414" y="3084921"/>
            <a:ext cx="17496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2567076" y="2851027"/>
            <a:ext cx="721527" cy="2163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190" y="4299366"/>
            <a:ext cx="4250826" cy="739959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2927839" y="4453034"/>
            <a:ext cx="896813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6304083" y="4883125"/>
            <a:ext cx="2409092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824652" y="4547375"/>
            <a:ext cx="2479431" cy="491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944" y="4880711"/>
            <a:ext cx="1157169" cy="369979"/>
          </a:xfrm>
          <a:prstGeom prst="rect">
            <a:avLst/>
          </a:prstGeom>
        </p:spPr>
      </p:pic>
      <p:sp>
        <p:nvSpPr>
          <p:cNvPr id="31" name="직사각형 30"/>
          <p:cNvSpPr/>
          <p:nvPr/>
        </p:nvSpPr>
        <p:spPr>
          <a:xfrm>
            <a:off x="9857640" y="4871637"/>
            <a:ext cx="1321776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8730759" y="5067448"/>
            <a:ext cx="10931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49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한글처리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7008" y="1190058"/>
            <a:ext cx="106767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+mn-ea"/>
              </a:rPr>
              <a:t>- Tomcat </a:t>
            </a:r>
            <a:r>
              <a:rPr lang="ko-KR" altLang="en-US" sz="1400" dirty="0" smtClean="0">
                <a:latin typeface="+mn-ea"/>
              </a:rPr>
              <a:t>서버의 기본 문자 처리 방식은 </a:t>
            </a:r>
            <a:r>
              <a:rPr lang="en-US" altLang="ko-KR" sz="1400" dirty="0" smtClean="0">
                <a:latin typeface="+mn-ea"/>
              </a:rPr>
              <a:t>IOS-8859-1 </a:t>
            </a:r>
            <a:r>
              <a:rPr lang="ko-KR" altLang="en-US" sz="1400" dirty="0" smtClean="0">
                <a:latin typeface="+mn-ea"/>
              </a:rPr>
              <a:t>방식</a:t>
            </a:r>
            <a:r>
              <a:rPr lang="en-US" altLang="ko-KR" sz="1400" dirty="0" smtClean="0">
                <a:latin typeface="+mn-ea"/>
              </a:rPr>
              <a:t/>
            </a:r>
            <a:br>
              <a:rPr lang="en-US" altLang="ko-KR" sz="1400" dirty="0" smtClean="0">
                <a:latin typeface="+mn-ea"/>
              </a:rPr>
            </a:br>
            <a:r>
              <a:rPr lang="en-US" altLang="ko-KR" sz="1400" dirty="0" smtClean="0">
                <a:latin typeface="+mn-ea"/>
              </a:rPr>
              <a:t>- GET</a:t>
            </a:r>
            <a:r>
              <a:rPr lang="ko-KR" altLang="en-US" sz="1400" dirty="0" smtClean="0">
                <a:latin typeface="+mn-ea"/>
              </a:rPr>
              <a:t>방식 </a:t>
            </a:r>
            <a:r>
              <a:rPr lang="en-US" altLang="ko-KR" sz="1400" dirty="0" smtClean="0">
                <a:latin typeface="+mn-ea"/>
              </a:rPr>
              <a:t>: server.xml </a:t>
            </a:r>
            <a:r>
              <a:rPr lang="ko-KR" altLang="en-US" sz="1400" dirty="0" smtClean="0">
                <a:latin typeface="+mn-ea"/>
              </a:rPr>
              <a:t>에 </a:t>
            </a:r>
            <a:r>
              <a:rPr lang="en-US" altLang="ko-KR" sz="1400" dirty="0" err="1" smtClean="0">
                <a:latin typeface="+mn-ea"/>
              </a:rPr>
              <a:t>URIEncoding</a:t>
            </a:r>
            <a:r>
              <a:rPr lang="en-US" altLang="ko-KR" sz="1400" dirty="0" smtClean="0">
                <a:latin typeface="+mn-ea"/>
              </a:rPr>
              <a:t>=“utf-8”</a:t>
            </a:r>
            <a:r>
              <a:rPr lang="ko-KR" altLang="en-US" sz="1400" dirty="0" smtClean="0">
                <a:latin typeface="+mn-ea"/>
              </a:rPr>
              <a:t>로 변경</a:t>
            </a:r>
            <a:r>
              <a:rPr lang="en-US" altLang="ko-KR" sz="1400" dirty="0" smtClean="0">
                <a:latin typeface="+mn-ea"/>
              </a:rPr>
              <a:t/>
            </a:r>
            <a:br>
              <a:rPr lang="en-US" altLang="ko-KR" sz="1400" dirty="0" smtClean="0">
                <a:latin typeface="+mn-ea"/>
              </a:rPr>
            </a:br>
            <a:r>
              <a:rPr lang="en-US" altLang="ko-KR" sz="1400" dirty="0" smtClean="0">
                <a:latin typeface="+mn-ea"/>
              </a:rPr>
              <a:t>- post</a:t>
            </a:r>
            <a:r>
              <a:rPr lang="ko-KR" altLang="en-US" sz="1400" dirty="0" smtClean="0">
                <a:latin typeface="+mn-ea"/>
              </a:rPr>
              <a:t>방식 </a:t>
            </a:r>
            <a:r>
              <a:rPr lang="en-US" altLang="ko-KR" sz="1400" dirty="0" smtClean="0">
                <a:latin typeface="+mn-ea"/>
              </a:rPr>
              <a:t>: </a:t>
            </a:r>
            <a:r>
              <a:rPr lang="en-US" altLang="ko-KR" sz="1400" dirty="0" err="1" smtClean="0">
                <a:latin typeface="+mn-ea"/>
              </a:rPr>
              <a:t>doPost</a:t>
            </a:r>
            <a:r>
              <a:rPr lang="ko-KR" altLang="en-US" sz="1400" dirty="0" err="1" smtClean="0">
                <a:latin typeface="+mn-ea"/>
              </a:rPr>
              <a:t>메소드에</a:t>
            </a:r>
            <a:r>
              <a:rPr lang="ko-KR" altLang="en-US" sz="1400" dirty="0" smtClean="0">
                <a:latin typeface="+mn-ea"/>
              </a:rPr>
              <a:t> </a:t>
            </a:r>
            <a:r>
              <a:rPr lang="en-US" altLang="ko-KR" sz="1400" dirty="0" err="1" smtClean="0">
                <a:latin typeface="+mn-ea"/>
              </a:rPr>
              <a:t>request.setCharacterEncoding</a:t>
            </a:r>
            <a:r>
              <a:rPr lang="en-US" altLang="ko-KR" sz="1400" dirty="0" smtClean="0">
                <a:latin typeface="+mn-ea"/>
              </a:rPr>
              <a:t>(“utf-8”) </a:t>
            </a:r>
            <a:r>
              <a:rPr lang="ko-KR" altLang="en-US" sz="1400" dirty="0" smtClean="0">
                <a:latin typeface="+mn-ea"/>
              </a:rPr>
              <a:t>로 </a:t>
            </a:r>
            <a:r>
              <a:rPr lang="ko-KR" altLang="en-US" sz="1400" dirty="0" err="1" smtClean="0">
                <a:latin typeface="+mn-ea"/>
              </a:rPr>
              <a:t>인코딩</a:t>
            </a:r>
            <a:endParaRPr lang="en-US" altLang="ko-KR" sz="1400" dirty="0" smtClean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877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Get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&lt;server.xml </a:t>
            </a:r>
            <a:r>
              <a:rPr lang="ko-KR" altLang="en-US" sz="1200" dirty="0" smtClean="0">
                <a:latin typeface="+mn-ea"/>
              </a:rPr>
              <a:t>수정</a:t>
            </a:r>
            <a:r>
              <a:rPr lang="en-US" altLang="ko-KR" sz="1200" dirty="0" smtClean="0">
                <a:latin typeface="+mn-ea"/>
              </a:rPr>
              <a:t>&gt;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4740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Post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</a:t>
            </a:r>
            <a:r>
              <a:rPr lang="en-US" altLang="ko-KR" sz="1200" dirty="0" err="1" smtClean="0">
                <a:latin typeface="+mn-ea"/>
              </a:rPr>
              <a:t>request.setCharacterEncoding</a:t>
            </a:r>
            <a:r>
              <a:rPr lang="en-US" altLang="ko-KR" sz="1200" dirty="0" smtClean="0">
                <a:latin typeface="+mn-ea"/>
              </a:rPr>
              <a:t>() </a:t>
            </a:r>
            <a:r>
              <a:rPr lang="ko-KR" altLang="en-US" sz="1200" dirty="0" err="1" smtClean="0">
                <a:latin typeface="+mn-ea"/>
              </a:rPr>
              <a:t>메소드</a:t>
            </a:r>
            <a:r>
              <a:rPr lang="ko-KR" altLang="en-US" sz="1200" dirty="0" smtClean="0">
                <a:latin typeface="+mn-ea"/>
              </a:rPr>
              <a:t> 이용</a:t>
            </a:r>
            <a:r>
              <a:rPr lang="en-US" altLang="ko-KR" sz="1200" dirty="0" smtClean="0">
                <a:latin typeface="+mn-ea"/>
              </a:rPr>
              <a:t>&gt;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91" y="4233497"/>
            <a:ext cx="3810000" cy="342900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2656740" y="4211244"/>
            <a:ext cx="1739414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67" y="4000134"/>
            <a:ext cx="3686175" cy="115252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6721717" y="4769922"/>
            <a:ext cx="3028952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73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smtClean="0">
                <a:latin typeface="+mn-ea"/>
              </a:rPr>
              <a:t>한글처리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7008" y="1116906"/>
            <a:ext cx="106767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Tomcat </a:t>
            </a:r>
            <a:r>
              <a:rPr lang="ko-KR" altLang="en-US" sz="1100" dirty="0" smtClean="0">
                <a:latin typeface="+mn-ea"/>
              </a:rPr>
              <a:t>서버의 기본 문자 처리 방식은 </a:t>
            </a:r>
            <a:r>
              <a:rPr lang="en-US" altLang="ko-KR" sz="1100" dirty="0" smtClean="0">
                <a:latin typeface="+mn-ea"/>
              </a:rPr>
              <a:t>IOS-8859-1 </a:t>
            </a:r>
            <a:r>
              <a:rPr lang="ko-KR" altLang="en-US" sz="1100" dirty="0" smtClean="0">
                <a:latin typeface="+mn-ea"/>
              </a:rPr>
              <a:t>방식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따라서 개발자가 별도의 한글 </a:t>
            </a:r>
            <a:r>
              <a:rPr lang="ko-KR" altLang="en-US" sz="1100" dirty="0" err="1" smtClean="0">
                <a:latin typeface="+mn-ea"/>
              </a:rPr>
              <a:t>인코딩을</a:t>
            </a:r>
            <a:r>
              <a:rPr lang="ko-KR" altLang="en-US" sz="1100" dirty="0" smtClean="0">
                <a:latin typeface="+mn-ea"/>
              </a:rPr>
              <a:t> 하지 않으면 한들이 깨져 보이는 현상이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Get</a:t>
            </a:r>
            <a:r>
              <a:rPr lang="ko-KR" altLang="en-US" sz="1100" dirty="0" smtClean="0">
                <a:latin typeface="+mn-ea"/>
              </a:rPr>
              <a:t>방식과 </a:t>
            </a:r>
            <a:r>
              <a:rPr lang="en-US" altLang="ko-KR" sz="1100" dirty="0" smtClean="0">
                <a:latin typeface="+mn-ea"/>
              </a:rPr>
              <a:t>Post</a:t>
            </a:r>
            <a:r>
              <a:rPr lang="ko-KR" altLang="en-US" sz="1100" dirty="0" smtClean="0">
                <a:latin typeface="+mn-ea"/>
              </a:rPr>
              <a:t>방식에 따라서 한글처리 방식에 차이가 있습니다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>
                <a:latin typeface="+mn-ea"/>
              </a:rPr>
              <a:t>(jsp_7_3_ex1_encodingex)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7877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Get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 smtClean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&lt;server.xml </a:t>
            </a:r>
            <a:r>
              <a:rPr lang="ko-KR" altLang="en-US" sz="1200" dirty="0" smtClean="0">
                <a:latin typeface="+mn-ea"/>
              </a:rPr>
              <a:t>수정</a:t>
            </a:r>
            <a:r>
              <a:rPr lang="en-US" altLang="ko-KR" sz="1200" dirty="0" smtClean="0">
                <a:latin typeface="+mn-ea"/>
              </a:rPr>
              <a:t>&gt;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474067" y="2438567"/>
            <a:ext cx="3681048" cy="14305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latin typeface="+mn-ea"/>
              </a:rPr>
              <a:t>Post</a:t>
            </a:r>
            <a:r>
              <a:rPr lang="ko-KR" altLang="en-US" dirty="0" smtClean="0">
                <a:latin typeface="+mn-ea"/>
              </a:rPr>
              <a:t>방식 요청</a:t>
            </a:r>
            <a:endParaRPr lang="en-US" altLang="ko-KR" dirty="0" smtClean="0">
              <a:latin typeface="+mn-ea"/>
            </a:endParaRPr>
          </a:p>
          <a:p>
            <a:pPr algn="ctr"/>
            <a:endParaRPr lang="en-US" altLang="ko-KR" sz="1200" dirty="0">
              <a:latin typeface="+mn-ea"/>
            </a:endParaRPr>
          </a:p>
          <a:p>
            <a:pPr algn="ctr"/>
            <a:r>
              <a:rPr lang="en-US" altLang="ko-KR" sz="1200" dirty="0" smtClean="0">
                <a:latin typeface="+mn-ea"/>
              </a:rPr>
              <a:t>&lt;</a:t>
            </a:r>
            <a:r>
              <a:rPr lang="en-US" altLang="ko-KR" sz="1200" dirty="0" err="1" smtClean="0">
                <a:latin typeface="+mn-ea"/>
              </a:rPr>
              <a:t>request.setCharacterEncoding</a:t>
            </a:r>
            <a:r>
              <a:rPr lang="en-US" altLang="ko-KR" sz="1200" dirty="0" smtClean="0">
                <a:latin typeface="+mn-ea"/>
              </a:rPr>
              <a:t>() </a:t>
            </a:r>
            <a:r>
              <a:rPr lang="ko-KR" altLang="en-US" sz="1200" dirty="0" err="1" smtClean="0">
                <a:latin typeface="+mn-ea"/>
              </a:rPr>
              <a:t>메소드</a:t>
            </a:r>
            <a:r>
              <a:rPr lang="ko-KR" altLang="en-US" sz="1200" dirty="0" smtClean="0">
                <a:latin typeface="+mn-ea"/>
              </a:rPr>
              <a:t> 이용</a:t>
            </a:r>
            <a:r>
              <a:rPr lang="en-US" altLang="ko-KR" sz="1200" dirty="0" smtClean="0">
                <a:latin typeface="+mn-ea"/>
              </a:rPr>
              <a:t>&gt;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291" y="4233497"/>
            <a:ext cx="3810000" cy="342900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2656740" y="4211244"/>
            <a:ext cx="1739414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4067" y="4000134"/>
            <a:ext cx="3686175" cy="1152525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6721717" y="4769922"/>
            <a:ext cx="3028952" cy="3651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71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2205</TotalTime>
  <Words>790</Words>
  <Application>Microsoft Office PowerPoint</Application>
  <PresentationFormat>와이드스크린</PresentationFormat>
  <Paragraphs>117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KOREAVC Professor</cp:lastModifiedBy>
  <cp:revision>574</cp:revision>
  <dcterms:created xsi:type="dcterms:W3CDTF">2014-12-01T08:37:15Z</dcterms:created>
  <dcterms:modified xsi:type="dcterms:W3CDTF">2023-12-01T00:59:22Z</dcterms:modified>
</cp:coreProperties>
</file>