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3" r:id="rId2"/>
    <p:sldId id="282" r:id="rId3"/>
    <p:sldId id="285" r:id="rId4"/>
    <p:sldId id="288" r:id="rId5"/>
    <p:sldId id="287" r:id="rId6"/>
    <p:sldId id="289" r:id="rId7"/>
    <p:sldId id="291" r:id="rId8"/>
    <p:sldId id="293" r:id="rId9"/>
    <p:sldId id="29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071360" y="176272"/>
            <a:ext cx="450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27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MVC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패턴을 이용한 게시판 만들기 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( 1 )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code.google.com/archive/p/json-simple/downloads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23560" y="3856679"/>
            <a:ext cx="5916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27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MVC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패턴을 이용한 게시판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만들기 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( 1 )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MVC</a:t>
            </a:r>
            <a:r>
              <a:rPr lang="ko-KR" altLang="en-US" sz="1600" b="1" dirty="0">
                <a:latin typeface="+mn-ea"/>
              </a:rPr>
              <a:t>패턴의 이해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0972" y="3775226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Model1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870972" y="4061299"/>
            <a:ext cx="1027732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97165" y="4842302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웹브라우저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77008" y="1116906"/>
            <a:ext cx="106767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MVC</a:t>
            </a:r>
            <a:r>
              <a:rPr lang="ko-KR" altLang="en-US" sz="1100" dirty="0" smtClean="0">
                <a:latin typeface="+mn-ea"/>
              </a:rPr>
              <a:t>란 </a:t>
            </a:r>
            <a:r>
              <a:rPr lang="en-US" altLang="ko-KR" sz="1100" dirty="0" smtClean="0">
                <a:latin typeface="+mn-ea"/>
              </a:rPr>
              <a:t>Model, View, Controller</a:t>
            </a:r>
            <a:r>
              <a:rPr lang="ko-KR" altLang="en-US" sz="1100" dirty="0" smtClean="0">
                <a:latin typeface="+mn-ea"/>
              </a:rPr>
              <a:t>를 뜻하는 용어로 개발 형태의 일종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Model</a:t>
            </a:r>
            <a:r>
              <a:rPr lang="ko-KR" altLang="en-US" sz="1100" dirty="0" smtClean="0">
                <a:latin typeface="+mn-ea"/>
              </a:rPr>
              <a:t>은 데이터베이스와의 관계</a:t>
            </a:r>
            <a:r>
              <a:rPr lang="ko-KR" altLang="en-US" sz="1100" dirty="0">
                <a:latin typeface="+mn-ea"/>
              </a:rPr>
              <a:t>를</a:t>
            </a:r>
            <a:r>
              <a:rPr lang="ko-KR" altLang="en-US" sz="1100" dirty="0" smtClean="0">
                <a:latin typeface="+mn-ea"/>
              </a:rPr>
              <a:t> 담당합니다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클라이언트의 요청에서 필요한 자료를 데이터베이스로부터 추출하거나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수정하여 </a:t>
            </a:r>
            <a:r>
              <a:rPr lang="en-US" altLang="ko-KR" sz="1100" dirty="0" smtClean="0">
                <a:latin typeface="+mn-ea"/>
              </a:rPr>
              <a:t>Controller</a:t>
            </a:r>
            <a:r>
              <a:rPr lang="ko-KR" altLang="en-US" sz="1100" dirty="0" smtClean="0">
                <a:latin typeface="+mn-ea"/>
              </a:rPr>
              <a:t>로 전달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View</a:t>
            </a:r>
            <a:r>
              <a:rPr lang="ko-KR" altLang="en-US" sz="1100" dirty="0" smtClean="0">
                <a:latin typeface="+mn-ea"/>
              </a:rPr>
              <a:t>는 사용자한테 보여지는 </a:t>
            </a:r>
            <a:r>
              <a:rPr lang="en-US" altLang="ko-KR" sz="1100" dirty="0" smtClean="0">
                <a:latin typeface="+mn-ea"/>
              </a:rPr>
              <a:t>UI </a:t>
            </a:r>
            <a:r>
              <a:rPr lang="ko-KR" altLang="en-US" sz="1100" dirty="0" smtClean="0">
                <a:latin typeface="+mn-ea"/>
              </a:rPr>
              <a:t>화면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주로 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en-US" altLang="ko-KR" sz="1100" dirty="0" err="1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파일로 작성 하며</a:t>
            </a:r>
            <a:r>
              <a:rPr lang="en-US" altLang="ko-KR" sz="1100" dirty="0" smtClean="0">
                <a:latin typeface="+mn-ea"/>
              </a:rPr>
              <a:t>, Controller</a:t>
            </a:r>
            <a:r>
              <a:rPr lang="ko-KR" altLang="en-US" sz="1100" dirty="0" smtClean="0">
                <a:latin typeface="+mn-ea"/>
              </a:rPr>
              <a:t>에서 어떤 </a:t>
            </a:r>
            <a:r>
              <a:rPr lang="en-US" altLang="ko-KR" sz="1100" dirty="0" smtClean="0">
                <a:latin typeface="+mn-ea"/>
              </a:rPr>
              <a:t>View </a:t>
            </a:r>
            <a:r>
              <a:rPr lang="ko-KR" altLang="en-US" sz="1100" dirty="0" err="1" smtClean="0">
                <a:latin typeface="+mn-ea"/>
              </a:rPr>
              <a:t>컴폰넌트를</a:t>
            </a:r>
            <a:r>
              <a:rPr lang="ko-KR" altLang="en-US" sz="1100" dirty="0" smtClean="0">
                <a:latin typeface="+mn-ea"/>
              </a:rPr>
              <a:t> 보여줄지 결정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Controller</a:t>
            </a:r>
            <a:r>
              <a:rPr lang="ko-KR" altLang="en-US" sz="1100" dirty="0" smtClean="0">
                <a:latin typeface="+mn-ea"/>
              </a:rPr>
              <a:t>는 클라이언트의 요청을 받고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적절한 </a:t>
            </a:r>
            <a:r>
              <a:rPr lang="en-US" altLang="ko-KR" sz="1100" dirty="0" smtClean="0">
                <a:latin typeface="+mn-ea"/>
              </a:rPr>
              <a:t>Model</a:t>
            </a:r>
            <a:r>
              <a:rPr lang="ko-KR" altLang="en-US" sz="1100" dirty="0" smtClean="0">
                <a:latin typeface="+mn-ea"/>
              </a:rPr>
              <a:t>에 지시를 내리며</a:t>
            </a:r>
            <a:r>
              <a:rPr lang="en-US" altLang="ko-KR" sz="1100" dirty="0" smtClean="0">
                <a:latin typeface="+mn-ea"/>
              </a:rPr>
              <a:t>, Model</a:t>
            </a:r>
            <a:r>
              <a:rPr lang="ko-KR" altLang="en-US" sz="1100" dirty="0" smtClean="0">
                <a:latin typeface="+mn-ea"/>
              </a:rPr>
              <a:t>에서 전달된 데이터를 적절한  </a:t>
            </a:r>
            <a:r>
              <a:rPr lang="en-US" altLang="ko-KR" sz="1100" dirty="0" smtClean="0">
                <a:latin typeface="+mn-ea"/>
              </a:rPr>
              <a:t>View</a:t>
            </a:r>
            <a:r>
              <a:rPr lang="ko-KR" altLang="en-US" sz="1100" dirty="0" smtClean="0">
                <a:latin typeface="+mn-ea"/>
              </a:rPr>
              <a:t>에 전달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이렇게 작업을 분할하면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추후 유지보수에 좋습니다</a:t>
            </a:r>
            <a:r>
              <a:rPr lang="en-US" altLang="ko-KR" sz="1100" dirty="0" smtClean="0">
                <a:latin typeface="+mn-ea"/>
              </a:rPr>
              <a:t>. 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533598" y="4842301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JSP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6670031" y="4842301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</a:t>
            </a:r>
            <a:endParaRPr lang="ko-KR" altLang="en-US" dirty="0"/>
          </a:p>
        </p:txBody>
      </p:sp>
      <p:cxnSp>
        <p:nvCxnSpPr>
          <p:cNvPr id="21" name="직선 화살표 연결선 20"/>
          <p:cNvCxnSpPr/>
          <p:nvPr/>
        </p:nvCxnSpPr>
        <p:spPr>
          <a:xfrm flipV="1">
            <a:off x="2447636" y="5387251"/>
            <a:ext cx="10859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5584069" y="5387251"/>
            <a:ext cx="1085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9806464" y="4842301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8720502" y="5387249"/>
            <a:ext cx="10859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>
            <a:off x="8720502" y="5636635"/>
            <a:ext cx="1085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5584069" y="5636635"/>
            <a:ext cx="1085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2447636" y="5636635"/>
            <a:ext cx="1085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180" y="4070731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MVC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에서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View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와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Controller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 같이 있는 형태 입니다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33598" y="6168446"/>
            <a:ext cx="2050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View + Controller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0030" y="6168446"/>
            <a:ext cx="2050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Model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5662054" y="2450549"/>
            <a:ext cx="784085" cy="7840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</a:t>
            </a:r>
            <a:endParaRPr lang="ko-KR" altLang="en-US" dirty="0"/>
          </a:p>
        </p:txBody>
      </p:sp>
      <p:sp>
        <p:nvSpPr>
          <p:cNvPr id="31" name="타원 30"/>
          <p:cNvSpPr/>
          <p:nvPr/>
        </p:nvSpPr>
        <p:spPr>
          <a:xfrm>
            <a:off x="4557692" y="2013369"/>
            <a:ext cx="784085" cy="7840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32" name="타원 31"/>
          <p:cNvSpPr/>
          <p:nvPr/>
        </p:nvSpPr>
        <p:spPr>
          <a:xfrm>
            <a:off x="3773607" y="2995498"/>
            <a:ext cx="784085" cy="7840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1592032" y="2359772"/>
            <a:ext cx="1711208" cy="593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클라이언트</a:t>
            </a:r>
            <a:endParaRPr lang="ko-KR" altLang="en-US" dirty="0"/>
          </a:p>
        </p:txBody>
      </p:sp>
      <p:cxnSp>
        <p:nvCxnSpPr>
          <p:cNvPr id="35" name="직선 화살표 연결선 34"/>
          <p:cNvCxnSpPr>
            <a:stCxn id="34" idx="3"/>
            <a:endCxn id="31" idx="2"/>
          </p:cNvCxnSpPr>
          <p:nvPr/>
        </p:nvCxnSpPr>
        <p:spPr>
          <a:xfrm flipV="1">
            <a:off x="3303240" y="2405412"/>
            <a:ext cx="1254452" cy="251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endCxn id="32" idx="7"/>
          </p:cNvCxnSpPr>
          <p:nvPr/>
        </p:nvCxnSpPr>
        <p:spPr>
          <a:xfrm flipH="1">
            <a:off x="4442865" y="2750038"/>
            <a:ext cx="335323" cy="360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341777" y="2556519"/>
            <a:ext cx="320277" cy="132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 flipH="1" flipV="1">
            <a:off x="5278260" y="2653949"/>
            <a:ext cx="326595" cy="14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flipH="1" flipV="1">
            <a:off x="3303240" y="2796250"/>
            <a:ext cx="500072" cy="32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6893260" y="2497883"/>
            <a:ext cx="784085" cy="7840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6481479" y="2785430"/>
            <a:ext cx="4294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 flipH="1">
            <a:off x="6463809" y="2915286"/>
            <a:ext cx="447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62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MVC</a:t>
            </a:r>
            <a:r>
              <a:rPr lang="ko-KR" altLang="en-US" sz="1600" b="1" dirty="0">
                <a:latin typeface="+mn-ea"/>
              </a:rPr>
              <a:t>패턴의 이해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0972" y="1288195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Model2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870972" y="1574268"/>
            <a:ext cx="1027732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7165" y="3740718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웹브라우저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3533597" y="5008760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JSP</a:t>
            </a:r>
            <a:endParaRPr lang="ko-KR" altLang="en-US" sz="2400" dirty="0"/>
          </a:p>
        </p:txBody>
      </p:sp>
      <p:cxnSp>
        <p:nvCxnSpPr>
          <p:cNvPr id="22" name="직선 화살표 연결선 21"/>
          <p:cNvCxnSpPr>
            <a:endCxn id="42" idx="1"/>
          </p:cNvCxnSpPr>
          <p:nvPr/>
        </p:nvCxnSpPr>
        <p:spPr>
          <a:xfrm>
            <a:off x="5581494" y="2897585"/>
            <a:ext cx="1109575" cy="1471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0474036" y="3740717"/>
            <a:ext cx="1382899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9725891" y="4285665"/>
            <a:ext cx="7481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H="1">
            <a:off x="9725891" y="4535051"/>
            <a:ext cx="748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 flipV="1">
            <a:off x="5582781" y="3193090"/>
            <a:ext cx="1108288" cy="146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9180" y="1583700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MVC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에서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Model, View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그리고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Controller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가 모두 모듈화 되어 있는 형태 입니다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33596" y="6315164"/>
            <a:ext cx="205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View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0030" y="5066862"/>
            <a:ext cx="3054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Model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533597" y="2429296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Servlet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3596" y="3755441"/>
            <a:ext cx="205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Controller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38" name="직선 화살표 연결선 37"/>
          <p:cNvCxnSpPr>
            <a:stCxn id="36" idx="2"/>
            <a:endCxn id="18" idx="0"/>
          </p:cNvCxnSpPr>
          <p:nvPr/>
        </p:nvCxnSpPr>
        <p:spPr>
          <a:xfrm>
            <a:off x="4558833" y="3685443"/>
            <a:ext cx="0" cy="1323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8341705" y="3740716"/>
            <a:ext cx="1382899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6691069" y="3740715"/>
            <a:ext cx="1382899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</a:t>
            </a:r>
            <a:endParaRPr lang="ko-KR" altLang="en-US" dirty="0"/>
          </a:p>
        </p:txBody>
      </p:sp>
      <p:cxnSp>
        <p:nvCxnSpPr>
          <p:cNvPr id="7" name="꺾인 연결선 6"/>
          <p:cNvCxnSpPr>
            <a:stCxn id="18" idx="1"/>
            <a:endCxn id="17" idx="2"/>
          </p:cNvCxnSpPr>
          <p:nvPr/>
        </p:nvCxnSpPr>
        <p:spPr>
          <a:xfrm rot="10800000">
            <a:off x="1422401" y="4996866"/>
            <a:ext cx="2111196" cy="6399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17" idx="0"/>
            <a:endCxn id="36" idx="1"/>
          </p:cNvCxnSpPr>
          <p:nvPr/>
        </p:nvCxnSpPr>
        <p:spPr>
          <a:xfrm rot="5400000" flipH="1" flipV="1">
            <a:off x="2136325" y="2343446"/>
            <a:ext cx="683348" cy="21111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505867" y="2897585"/>
            <a:ext cx="1382899" cy="612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DTO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896437" y="3042143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메소드</a:t>
            </a:r>
            <a:r>
              <a:rPr lang="ko-KR" altLang="en-US" dirty="0" smtClean="0"/>
              <a:t> 호출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714470" y="4016448"/>
            <a:ext cx="844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[ Return ]</a:t>
            </a:r>
          </a:p>
          <a:p>
            <a:r>
              <a:rPr lang="en-US" altLang="ko-KR" sz="1200" dirty="0" err="1" smtClean="0"/>
              <a:t>ArrayList</a:t>
            </a:r>
            <a:endParaRPr lang="en-US" altLang="ko-KR" sz="1200" dirty="0" smtClean="0"/>
          </a:p>
          <a:p>
            <a:r>
              <a:rPr lang="en-US" altLang="ko-KR" sz="1200" dirty="0" smtClean="0"/>
              <a:t>DTO</a:t>
            </a:r>
          </a:p>
          <a:p>
            <a:r>
              <a:rPr lang="en-US" altLang="ko-KR" sz="1200" dirty="0" err="1" smtClean="0"/>
              <a:t>int</a:t>
            </a:r>
            <a:endParaRPr lang="ko-KR" alt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9543047" y="5227257"/>
            <a:ext cx="1113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 smtClean="0"/>
              <a:t>Resultset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int</a:t>
            </a:r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9616496" y="3246692"/>
            <a:ext cx="96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 smtClean="0"/>
              <a:t>Sql</a:t>
            </a:r>
            <a:r>
              <a:rPr lang="ko-KR" altLang="en-US" dirty="0" smtClean="0"/>
              <a:t>구문</a:t>
            </a:r>
            <a:endParaRPr lang="ko-KR" altLang="en-US" dirty="0"/>
          </a:p>
        </p:txBody>
      </p:sp>
      <p:sp>
        <p:nvSpPr>
          <p:cNvPr id="4" name="왼쪽 중괄호 3"/>
          <p:cNvSpPr/>
          <p:nvPr/>
        </p:nvSpPr>
        <p:spPr>
          <a:xfrm>
            <a:off x="9322873" y="5132173"/>
            <a:ext cx="293623" cy="877179"/>
          </a:xfrm>
          <a:prstGeom prst="leftBrace">
            <a:avLst>
              <a:gd name="adj1" fmla="val 8333"/>
              <a:gd name="adj2" fmla="val 4906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10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모서리가 둥근 직사각형 87"/>
          <p:cNvSpPr/>
          <p:nvPr/>
        </p:nvSpPr>
        <p:spPr>
          <a:xfrm>
            <a:off x="86497" y="5417710"/>
            <a:ext cx="5678406" cy="1153874"/>
          </a:xfrm>
          <a:prstGeom prst="roundRect">
            <a:avLst>
              <a:gd name="adj" fmla="val 12934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5818909" y="1477818"/>
            <a:ext cx="6265999" cy="5380182"/>
          </a:xfrm>
          <a:prstGeom prst="roundRect">
            <a:avLst>
              <a:gd name="adj" fmla="val 4929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전체적인 컴포넌트 설계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37502" y="3658783"/>
            <a:ext cx="62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7008" y="3381269"/>
            <a:ext cx="1541785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3171826" y="3381269"/>
            <a:ext cx="1859040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FrontController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6174269" y="2102476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BList</a:t>
            </a:r>
            <a:r>
              <a:rPr lang="en-US" altLang="ko-KR" dirty="0" err="1"/>
              <a:t>Service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6174269" y="2554299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BViewService</a:t>
            </a:r>
            <a:endParaRPr lang="ko-KR" altLang="en-US" sz="1400" dirty="0"/>
          </a:p>
        </p:txBody>
      </p:sp>
      <p:sp>
        <p:nvSpPr>
          <p:cNvPr id="18" name="직사각형 17"/>
          <p:cNvSpPr/>
          <p:nvPr/>
        </p:nvSpPr>
        <p:spPr>
          <a:xfrm>
            <a:off x="6174269" y="3006122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BInsertService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6174269" y="3457945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BDeleteService</a:t>
            </a:r>
            <a:endParaRPr lang="ko-KR" altLang="en-US" sz="1600" dirty="0"/>
          </a:p>
        </p:txBody>
      </p:sp>
      <p:sp>
        <p:nvSpPr>
          <p:cNvPr id="20" name="직사각형 19"/>
          <p:cNvSpPr/>
          <p:nvPr/>
        </p:nvSpPr>
        <p:spPr>
          <a:xfrm>
            <a:off x="6174269" y="3909768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BReplyService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6174269" y="5745953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BDoReplyService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9172511" y="3380574"/>
            <a:ext cx="972832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DAO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10949566" y="3380573"/>
            <a:ext cx="972832" cy="107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DB</a:t>
            </a:r>
            <a:endParaRPr lang="ko-KR" altLang="en-US" dirty="0"/>
          </a:p>
        </p:txBody>
      </p:sp>
      <p:cxnSp>
        <p:nvCxnSpPr>
          <p:cNvPr id="11" name="직선 화살표 연결선 10"/>
          <p:cNvCxnSpPr>
            <a:stCxn id="8" idx="3"/>
            <a:endCxn id="15" idx="1"/>
          </p:cNvCxnSpPr>
          <p:nvPr/>
        </p:nvCxnSpPr>
        <p:spPr>
          <a:xfrm>
            <a:off x="2218793" y="3916598"/>
            <a:ext cx="953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6" idx="3"/>
            <a:endCxn id="24" idx="1"/>
          </p:cNvCxnSpPr>
          <p:nvPr/>
        </p:nvCxnSpPr>
        <p:spPr>
          <a:xfrm>
            <a:off x="8224740" y="2305296"/>
            <a:ext cx="947771" cy="1610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4" idx="3"/>
          </p:cNvCxnSpPr>
          <p:nvPr/>
        </p:nvCxnSpPr>
        <p:spPr>
          <a:xfrm>
            <a:off x="10145343" y="3915903"/>
            <a:ext cx="866008" cy="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7" idx="3"/>
            <a:endCxn id="24" idx="1"/>
          </p:cNvCxnSpPr>
          <p:nvPr/>
        </p:nvCxnSpPr>
        <p:spPr>
          <a:xfrm>
            <a:off x="8224740" y="2757119"/>
            <a:ext cx="947771" cy="115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8" idx="3"/>
            <a:endCxn id="24" idx="1"/>
          </p:cNvCxnSpPr>
          <p:nvPr/>
        </p:nvCxnSpPr>
        <p:spPr>
          <a:xfrm>
            <a:off x="8224740" y="3208942"/>
            <a:ext cx="947771" cy="70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19" idx="3"/>
            <a:endCxn id="24" idx="1"/>
          </p:cNvCxnSpPr>
          <p:nvPr/>
        </p:nvCxnSpPr>
        <p:spPr>
          <a:xfrm>
            <a:off x="8224740" y="3660765"/>
            <a:ext cx="947771" cy="255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20" idx="3"/>
            <a:endCxn id="24" idx="1"/>
          </p:cNvCxnSpPr>
          <p:nvPr/>
        </p:nvCxnSpPr>
        <p:spPr>
          <a:xfrm flipV="1">
            <a:off x="8224740" y="3915903"/>
            <a:ext cx="947771" cy="19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22" idx="3"/>
            <a:endCxn id="24" idx="1"/>
          </p:cNvCxnSpPr>
          <p:nvPr/>
        </p:nvCxnSpPr>
        <p:spPr>
          <a:xfrm flipV="1">
            <a:off x="8224740" y="3915903"/>
            <a:ext cx="947771" cy="203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15" idx="3"/>
            <a:endCxn id="16" idx="1"/>
          </p:cNvCxnSpPr>
          <p:nvPr/>
        </p:nvCxnSpPr>
        <p:spPr>
          <a:xfrm flipV="1">
            <a:off x="5030866" y="2305296"/>
            <a:ext cx="1143403" cy="1611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15" idx="3"/>
            <a:endCxn id="17" idx="1"/>
          </p:cNvCxnSpPr>
          <p:nvPr/>
        </p:nvCxnSpPr>
        <p:spPr>
          <a:xfrm flipV="1">
            <a:off x="5030866" y="2757119"/>
            <a:ext cx="1143403" cy="1159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15" idx="3"/>
            <a:endCxn id="18" idx="1"/>
          </p:cNvCxnSpPr>
          <p:nvPr/>
        </p:nvCxnSpPr>
        <p:spPr>
          <a:xfrm flipV="1">
            <a:off x="5030866" y="3208942"/>
            <a:ext cx="1143403" cy="707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15" idx="3"/>
            <a:endCxn id="19" idx="1"/>
          </p:cNvCxnSpPr>
          <p:nvPr/>
        </p:nvCxnSpPr>
        <p:spPr>
          <a:xfrm flipV="1">
            <a:off x="5030866" y="3660765"/>
            <a:ext cx="1143403" cy="255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stCxn id="15" idx="3"/>
            <a:endCxn id="20" idx="1"/>
          </p:cNvCxnSpPr>
          <p:nvPr/>
        </p:nvCxnSpPr>
        <p:spPr>
          <a:xfrm>
            <a:off x="5030866" y="3916598"/>
            <a:ext cx="1143403" cy="19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15" idx="3"/>
            <a:endCxn id="22" idx="1"/>
          </p:cNvCxnSpPr>
          <p:nvPr/>
        </p:nvCxnSpPr>
        <p:spPr>
          <a:xfrm>
            <a:off x="5030866" y="3916598"/>
            <a:ext cx="1143403" cy="203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67330" y="5745955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1276380" y="5745955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65" name="직사각형 64"/>
          <p:cNvSpPr/>
          <p:nvPr/>
        </p:nvSpPr>
        <p:spPr>
          <a:xfrm>
            <a:off x="2376622" y="5745954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66" name="직사각형 65"/>
          <p:cNvSpPr/>
          <p:nvPr/>
        </p:nvSpPr>
        <p:spPr>
          <a:xfrm>
            <a:off x="4581536" y="5745953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cxnSp>
        <p:nvCxnSpPr>
          <p:cNvPr id="68" name="직선 화살표 연결선 67"/>
          <p:cNvCxnSpPr>
            <a:stCxn id="15" idx="2"/>
            <a:endCxn id="63" idx="0"/>
          </p:cNvCxnSpPr>
          <p:nvPr/>
        </p:nvCxnSpPr>
        <p:spPr>
          <a:xfrm flipH="1">
            <a:off x="693570" y="4451926"/>
            <a:ext cx="3407776" cy="129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15" idx="2"/>
            <a:endCxn id="64" idx="0"/>
          </p:cNvCxnSpPr>
          <p:nvPr/>
        </p:nvCxnSpPr>
        <p:spPr>
          <a:xfrm flipH="1">
            <a:off x="1802620" y="4451926"/>
            <a:ext cx="2298726" cy="129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15" idx="2"/>
            <a:endCxn id="65" idx="0"/>
          </p:cNvCxnSpPr>
          <p:nvPr/>
        </p:nvCxnSpPr>
        <p:spPr>
          <a:xfrm flipH="1">
            <a:off x="2902862" y="4451926"/>
            <a:ext cx="1198484" cy="129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15" idx="2"/>
            <a:endCxn id="66" idx="0"/>
          </p:cNvCxnSpPr>
          <p:nvPr/>
        </p:nvCxnSpPr>
        <p:spPr>
          <a:xfrm>
            <a:off x="4101346" y="4451926"/>
            <a:ext cx="1006430" cy="1294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743551" y="4837178"/>
            <a:ext cx="627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응답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915917" y="1758766"/>
            <a:ext cx="1334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 smtClean="0">
                <a:latin typeface="+mn-ea"/>
              </a:rPr>
              <a:t>로직</a:t>
            </a:r>
            <a:r>
              <a:rPr lang="ko-KR" altLang="en-US" sz="1200" dirty="0" smtClean="0">
                <a:latin typeface="+mn-ea"/>
              </a:rPr>
              <a:t> 실행 지시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329606" y="1089364"/>
            <a:ext cx="160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>
                <a:latin typeface="+mn-ea"/>
              </a:rPr>
              <a:t>로직</a:t>
            </a:r>
            <a:r>
              <a:rPr lang="ko-KR" altLang="en-US" b="1" dirty="0" smtClean="0">
                <a:latin typeface="+mn-ea"/>
              </a:rPr>
              <a:t> 실행</a:t>
            </a:r>
            <a:endParaRPr lang="en-US" altLang="ko-KR" b="1" dirty="0" smtClean="0">
              <a:latin typeface="+mn-e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12836" y="5010572"/>
            <a:ext cx="1375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atin typeface="+mn-ea"/>
              </a:rPr>
              <a:t>화</a:t>
            </a:r>
            <a:r>
              <a:rPr lang="ko-KR" altLang="en-US" sz="2000" b="1" dirty="0">
                <a:latin typeface="+mn-ea"/>
              </a:rPr>
              <a:t>면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en-US" altLang="ko-KR" sz="2000" b="1" dirty="0" smtClean="0">
                <a:latin typeface="+mn-ea"/>
              </a:rPr>
              <a:t>UI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10193577" y="2933238"/>
            <a:ext cx="695397" cy="35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DTO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38058" y="153179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/>
              <a:t>인터페이스</a:t>
            </a:r>
            <a:endParaRPr lang="en-US" altLang="ko-KR" sz="1600" dirty="0" smtClean="0"/>
          </a:p>
          <a:p>
            <a:pPr algn="ctr"/>
            <a:r>
              <a:rPr lang="en-US" altLang="ko-KR" sz="1600" dirty="0" smtClean="0"/>
              <a:t>Service</a:t>
            </a:r>
            <a:endParaRPr lang="ko-KR" alt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247612" y="6210787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List.jsp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9130074" y="2060427"/>
            <a:ext cx="94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Select</a:t>
            </a:r>
          </a:p>
          <a:p>
            <a:pPr algn="ctr"/>
            <a:r>
              <a:rPr lang="en-US" altLang="ko-KR" dirty="0" smtClean="0"/>
              <a:t>Insert</a:t>
            </a:r>
          </a:p>
          <a:p>
            <a:pPr algn="ctr"/>
            <a:r>
              <a:rPr lang="en-US" altLang="ko-KR" dirty="0" smtClean="0"/>
              <a:t>Update</a:t>
            </a:r>
          </a:p>
          <a:p>
            <a:pPr algn="ctr"/>
            <a:r>
              <a:rPr lang="en-US" altLang="ko-KR" dirty="0" smtClean="0"/>
              <a:t>delete</a:t>
            </a:r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3719896" y="2741377"/>
            <a:ext cx="941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*.do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3483" y="6215147"/>
            <a:ext cx="8933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view.jsp</a:t>
            </a:r>
            <a:endParaRPr lang="ko-KR" alt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2472501" y="6215147"/>
            <a:ext cx="945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write.jsp</a:t>
            </a:r>
            <a:endParaRPr lang="ko-KR" altLang="en-US" sz="1600" dirty="0"/>
          </a:p>
        </p:txBody>
      </p:sp>
      <p:sp>
        <p:nvSpPr>
          <p:cNvPr id="62" name="직사각형 61"/>
          <p:cNvSpPr/>
          <p:nvPr/>
        </p:nvSpPr>
        <p:spPr>
          <a:xfrm>
            <a:off x="6174269" y="4366044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BUpdateService</a:t>
            </a:r>
            <a:endParaRPr lang="ko-KR" altLang="en-US" sz="1600" dirty="0"/>
          </a:p>
        </p:txBody>
      </p:sp>
      <p:sp>
        <p:nvSpPr>
          <p:cNvPr id="69" name="직사각형 68"/>
          <p:cNvSpPr/>
          <p:nvPr/>
        </p:nvSpPr>
        <p:spPr>
          <a:xfrm>
            <a:off x="6174269" y="4817867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/>
              <a:t>BDoUpdateService</a:t>
            </a:r>
            <a:endParaRPr lang="ko-KR" altLang="en-US" sz="1600" dirty="0"/>
          </a:p>
        </p:txBody>
      </p:sp>
      <p:sp>
        <p:nvSpPr>
          <p:cNvPr id="72" name="직사각형 71"/>
          <p:cNvSpPr/>
          <p:nvPr/>
        </p:nvSpPr>
        <p:spPr>
          <a:xfrm>
            <a:off x="6174269" y="5276520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BReplyService</a:t>
            </a:r>
            <a:endParaRPr lang="ko-KR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4660770" y="6215147"/>
            <a:ext cx="934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reply.jsp</a:t>
            </a:r>
            <a:endParaRPr lang="ko-KR" altLang="en-US" sz="1600" dirty="0"/>
          </a:p>
        </p:txBody>
      </p:sp>
      <p:sp>
        <p:nvSpPr>
          <p:cNvPr id="92" name="직사각형 91"/>
          <p:cNvSpPr/>
          <p:nvPr/>
        </p:nvSpPr>
        <p:spPr>
          <a:xfrm>
            <a:off x="3476864" y="5745954"/>
            <a:ext cx="1052480" cy="439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UI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cxnSp>
        <p:nvCxnSpPr>
          <p:cNvPr id="93" name="직선 화살표 연결선 92"/>
          <p:cNvCxnSpPr>
            <a:stCxn id="15" idx="2"/>
            <a:endCxn id="92" idx="0"/>
          </p:cNvCxnSpPr>
          <p:nvPr/>
        </p:nvCxnSpPr>
        <p:spPr>
          <a:xfrm flipH="1">
            <a:off x="4003104" y="4451926"/>
            <a:ext cx="98242" cy="129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504064" y="6215147"/>
            <a:ext cx="1170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Update.jsp</a:t>
            </a:r>
            <a:endParaRPr lang="ko-KR" altLang="en-US" sz="1600" dirty="0"/>
          </a:p>
        </p:txBody>
      </p:sp>
      <p:cxnSp>
        <p:nvCxnSpPr>
          <p:cNvPr id="95" name="직선 화살표 연결선 94"/>
          <p:cNvCxnSpPr>
            <a:stCxn id="15" idx="3"/>
            <a:endCxn id="62" idx="1"/>
          </p:cNvCxnSpPr>
          <p:nvPr/>
        </p:nvCxnSpPr>
        <p:spPr>
          <a:xfrm>
            <a:off x="5030866" y="3916598"/>
            <a:ext cx="1143403" cy="652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15" idx="3"/>
            <a:endCxn id="69" idx="1"/>
          </p:cNvCxnSpPr>
          <p:nvPr/>
        </p:nvCxnSpPr>
        <p:spPr>
          <a:xfrm>
            <a:off x="5030866" y="3916598"/>
            <a:ext cx="1143403" cy="1104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15" idx="3"/>
            <a:endCxn id="72" idx="1"/>
          </p:cNvCxnSpPr>
          <p:nvPr/>
        </p:nvCxnSpPr>
        <p:spPr>
          <a:xfrm>
            <a:off x="5030866" y="3916598"/>
            <a:ext cx="1143403" cy="1562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62" idx="3"/>
            <a:endCxn id="24" idx="1"/>
          </p:cNvCxnSpPr>
          <p:nvPr/>
        </p:nvCxnSpPr>
        <p:spPr>
          <a:xfrm flipV="1">
            <a:off x="8224740" y="3915903"/>
            <a:ext cx="947771" cy="65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>
            <a:stCxn id="69" idx="3"/>
            <a:endCxn id="24" idx="1"/>
          </p:cNvCxnSpPr>
          <p:nvPr/>
        </p:nvCxnSpPr>
        <p:spPr>
          <a:xfrm flipV="1">
            <a:off x="8224740" y="3915903"/>
            <a:ext cx="947771" cy="1104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endCxn id="24" idx="1"/>
          </p:cNvCxnSpPr>
          <p:nvPr/>
        </p:nvCxnSpPr>
        <p:spPr>
          <a:xfrm flipV="1">
            <a:off x="8237270" y="3915903"/>
            <a:ext cx="935241" cy="155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6174269" y="6311387"/>
            <a:ext cx="2050471" cy="405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DoLoginService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4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DataBase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생성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685" y="1662011"/>
            <a:ext cx="4937829" cy="206100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187" y="1686932"/>
            <a:ext cx="2324100" cy="3143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08" y="1649320"/>
            <a:ext cx="2314575" cy="20669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90" y="4655081"/>
            <a:ext cx="5604794" cy="488058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756138" y="4574933"/>
            <a:ext cx="928760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6139" y="4310908"/>
            <a:ext cx="9287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테스트를 위한 </a:t>
            </a:r>
            <a:r>
              <a:rPr lang="en-US" altLang="ko-KR" sz="1100" dirty="0" smtClean="0">
                <a:latin typeface="+mn-ea"/>
              </a:rPr>
              <a:t>Dummy </a:t>
            </a:r>
            <a:r>
              <a:rPr lang="en-US" altLang="ko-KR" sz="1100" dirty="0">
                <a:latin typeface="+mn-ea"/>
              </a:rPr>
              <a:t>D</a:t>
            </a:r>
            <a:r>
              <a:rPr lang="en-US" altLang="ko-KR" sz="1100" dirty="0" smtClean="0">
                <a:latin typeface="+mn-ea"/>
              </a:rPr>
              <a:t>ata</a:t>
            </a:r>
            <a:r>
              <a:rPr lang="ko-KR" altLang="en-US" sz="1100" dirty="0" smtClean="0">
                <a:latin typeface="+mn-ea"/>
              </a:rPr>
              <a:t> 입력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710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ajax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전송 및 </a:t>
            </a:r>
            <a:r>
              <a:rPr lang="ko-KR" altLang="en-US" sz="1600" b="1" dirty="0" smtClean="0">
                <a:latin typeface="+mn-ea"/>
              </a:rPr>
              <a:t>회원정보 </a:t>
            </a:r>
            <a:r>
              <a:rPr lang="en-US" altLang="ko-KR" sz="1600" b="1" dirty="0">
                <a:latin typeface="+mn-ea"/>
              </a:rPr>
              <a:t>JSON </a:t>
            </a:r>
            <a:r>
              <a:rPr lang="ko-KR" altLang="en-US" sz="1600" b="1" dirty="0" smtClean="0">
                <a:latin typeface="+mn-ea"/>
              </a:rPr>
              <a:t>변환</a:t>
            </a:r>
            <a:endParaRPr lang="ko-KR" altLang="en-US" sz="16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827863" y="1180968"/>
            <a:ext cx="11151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Servlet</a:t>
            </a:r>
            <a:r>
              <a:rPr lang="ko-KR" altLang="en-US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ajax</a:t>
            </a:r>
            <a:r>
              <a:rPr lang="ko-KR" altLang="en-US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</a:t>
            </a:r>
            <a:r>
              <a:rPr lang="en-US" altLang="ko-KR" b="1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data </a:t>
            </a:r>
            <a:r>
              <a:rPr lang="ko-KR" altLang="en-US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받기 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https://</a:t>
            </a:r>
            <a:r>
              <a:rPr lang="en-US" altLang="ko-KR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code.google.com/archive/p/json-simple/downloads</a:t>
            </a:r>
            <a:r>
              <a:rPr lang="en-US" altLang="ko-KR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jar</a:t>
            </a:r>
            <a:r>
              <a:rPr lang="ko-KR" altLang="en-US" b="1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파일 설치</a:t>
            </a:r>
            <a:endParaRPr lang="ko-KR" altLang="en-US" b="0" i="0" dirty="0">
              <a:solidFill>
                <a:srgbClr val="000000"/>
              </a:solidFill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26" name="Picture 2" descr="https://blog.kakaocdn.net/dn/cR6V8w/btq2KxWHCVp/zqpkWi1ZmAg4f1KcbYXdQ0/im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63" y="1690362"/>
            <a:ext cx="2563037" cy="215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blog.kakaocdn.net/dn/dBdRx7/btq2MbeGjf9/wyWLT1glhZ8ckROJTxLsq0/im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427" y="1690362"/>
            <a:ext cx="8158073" cy="391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677007" y="4220844"/>
            <a:ext cx="744781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smtClean="0"/>
              <a:t>1. DB data </a:t>
            </a:r>
            <a:r>
              <a:rPr lang="ko-KR" altLang="en-US" sz="1100" dirty="0"/>
              <a:t>객체를 </a:t>
            </a:r>
            <a:r>
              <a:rPr lang="en-US" altLang="ko-KR" sz="1100" dirty="0" err="1" smtClean="0"/>
              <a:t>ArrayList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추가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 smtClean="0"/>
              <a:t>2. </a:t>
            </a:r>
            <a:r>
              <a:rPr lang="en-US" altLang="ko-KR" sz="1100" dirty="0" err="1" smtClean="0"/>
              <a:t>ArrayList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데이터를 </a:t>
            </a:r>
            <a:r>
              <a:rPr lang="en-US" altLang="ko-KR" sz="1100" dirty="0" err="1" smtClean="0"/>
              <a:t>Json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형태로 변경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err="1" smtClean="0"/>
              <a:t>JSONObject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에 담기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err="1" smtClean="0"/>
              <a:t>JSONObject</a:t>
            </a:r>
            <a:r>
              <a:rPr lang="ko-KR" altLang="en-US" sz="1100" dirty="0"/>
              <a:t>를 </a:t>
            </a:r>
            <a:r>
              <a:rPr lang="en-US" altLang="ko-KR" sz="1100" dirty="0" err="1"/>
              <a:t>JSONArray</a:t>
            </a:r>
            <a:r>
              <a:rPr lang="ko-KR" altLang="en-US" sz="1100" dirty="0"/>
              <a:t>에 </a:t>
            </a:r>
            <a:r>
              <a:rPr lang="ko-KR" altLang="en-US" sz="1100" dirty="0" smtClean="0"/>
              <a:t>담기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 smtClean="0"/>
              <a:t>* </a:t>
            </a:r>
            <a:r>
              <a:rPr lang="ko-KR" altLang="en-US" sz="1100" dirty="0" err="1" smtClean="0"/>
              <a:t>응답시</a:t>
            </a:r>
            <a:r>
              <a:rPr lang="ko-KR" altLang="en-US" sz="1100" dirty="0" smtClean="0"/>
              <a:t> 유의사항</a:t>
            </a:r>
            <a:endParaRPr lang="ko-KR" altLang="en-US" sz="1100" dirty="0"/>
          </a:p>
          <a:p>
            <a:endParaRPr lang="en-US" altLang="ko-KR" sz="1100" dirty="0" smtClean="0"/>
          </a:p>
          <a:p>
            <a:r>
              <a:rPr lang="en-US" altLang="ko-KR" sz="1100" dirty="0" smtClean="0"/>
              <a:t>1</a:t>
            </a:r>
            <a:r>
              <a:rPr lang="en-US" altLang="ko-KR" sz="1100" dirty="0"/>
              <a:t>) </a:t>
            </a:r>
            <a:r>
              <a:rPr lang="ko-KR" altLang="en-US" sz="1100" dirty="0"/>
              <a:t>한글이 깨지지 않도록 </a:t>
            </a:r>
            <a:r>
              <a:rPr lang="en-US" altLang="ko-KR" sz="1100" dirty="0"/>
              <a:t>utf-8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인코딩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response.setCharacterencoding</a:t>
            </a:r>
            <a:r>
              <a:rPr lang="en-US" altLang="ko-KR" sz="1100" dirty="0"/>
              <a:t>("utf-8");)</a:t>
            </a:r>
          </a:p>
          <a:p>
            <a:endParaRPr lang="en-US" altLang="ko-KR" sz="1100" dirty="0"/>
          </a:p>
          <a:p>
            <a:r>
              <a:rPr lang="en-US" altLang="ko-KR" sz="1100" dirty="0"/>
              <a:t>2) </a:t>
            </a:r>
            <a:r>
              <a:rPr lang="en-US" altLang="ko-KR" sz="1100" dirty="0" err="1"/>
              <a:t>JSONArray</a:t>
            </a:r>
            <a:r>
              <a:rPr lang="ko-KR" altLang="en-US" sz="1100" dirty="0"/>
              <a:t>의 주소가 아닌 </a:t>
            </a:r>
            <a:r>
              <a:rPr lang="en-US" altLang="ko-KR" sz="1100" dirty="0" err="1"/>
              <a:t>json</a:t>
            </a:r>
            <a:r>
              <a:rPr lang="en-US" altLang="ko-KR" sz="1100" dirty="0"/>
              <a:t> </a:t>
            </a:r>
            <a:r>
              <a:rPr lang="ko-KR" altLang="en-US" sz="1100" dirty="0"/>
              <a:t>상태로 응답해야 하므로 </a:t>
            </a:r>
            <a:r>
              <a:rPr lang="ko-KR" altLang="en-US" sz="1100" dirty="0" smtClean="0"/>
              <a:t>변환 </a:t>
            </a:r>
            <a:r>
              <a:rPr lang="ko-KR" altLang="en-US" sz="1100" dirty="0" err="1" smtClean="0"/>
              <a:t>작업필요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jarray.toJSONString</a:t>
            </a:r>
            <a:r>
              <a:rPr lang="en-US" altLang="ko-KR" sz="1100" dirty="0"/>
              <a:t>();)</a:t>
            </a:r>
          </a:p>
          <a:p>
            <a:endParaRPr lang="en-US" altLang="ko-KR" sz="1100" dirty="0"/>
          </a:p>
          <a:p>
            <a:r>
              <a:rPr lang="en-US" altLang="ko-KR" sz="1100" dirty="0"/>
              <a:t>3) </a:t>
            </a:r>
            <a:r>
              <a:rPr lang="en-US" altLang="ko-KR" sz="1100" dirty="0" smtClean="0"/>
              <a:t>response</a:t>
            </a:r>
            <a:r>
              <a:rPr lang="ko-KR" altLang="en-US" sz="1100" dirty="0" smtClean="0"/>
              <a:t>로 출력해줘야 함</a:t>
            </a:r>
            <a:r>
              <a:rPr lang="en-US" altLang="ko-KR" sz="1100" dirty="0" smtClean="0"/>
              <a:t>.(</a:t>
            </a:r>
            <a:r>
              <a:rPr lang="en-US" altLang="ko-KR" sz="1100" dirty="0" err="1"/>
              <a:t>response.getWriter</a:t>
            </a:r>
            <a:r>
              <a:rPr lang="en-US" altLang="ko-KR" sz="1100" dirty="0"/>
              <a:t>().</a:t>
            </a:r>
            <a:r>
              <a:rPr lang="en-US" altLang="ko-KR" sz="1100" dirty="0" smtClean="0"/>
              <a:t>print(</a:t>
            </a:r>
            <a:r>
              <a:rPr lang="ko-KR" altLang="en-US" sz="1100" dirty="0" smtClean="0"/>
              <a:t>내용</a:t>
            </a:r>
            <a:r>
              <a:rPr lang="en-US" altLang="ko-KR" sz="1100" dirty="0" smtClean="0"/>
              <a:t>);)</a:t>
            </a:r>
            <a:endParaRPr lang="ko-KR" altLang="en-US" sz="1100" dirty="0"/>
          </a:p>
        </p:txBody>
      </p:sp>
      <p:sp>
        <p:nvSpPr>
          <p:cNvPr id="8" name="직사각형 7"/>
          <p:cNvSpPr/>
          <p:nvPr/>
        </p:nvSpPr>
        <p:spPr>
          <a:xfrm>
            <a:off x="8124824" y="6582975"/>
            <a:ext cx="24383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/>
              <a:t>https://dev2som.tistory.com/126</a:t>
            </a:r>
          </a:p>
        </p:txBody>
      </p:sp>
    </p:spTree>
    <p:extLst>
      <p:ext uri="{BB962C8B-B14F-4D97-AF65-F5344CB8AC3E}">
        <p14:creationId xmlns:p14="http://schemas.microsoft.com/office/powerpoint/2010/main" val="221623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ajax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전송 및 </a:t>
            </a:r>
            <a:r>
              <a:rPr lang="ko-KR" altLang="en-US" sz="1600" b="1" dirty="0" smtClean="0">
                <a:latin typeface="+mn-ea"/>
              </a:rPr>
              <a:t>회원정보 </a:t>
            </a:r>
            <a:r>
              <a:rPr lang="en-US" altLang="ko-KR" sz="1600" b="1" dirty="0">
                <a:latin typeface="+mn-ea"/>
              </a:rPr>
              <a:t>JSON </a:t>
            </a:r>
            <a:r>
              <a:rPr lang="ko-KR" altLang="en-US" sz="1600" b="1" dirty="0" smtClean="0">
                <a:latin typeface="+mn-ea"/>
              </a:rPr>
              <a:t>변환</a:t>
            </a:r>
            <a:endParaRPr lang="ko-KR" altLang="en-US" sz="16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827863" y="1180968"/>
            <a:ext cx="1989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&gt; servlet </a:t>
            </a:r>
            <a:r>
              <a:rPr lang="ko-KR" altLang="en-US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부분</a:t>
            </a:r>
            <a:endParaRPr lang="ko-KR" altLang="en-US" b="0" i="0" dirty="0">
              <a:solidFill>
                <a:srgbClr val="000000"/>
              </a:solidFill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27862" y="1623435"/>
            <a:ext cx="10525938" cy="25545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JSONObject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JSONObject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json.put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cno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",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ecdto.getCno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  //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key,value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json.put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("id",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ecdto.getId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  //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key,value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json.put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ccontent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",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ecdto.getCcontent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  //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key,value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json.put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cdate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", ""+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ecdto.getCdate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  //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key,value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response.setContentType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("application/x-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; charset=utf-8</a:t>
            </a:r>
            <a:r>
              <a:rPr lang="en-US" altLang="ko-K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"); //</a:t>
            </a:r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json</a:t>
            </a:r>
            <a:r>
              <a:rPr lang="ko-KR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파일 선언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altLang="ko-K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writer =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response.getWriter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writer.print</a:t>
            </a:r>
            <a:r>
              <a:rPr lang="en-US" altLang="ko-K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writer.close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6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ajax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전송 및 </a:t>
            </a:r>
            <a:r>
              <a:rPr lang="ko-KR" altLang="en-US" sz="1600" b="1" dirty="0" smtClean="0">
                <a:latin typeface="+mn-ea"/>
              </a:rPr>
              <a:t>회원정보 </a:t>
            </a:r>
            <a:r>
              <a:rPr lang="en-US" altLang="ko-KR" sz="1600" b="1" dirty="0">
                <a:latin typeface="+mn-ea"/>
              </a:rPr>
              <a:t>JSON </a:t>
            </a:r>
            <a:r>
              <a:rPr lang="ko-KR" altLang="en-US" sz="1600" b="1" dirty="0" smtClean="0">
                <a:latin typeface="+mn-ea"/>
              </a:rPr>
              <a:t>변환</a:t>
            </a:r>
            <a:endParaRPr lang="ko-KR" altLang="en-US" sz="16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827863" y="1180968"/>
            <a:ext cx="1523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예제</a:t>
            </a:r>
            <a:r>
              <a:rPr lang="en-US" altLang="ko-KR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&gt; </a:t>
            </a:r>
            <a:r>
              <a:rPr lang="en-US" altLang="ko-KR" dirty="0" err="1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jsp</a:t>
            </a:r>
            <a:r>
              <a:rPr lang="ko-KR" altLang="en-US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부분</a:t>
            </a:r>
            <a:endParaRPr lang="ko-KR" altLang="en-US" b="0" i="0" dirty="0">
              <a:solidFill>
                <a:srgbClr val="000000"/>
              </a:solidFill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27862" y="1623435"/>
            <a:ext cx="10525938" cy="500136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Consolas" panose="020B0609020204030204" pitchFamily="49" charset="0"/>
              </a:rPr>
              <a:t>//</a:t>
            </a:r>
            <a:r>
              <a:rPr lang="en-US" altLang="ko-KR" sz="1100" dirty="0" err="1">
                <a:latin typeface="Consolas" panose="020B0609020204030204" pitchFamily="49" charset="0"/>
              </a:rPr>
              <a:t>db</a:t>
            </a:r>
            <a:r>
              <a:rPr lang="ko-KR" altLang="en-US" sz="1100" dirty="0">
                <a:latin typeface="Consolas" panose="020B0609020204030204" pitchFamily="49" charset="0"/>
              </a:rPr>
              <a:t>에 저장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$.</a:t>
            </a:r>
            <a:r>
              <a:rPr lang="en-US" altLang="ko-KR" sz="1100" dirty="0" err="1">
                <a:latin typeface="Consolas" panose="020B0609020204030204" pitchFamily="49" charset="0"/>
              </a:rPr>
              <a:t>ajax</a:t>
            </a:r>
            <a:r>
              <a:rPr lang="en-US" altLang="ko-KR" sz="1100" dirty="0">
                <a:latin typeface="Consolas" panose="020B0609020204030204" pitchFamily="49" charset="0"/>
              </a:rPr>
              <a:t>({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url:"../CInsert",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type:"post</a:t>
            </a:r>
            <a:r>
              <a:rPr lang="en-US" altLang="ko-KR" sz="1100" dirty="0">
                <a:latin typeface="Consolas" panose="020B0609020204030204" pitchFamily="49" charset="0"/>
              </a:rPr>
              <a:t>",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data:{"</a:t>
            </a:r>
            <a:r>
              <a:rPr lang="en-US" altLang="ko-KR" sz="1100" dirty="0" err="1">
                <a:latin typeface="Consolas" panose="020B0609020204030204" pitchFamily="49" charset="0"/>
              </a:rPr>
              <a:t>bno</a:t>
            </a:r>
            <a:r>
              <a:rPr lang="en-US" altLang="ko-KR" sz="1100" dirty="0">
                <a:latin typeface="Consolas" panose="020B0609020204030204" pitchFamily="49" charset="0"/>
              </a:rPr>
              <a:t>":</a:t>
            </a:r>
            <a:r>
              <a:rPr lang="en-US" altLang="ko-KR" sz="1100" dirty="0" err="1">
                <a:latin typeface="Consolas" panose="020B0609020204030204" pitchFamily="49" charset="0"/>
              </a:rPr>
              <a:t>bno</a:t>
            </a:r>
            <a:r>
              <a:rPr lang="en-US" altLang="ko-KR" sz="1100" dirty="0">
                <a:latin typeface="Consolas" panose="020B0609020204030204" pitchFamily="49" charset="0"/>
              </a:rPr>
              <a:t>,"</a:t>
            </a:r>
            <a:r>
              <a:rPr lang="en-US" altLang="ko-KR" sz="1100" dirty="0" err="1">
                <a:latin typeface="Consolas" panose="020B0609020204030204" pitchFamily="49" charset="0"/>
              </a:rPr>
              <a:t>cpw</a:t>
            </a:r>
            <a:r>
              <a:rPr lang="en-US" altLang="ko-KR" sz="1100" dirty="0">
                <a:latin typeface="Consolas" panose="020B0609020204030204" pitchFamily="49" charset="0"/>
              </a:rPr>
              <a:t>":</a:t>
            </a:r>
            <a:r>
              <a:rPr lang="en-US" altLang="ko-KR" sz="1100" dirty="0" err="1">
                <a:latin typeface="Consolas" panose="020B0609020204030204" pitchFamily="49" charset="0"/>
              </a:rPr>
              <a:t>cpw</a:t>
            </a:r>
            <a:r>
              <a:rPr lang="en-US" altLang="ko-KR" sz="1100" dirty="0">
                <a:latin typeface="Consolas" panose="020B0609020204030204" pitchFamily="49" charset="0"/>
              </a:rPr>
              <a:t>,"</a:t>
            </a:r>
            <a:r>
              <a:rPr lang="en-US" altLang="ko-KR" sz="1100" dirty="0" err="1">
                <a:latin typeface="Consolas" panose="020B0609020204030204" pitchFamily="49" charset="0"/>
              </a:rPr>
              <a:t>ccontent</a:t>
            </a:r>
            <a:r>
              <a:rPr lang="en-US" altLang="ko-KR" sz="1100" dirty="0">
                <a:latin typeface="Consolas" panose="020B0609020204030204" pitchFamily="49" charset="0"/>
              </a:rPr>
              <a:t>":</a:t>
            </a:r>
            <a:r>
              <a:rPr lang="en-US" altLang="ko-KR" sz="1100" dirty="0" err="1">
                <a:latin typeface="Consolas" panose="020B0609020204030204" pitchFamily="49" charset="0"/>
              </a:rPr>
              <a:t>ccontent</a:t>
            </a:r>
            <a:r>
              <a:rPr lang="en-US" altLang="ko-KR" sz="1100" dirty="0">
                <a:latin typeface="Consolas" panose="020B0609020204030204" pitchFamily="49" charset="0"/>
              </a:rPr>
              <a:t>},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dataType</a:t>
            </a:r>
            <a:r>
              <a:rPr lang="en-US" altLang="ko-KR" sz="1100" dirty="0">
                <a:latin typeface="Consolas" panose="020B0609020204030204" pitchFamily="49" charset="0"/>
              </a:rPr>
              <a:t>:"</a:t>
            </a:r>
            <a:r>
              <a:rPr lang="en-US" altLang="ko-KR" sz="1100" dirty="0" err="1">
                <a:latin typeface="Consolas" panose="020B0609020204030204" pitchFamily="49" charset="0"/>
              </a:rPr>
              <a:t>json</a:t>
            </a:r>
            <a:r>
              <a:rPr lang="en-US" altLang="ko-KR" sz="1100" dirty="0">
                <a:latin typeface="Consolas" panose="020B0609020204030204" pitchFamily="49" charset="0"/>
              </a:rPr>
              <a:t>",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success:function</a:t>
            </a:r>
            <a:r>
              <a:rPr lang="en-US" altLang="ko-KR" sz="1100" dirty="0">
                <a:latin typeface="Consolas" panose="020B0609020204030204" pitchFamily="49" charset="0"/>
              </a:rPr>
              <a:t>(data){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//alert("</a:t>
            </a:r>
            <a:r>
              <a:rPr lang="ko-KR" altLang="en-US" sz="1100" dirty="0">
                <a:latin typeface="Consolas" panose="020B0609020204030204" pitchFamily="49" charset="0"/>
              </a:rPr>
              <a:t>성공</a:t>
            </a:r>
            <a:r>
              <a:rPr lang="en-US" altLang="ko-KR" sz="1100" dirty="0">
                <a:latin typeface="Consolas" panose="020B0609020204030204" pitchFamily="49" charset="0"/>
              </a:rPr>
              <a:t>");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//alert("</a:t>
            </a:r>
            <a:r>
              <a:rPr lang="ko-KR" altLang="en-US" sz="1100" dirty="0" err="1">
                <a:latin typeface="Consolas" panose="020B0609020204030204" pitchFamily="49" charset="0"/>
              </a:rPr>
              <a:t>댓글번호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>
                <a:latin typeface="Consolas" panose="020B0609020204030204" pitchFamily="49" charset="0"/>
              </a:rPr>
              <a:t>: "+</a:t>
            </a:r>
            <a:r>
              <a:rPr lang="en-US" altLang="ko-KR" sz="1100" dirty="0" err="1">
                <a:latin typeface="Consolas" panose="020B0609020204030204" pitchFamily="49" charset="0"/>
              </a:rPr>
              <a:t>data.cno</a:t>
            </a:r>
            <a:r>
              <a:rPr lang="en-US" altLang="ko-KR" sz="1100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//</a:t>
            </a:r>
            <a:r>
              <a:rPr lang="ko-KR" altLang="en-US" sz="1100" dirty="0" err="1">
                <a:latin typeface="Consolas" panose="020B0609020204030204" pitchFamily="49" charset="0"/>
              </a:rPr>
              <a:t>댓글등록</a:t>
            </a:r>
            <a:r>
              <a:rPr lang="ko-KR" altLang="en-US" sz="1100" dirty="0">
                <a:latin typeface="Consolas" panose="020B0609020204030204" pitchFamily="49" charset="0"/>
              </a:rPr>
              <a:t> 태그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var</a:t>
            </a:r>
            <a:r>
              <a:rPr lang="en-US" altLang="ko-KR" sz="1100" dirty="0">
                <a:latin typeface="Consolas" panose="020B0609020204030204" pitchFamily="49" charset="0"/>
              </a:rPr>
              <a:t> </a:t>
            </a:r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='';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</a:t>
            </a:r>
            <a:r>
              <a:rPr lang="en-US" altLang="ko-KR" sz="1100" dirty="0" err="1">
                <a:latin typeface="Consolas" panose="020B0609020204030204" pitchFamily="49" charset="0"/>
              </a:rPr>
              <a:t>ul</a:t>
            </a:r>
            <a:r>
              <a:rPr lang="en-US" altLang="ko-KR" sz="1100" dirty="0">
                <a:latin typeface="Consolas" panose="020B0609020204030204" pitchFamily="49" charset="0"/>
              </a:rPr>
              <a:t> id="'+</a:t>
            </a:r>
            <a:r>
              <a:rPr lang="en-US" altLang="ko-KR" sz="1100" dirty="0" err="1">
                <a:latin typeface="Consolas" panose="020B0609020204030204" pitchFamily="49" charset="0"/>
              </a:rPr>
              <a:t>data.cno</a:t>
            </a:r>
            <a:r>
              <a:rPr lang="en-US" altLang="ko-KR" sz="1100" dirty="0">
                <a:latin typeface="Consolas" panose="020B0609020204030204" pitchFamily="49" charset="0"/>
              </a:rPr>
              <a:t>+'"&gt;';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'&lt;li class="name"&gt;'+data.id+' &lt;span&gt; ['+</a:t>
            </a:r>
            <a:r>
              <a:rPr lang="en-US" altLang="ko-KR" sz="1100" dirty="0" err="1">
                <a:latin typeface="Consolas" panose="020B0609020204030204" pitchFamily="49" charset="0"/>
              </a:rPr>
              <a:t>data.cdate</a:t>
            </a:r>
            <a:r>
              <a:rPr lang="en-US" altLang="ko-KR" sz="1100" dirty="0">
                <a:latin typeface="Consolas" panose="020B0609020204030204" pitchFamily="49" charset="0"/>
              </a:rPr>
              <a:t>+']&lt;/span&gt;&lt;/li&gt;';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'&lt;li class="txt"&gt;'+</a:t>
            </a:r>
            <a:r>
              <a:rPr lang="en-US" altLang="ko-KR" sz="1100" dirty="0" err="1">
                <a:latin typeface="Consolas" panose="020B0609020204030204" pitchFamily="49" charset="0"/>
              </a:rPr>
              <a:t>data.ccontent</a:t>
            </a:r>
            <a:r>
              <a:rPr lang="en-US" altLang="ko-KR" sz="1100" dirty="0">
                <a:latin typeface="Consolas" panose="020B0609020204030204" pitchFamily="49" charset="0"/>
              </a:rPr>
              <a:t>+'&lt;/li&gt;';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'&lt;li class="</a:t>
            </a:r>
            <a:r>
              <a:rPr lang="en-US" altLang="ko-KR" sz="1100" dirty="0" err="1">
                <a:latin typeface="Consolas" panose="020B0609020204030204" pitchFamily="49" charset="0"/>
              </a:rPr>
              <a:t>btn</a:t>
            </a:r>
            <a:r>
              <a:rPr lang="en-US" altLang="ko-KR" sz="1100" dirty="0">
                <a:latin typeface="Consolas" panose="020B0609020204030204" pitchFamily="49" charset="0"/>
              </a:rPr>
              <a:t>"&gt;';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'&lt;a class="</a:t>
            </a:r>
            <a:r>
              <a:rPr lang="en-US" altLang="ko-KR" sz="1100" dirty="0" err="1">
                <a:latin typeface="Consolas" panose="020B0609020204030204" pitchFamily="49" charset="0"/>
              </a:rPr>
              <a:t>rebtn</a:t>
            </a:r>
            <a:r>
              <a:rPr lang="en-US" altLang="ko-KR" sz="1100" dirty="0">
                <a:latin typeface="Consolas" panose="020B0609020204030204" pitchFamily="49" charset="0"/>
              </a:rPr>
              <a:t>"&gt;</a:t>
            </a:r>
            <a:r>
              <a:rPr lang="ko-KR" altLang="en-US" sz="1100" dirty="0">
                <a:latin typeface="Consolas" panose="020B0609020204030204" pitchFamily="49" charset="0"/>
              </a:rPr>
              <a:t>수정</a:t>
            </a:r>
            <a:r>
              <a:rPr lang="en-US" altLang="ko-KR" sz="1100" dirty="0">
                <a:latin typeface="Consolas" panose="020B0609020204030204" pitchFamily="49" charset="0"/>
              </a:rPr>
              <a:t>&lt;/a&gt;&amp;</a:t>
            </a:r>
            <a:r>
              <a:rPr lang="en-US" altLang="ko-KR" sz="1100" dirty="0" err="1">
                <a:latin typeface="Consolas" panose="020B0609020204030204" pitchFamily="49" charset="0"/>
              </a:rPr>
              <a:t>nbsp</a:t>
            </a:r>
            <a:r>
              <a:rPr lang="en-US" altLang="ko-KR" sz="1100" dirty="0">
                <a:latin typeface="Consolas" panose="020B0609020204030204" pitchFamily="49" charset="0"/>
              </a:rPr>
              <a:t>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'&lt;a class="</a:t>
            </a:r>
            <a:r>
              <a:rPr lang="en-US" altLang="ko-KR" sz="1100" dirty="0" err="1">
                <a:latin typeface="Consolas" panose="020B0609020204030204" pitchFamily="49" charset="0"/>
              </a:rPr>
              <a:t>rebtn</a:t>
            </a:r>
            <a:r>
              <a:rPr lang="en-US" altLang="ko-KR" sz="1100" dirty="0">
                <a:latin typeface="Consolas" panose="020B0609020204030204" pitchFamily="49" charset="0"/>
              </a:rPr>
              <a:t>"&gt;</a:t>
            </a:r>
            <a:r>
              <a:rPr lang="ko-KR" altLang="en-US" sz="1100" dirty="0">
                <a:latin typeface="Consolas" panose="020B0609020204030204" pitchFamily="49" charset="0"/>
              </a:rPr>
              <a:t>삭제</a:t>
            </a:r>
            <a:r>
              <a:rPr lang="en-US" altLang="ko-KR" sz="1100" dirty="0">
                <a:latin typeface="Consolas" panose="020B0609020204030204" pitchFamily="49" charset="0"/>
              </a:rPr>
              <a:t>&lt;/a&gt;';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'&lt;/li&gt;';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 += '&lt;/</a:t>
            </a:r>
            <a:r>
              <a:rPr lang="en-US" altLang="ko-KR" sz="1100" dirty="0" err="1">
                <a:latin typeface="Consolas" panose="020B0609020204030204" pitchFamily="49" charset="0"/>
              </a:rPr>
              <a:t>ul</a:t>
            </a:r>
            <a:r>
              <a:rPr lang="en-US" altLang="ko-KR" sz="1100" dirty="0">
                <a:latin typeface="Consolas" panose="020B0609020204030204" pitchFamily="49" charset="0"/>
              </a:rPr>
              <a:t>&gt;';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//</a:t>
            </a:r>
            <a:r>
              <a:rPr lang="ko-KR" altLang="en-US" sz="1100" dirty="0" err="1">
                <a:latin typeface="Consolas" panose="020B0609020204030204" pitchFamily="49" charset="0"/>
              </a:rPr>
              <a:t>댓글등록후</a:t>
            </a:r>
            <a:r>
              <a:rPr lang="ko-KR" altLang="en-US" sz="1100" dirty="0">
                <a:latin typeface="Consolas" panose="020B0609020204030204" pitchFamily="49" charset="0"/>
              </a:rPr>
              <a:t> </a:t>
            </a:r>
            <a:r>
              <a:rPr lang="ko-KR" altLang="en-US" sz="1100" dirty="0" err="1">
                <a:latin typeface="Consolas" panose="020B0609020204030204" pitchFamily="49" charset="0"/>
              </a:rPr>
              <a:t>내용지우기</a:t>
            </a:r>
            <a:endParaRPr lang="ko-KR" altLang="en-US" sz="1100" dirty="0">
              <a:latin typeface="Consolas" panose="020B0609020204030204" pitchFamily="49" charset="0"/>
            </a:endParaRP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$(".</a:t>
            </a:r>
            <a:r>
              <a:rPr lang="en-US" altLang="ko-KR" sz="1100" dirty="0" err="1">
                <a:latin typeface="Consolas" panose="020B0609020204030204" pitchFamily="49" charset="0"/>
              </a:rPr>
              <a:t>replyBox</a:t>
            </a:r>
            <a:r>
              <a:rPr lang="en-US" altLang="ko-KR" sz="1100" dirty="0">
                <a:latin typeface="Consolas" panose="020B0609020204030204" pitchFamily="49" charset="0"/>
              </a:rPr>
              <a:t>").prepend(</a:t>
            </a:r>
            <a:r>
              <a:rPr lang="en-US" altLang="ko-KR" sz="1100" dirty="0" err="1">
                <a:latin typeface="Consolas" panose="020B0609020204030204" pitchFamily="49" charset="0"/>
              </a:rPr>
              <a:t>htmlData</a:t>
            </a:r>
            <a:r>
              <a:rPr lang="en-US" altLang="ko-KR" sz="1100" dirty="0">
                <a:latin typeface="Consolas" panose="020B0609020204030204" pitchFamily="49" charset="0"/>
              </a:rPr>
              <a:t>); //append()-</a:t>
            </a:r>
            <a:r>
              <a:rPr lang="ko-KR" altLang="en-US" sz="1100" dirty="0">
                <a:latin typeface="Consolas" panose="020B0609020204030204" pitchFamily="49" charset="0"/>
              </a:rPr>
              <a:t>마지막</a:t>
            </a:r>
            <a:r>
              <a:rPr lang="en-US" altLang="ko-KR" sz="1100" dirty="0">
                <a:latin typeface="Consolas" panose="020B0609020204030204" pitchFamily="49" charset="0"/>
              </a:rPr>
              <a:t>,prepend()-</a:t>
            </a:r>
            <a:r>
              <a:rPr lang="ko-KR" altLang="en-US" sz="1100" dirty="0">
                <a:latin typeface="Consolas" panose="020B0609020204030204" pitchFamily="49" charset="0"/>
              </a:rPr>
              <a:t>처음</a:t>
            </a:r>
            <a:r>
              <a:rPr lang="en-US" altLang="ko-KR" sz="1100" dirty="0">
                <a:latin typeface="Consolas" panose="020B0609020204030204" pitchFamily="49" charset="0"/>
              </a:rPr>
              <a:t>, html()-</a:t>
            </a:r>
            <a:r>
              <a:rPr lang="ko-KR" altLang="en-US" sz="1100" dirty="0" err="1">
                <a:latin typeface="Consolas" panose="020B0609020204030204" pitchFamily="49" charset="0"/>
              </a:rPr>
              <a:t>삭제후</a:t>
            </a:r>
            <a:r>
              <a:rPr lang="ko-KR" altLang="en-US" sz="1100" dirty="0">
                <a:latin typeface="Consolas" panose="020B0609020204030204" pitchFamily="49" charset="0"/>
              </a:rPr>
              <a:t> 추가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$(".</a:t>
            </a:r>
            <a:r>
              <a:rPr lang="en-US" altLang="ko-KR" sz="1100" dirty="0" err="1">
                <a:latin typeface="Consolas" panose="020B0609020204030204" pitchFamily="49" charset="0"/>
              </a:rPr>
              <a:t>replynum</a:t>
            </a:r>
            <a:r>
              <a:rPr lang="en-US" altLang="ko-KR" sz="1100" dirty="0">
                <a:latin typeface="Consolas" panose="020B0609020204030204" pitchFamily="49" charset="0"/>
              </a:rPr>
              <a:t>").</a:t>
            </a:r>
            <a:r>
              <a:rPr lang="en-US" altLang="ko-KR" sz="1100" dirty="0" err="1">
                <a:latin typeface="Consolas" panose="020B0609020204030204" pitchFamily="49" charset="0"/>
              </a:rPr>
              <a:t>val</a:t>
            </a:r>
            <a:r>
              <a:rPr lang="en-US" altLang="ko-KR" sz="1100" dirty="0">
                <a:latin typeface="Consolas" panose="020B0609020204030204" pitchFamily="49" charset="0"/>
              </a:rPr>
              <a:t>(""); //</a:t>
            </a:r>
            <a:r>
              <a:rPr lang="ko-KR" altLang="en-US" sz="1100" dirty="0">
                <a:latin typeface="Consolas" panose="020B0609020204030204" pitchFamily="49" charset="0"/>
              </a:rPr>
              <a:t>비밀번호 글 삭제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$(".</a:t>
            </a:r>
            <a:r>
              <a:rPr lang="en-US" altLang="ko-KR" sz="1100" dirty="0" err="1">
                <a:latin typeface="Consolas" panose="020B0609020204030204" pitchFamily="49" charset="0"/>
              </a:rPr>
              <a:t>replyType</a:t>
            </a:r>
            <a:r>
              <a:rPr lang="en-US" altLang="ko-KR" sz="1100" dirty="0">
                <a:latin typeface="Consolas" panose="020B0609020204030204" pitchFamily="49" charset="0"/>
              </a:rPr>
              <a:t>").</a:t>
            </a:r>
            <a:r>
              <a:rPr lang="en-US" altLang="ko-KR" sz="1100" dirty="0" err="1">
                <a:latin typeface="Consolas" panose="020B0609020204030204" pitchFamily="49" charset="0"/>
              </a:rPr>
              <a:t>val</a:t>
            </a:r>
            <a:r>
              <a:rPr lang="en-US" altLang="ko-KR" sz="1100" dirty="0">
                <a:latin typeface="Consolas" panose="020B0609020204030204" pitchFamily="49" charset="0"/>
              </a:rPr>
              <a:t>(""); //</a:t>
            </a:r>
            <a:r>
              <a:rPr lang="ko-KR" altLang="en-US" sz="1100" dirty="0">
                <a:latin typeface="Consolas" panose="020B0609020204030204" pitchFamily="49" charset="0"/>
              </a:rPr>
              <a:t>내용 글 삭제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alert("</a:t>
            </a:r>
            <a:r>
              <a:rPr lang="ko-KR" altLang="en-US" sz="1100" dirty="0" err="1">
                <a:latin typeface="Consolas" panose="020B0609020204030204" pitchFamily="49" charset="0"/>
              </a:rPr>
              <a:t>댓글을</a:t>
            </a:r>
            <a:r>
              <a:rPr lang="ko-KR" altLang="en-US" sz="1100" dirty="0">
                <a:latin typeface="Consolas" panose="020B0609020204030204" pitchFamily="49" charset="0"/>
              </a:rPr>
              <a:t> 등록합니다</a:t>
            </a:r>
            <a:r>
              <a:rPr lang="en-US" altLang="ko-KR" sz="1100" dirty="0">
                <a:latin typeface="Consolas" panose="020B0609020204030204" pitchFamily="49" charset="0"/>
              </a:rPr>
              <a:t>.");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},</a:t>
            </a:r>
          </a:p>
          <a:p>
            <a:pPr lvl="1"/>
            <a:r>
              <a:rPr lang="en-US" altLang="ko-KR" sz="1100" dirty="0" err="1">
                <a:latin typeface="Consolas" panose="020B0609020204030204" pitchFamily="49" charset="0"/>
              </a:rPr>
              <a:t>error:function</a:t>
            </a:r>
            <a:r>
              <a:rPr lang="en-US" altLang="ko-KR" sz="1100" dirty="0"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alert("</a:t>
            </a:r>
            <a:r>
              <a:rPr lang="ko-KR" altLang="en-US" sz="1100" dirty="0">
                <a:latin typeface="Consolas" panose="020B0609020204030204" pitchFamily="49" charset="0"/>
              </a:rPr>
              <a:t>실패</a:t>
            </a:r>
            <a:r>
              <a:rPr lang="en-US" altLang="ko-KR" sz="1100" dirty="0">
                <a:latin typeface="Consolas" panose="020B0609020204030204" pitchFamily="49" charset="0"/>
              </a:rPr>
              <a:t>");</a:t>
            </a:r>
          </a:p>
          <a:p>
            <a:pPr lvl="1"/>
            <a:r>
              <a:rPr lang="en-US" altLang="ko-KR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100" dirty="0"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32108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* </a:t>
            </a:r>
            <a:r>
              <a:rPr lang="ko-KR" altLang="en-US" sz="1600" b="1" dirty="0">
                <a:latin typeface="+mn-ea"/>
              </a:rPr>
              <a:t>참조 </a:t>
            </a:r>
            <a:r>
              <a:rPr lang="en-US" altLang="ko-KR" sz="1600" b="1" dirty="0">
                <a:latin typeface="+mn-ea"/>
              </a:rPr>
              <a:t>: ajax </a:t>
            </a:r>
            <a:r>
              <a:rPr lang="ko-KR" altLang="en-US" sz="1600" b="1" dirty="0">
                <a:latin typeface="+mn-ea"/>
              </a:rPr>
              <a:t>전송 및 회원정보 </a:t>
            </a:r>
            <a:r>
              <a:rPr lang="en-US" altLang="ko-KR" sz="1600" b="1" dirty="0">
                <a:latin typeface="+mn-ea"/>
              </a:rPr>
              <a:t>JSON </a:t>
            </a:r>
            <a:r>
              <a:rPr lang="ko-KR" altLang="en-US" sz="1600" b="1" dirty="0">
                <a:latin typeface="+mn-ea"/>
              </a:rPr>
              <a:t>변환</a:t>
            </a:r>
            <a:endParaRPr lang="ko-KR" altLang="en-US" sz="16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66192B57-47A2-46E7-8731-5D0D2D01513C}"/>
              </a:ext>
            </a:extLst>
          </p:cNvPr>
          <p:cNvSpPr/>
          <p:nvPr/>
        </p:nvSpPr>
        <p:spPr>
          <a:xfrm>
            <a:off x="689094" y="1422444"/>
            <a:ext cx="8145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혼합</a:t>
            </a:r>
            <a:r>
              <a:rPr lang="en-US" altLang="ko-KR" b="1" dirty="0"/>
              <a:t> </a:t>
            </a:r>
            <a:r>
              <a:rPr lang="ko-KR" altLang="en-US" b="1" dirty="0"/>
              <a:t>객체 </a:t>
            </a:r>
            <a:r>
              <a:rPr lang="en-US" altLang="ko-KR" b="1" dirty="0"/>
              <a:t>-&gt; </a:t>
            </a:r>
            <a:r>
              <a:rPr lang="en-US" altLang="ko-KR" b="1" dirty="0" err="1"/>
              <a:t>Json</a:t>
            </a:r>
            <a:r>
              <a:rPr lang="ko-KR" altLang="en-US" b="1" dirty="0"/>
              <a:t>형식의 </a:t>
            </a:r>
            <a:r>
              <a:rPr lang="en-US" altLang="ko-KR" b="1" dirty="0"/>
              <a:t>text</a:t>
            </a:r>
            <a:r>
              <a:rPr lang="ko-KR" altLang="en-US" b="1" dirty="0"/>
              <a:t>변환</a:t>
            </a:r>
            <a:endParaRPr lang="en-US" altLang="ko-KR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66192B57-47A2-46E7-8731-5D0D2D01513C}"/>
              </a:ext>
            </a:extLst>
          </p:cNvPr>
          <p:cNvSpPr/>
          <p:nvPr/>
        </p:nvSpPr>
        <p:spPr>
          <a:xfrm>
            <a:off x="540639" y="1873197"/>
            <a:ext cx="105568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데이터 형태 </a:t>
            </a:r>
            <a:r>
              <a:rPr lang="en-US" altLang="ko-KR" sz="1200" dirty="0"/>
              <a:t>: [{"isMarried":false,"address":null,"name":"kim","age":19},{"isMarried":true,"address":"seoul","name":"lee","age":22}]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83920" y="2231617"/>
            <a:ext cx="441128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맑은 고딕" panose="020B0503020000020004" pitchFamily="50" charset="-127"/>
              </a:rPr>
              <a:t>   </a:t>
            </a:r>
          </a:p>
          <a:p>
            <a:r>
              <a:rPr lang="en-US" altLang="ko-KR" sz="1100" dirty="0">
                <a:latin typeface="맑은 고딕" panose="020B0503020000020004" pitchFamily="50" charset="-127"/>
              </a:rPr>
              <a:t>          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 obj1 =</a:t>
            </a:r>
            <a:r>
              <a:rPr lang="ko-KR" altLang="en-US" sz="1200" dirty="0"/>
              <a:t> </a:t>
            </a:r>
            <a:r>
              <a:rPr lang="en-US" altLang="ko-KR" sz="1200" dirty="0"/>
              <a:t>new</a:t>
            </a:r>
            <a:r>
              <a:rPr lang="ko-KR" altLang="en-US" sz="1200" dirty="0"/>
              <a:t>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           obj1.put("name", "</a:t>
            </a:r>
            <a:r>
              <a:rPr lang="en-US" altLang="ko-KR" sz="1200" dirty="0" err="1"/>
              <a:t>kim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           obj1.put("age", 19L);</a:t>
            </a:r>
          </a:p>
          <a:p>
            <a:r>
              <a:rPr lang="en-US" altLang="ko-KR" sz="1200" dirty="0"/>
              <a:t>           obj1.put("address", null);</a:t>
            </a:r>
          </a:p>
          <a:p>
            <a:r>
              <a:rPr lang="en-US" altLang="ko-KR" sz="1200" dirty="0"/>
              <a:t>           obj1.put("</a:t>
            </a:r>
            <a:r>
              <a:rPr lang="en-US" altLang="ko-KR" sz="1200" dirty="0" err="1"/>
              <a:t>isMarried</a:t>
            </a:r>
            <a:r>
              <a:rPr lang="en-US" altLang="ko-KR" sz="1200" dirty="0"/>
              <a:t>", false);</a:t>
            </a:r>
          </a:p>
          <a:p>
            <a:r>
              <a:rPr lang="en-US" altLang="ko-KR" sz="1200" dirty="0"/>
              <a:t>           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 obj2 =</a:t>
            </a:r>
            <a:r>
              <a:rPr lang="ko-KR" altLang="en-US" sz="1200" dirty="0"/>
              <a:t> </a:t>
            </a:r>
            <a:r>
              <a:rPr lang="en-US" altLang="ko-KR" sz="1200" dirty="0"/>
              <a:t>new</a:t>
            </a:r>
            <a:r>
              <a:rPr lang="ko-KR" altLang="en-US" sz="1200" dirty="0"/>
              <a:t>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           obj2.put("name", "lee");</a:t>
            </a:r>
          </a:p>
          <a:p>
            <a:r>
              <a:rPr lang="en-US" altLang="ko-KR" sz="1200" dirty="0"/>
              <a:t>           obj2.put("age", 22L);</a:t>
            </a:r>
          </a:p>
          <a:p>
            <a:r>
              <a:rPr lang="en-US" altLang="ko-KR" sz="1200" dirty="0"/>
              <a:t>           obj2.put("address", "</a:t>
            </a:r>
            <a:r>
              <a:rPr lang="en-US" altLang="ko-KR" sz="1200" dirty="0" err="1"/>
              <a:t>seoul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           obj2.put("</a:t>
            </a:r>
            <a:r>
              <a:rPr lang="en-US" altLang="ko-KR" sz="1200" dirty="0" err="1"/>
              <a:t>isMarried</a:t>
            </a:r>
            <a:r>
              <a:rPr lang="en-US" altLang="ko-KR" sz="1200" dirty="0"/>
              <a:t>", true);</a:t>
            </a:r>
          </a:p>
          <a:p>
            <a:r>
              <a:rPr lang="en-US" altLang="ko-KR" sz="1200" dirty="0"/>
              <a:t>           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JSONArray</a:t>
            </a:r>
            <a:r>
              <a:rPr lang="en-US" altLang="ko-KR" sz="1200" dirty="0"/>
              <a:t> </a:t>
            </a:r>
            <a:r>
              <a:rPr lang="en-US" altLang="ko-KR" sz="1200" dirty="0" err="1"/>
              <a:t>arr</a:t>
            </a:r>
            <a:r>
              <a:rPr lang="en-US" altLang="ko-KR" sz="1200" dirty="0"/>
              <a:t> =</a:t>
            </a:r>
            <a:r>
              <a:rPr lang="ko-KR" altLang="en-US" sz="1200" dirty="0"/>
              <a:t> </a:t>
            </a:r>
            <a:r>
              <a:rPr lang="en-US" altLang="ko-KR" sz="1200" dirty="0"/>
              <a:t>new</a:t>
            </a:r>
            <a:r>
              <a:rPr lang="ko-KR" altLang="en-US" sz="1200" dirty="0"/>
              <a:t> </a:t>
            </a:r>
            <a:r>
              <a:rPr lang="en-US" altLang="ko-KR" sz="1200" dirty="0" err="1"/>
              <a:t>JSONArray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arr.add</a:t>
            </a:r>
            <a:r>
              <a:rPr lang="en-US" altLang="ko-KR" sz="1200" dirty="0"/>
              <a:t>(obj1);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arr.add</a:t>
            </a:r>
            <a:r>
              <a:rPr lang="en-US" altLang="ko-KR" sz="1200" dirty="0"/>
              <a:t>(obj2);</a:t>
            </a:r>
          </a:p>
          <a:p>
            <a:r>
              <a:rPr lang="en-US" altLang="ko-KR" sz="1200" dirty="0"/>
              <a:t>           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(obj1.toJSONString());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(obj2.toJSONString());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arr.toJSONString</a:t>
            </a:r>
            <a:r>
              <a:rPr lang="en-US" altLang="ko-KR" sz="1200" dirty="0"/>
              <a:t>());</a:t>
            </a:r>
          </a:p>
          <a:p>
            <a:r>
              <a:rPr lang="en-US" altLang="ko-KR" sz="1100" dirty="0">
                <a:latin typeface="맑은 고딕" panose="020B0503020000020004" pitchFamily="50" charset="-127"/>
              </a:rPr>
              <a:t>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295208" y="4982267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b="1" dirty="0" err="1">
                <a:latin typeface="맑은 고딕" panose="020B0503020000020004" pitchFamily="50" charset="-127"/>
              </a:rPr>
              <a:t>출력결과</a:t>
            </a:r>
            <a:r>
              <a:rPr lang="ko-KR" altLang="en-US" sz="1200" b="1" dirty="0"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</a:rPr>
              <a:t>: </a:t>
            </a: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{"isMarried":false,"address":null,"name":"kim","age":19}</a:t>
            </a: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{"isMarried":true,"address":"seoul","name":"lee","age":22}</a:t>
            </a: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[{"isMarried":false,"address":null,"name":"kim","age":19},{"isMarried":true,"address":"seoul","name":"lee","age":22}]</a:t>
            </a:r>
          </a:p>
        </p:txBody>
      </p:sp>
    </p:spTree>
    <p:extLst>
      <p:ext uri="{BB962C8B-B14F-4D97-AF65-F5344CB8AC3E}">
        <p14:creationId xmlns:p14="http://schemas.microsoft.com/office/powerpoint/2010/main" val="30639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6497</TotalTime>
  <Words>663</Words>
  <Application>Microsoft Office PowerPoint</Application>
  <PresentationFormat>와이드스크린</PresentationFormat>
  <Paragraphs>176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나눔스퀘어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1480</cp:revision>
  <dcterms:created xsi:type="dcterms:W3CDTF">2014-12-01T08:37:15Z</dcterms:created>
  <dcterms:modified xsi:type="dcterms:W3CDTF">2023-12-08T03:47:02Z</dcterms:modified>
</cp:coreProperties>
</file>