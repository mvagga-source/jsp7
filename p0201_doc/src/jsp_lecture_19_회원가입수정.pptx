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83" r:id="rId3"/>
    <p:sldId id="286" r:id="rId4"/>
    <p:sldId id="289" r:id="rId5"/>
    <p:sldId id="287" r:id="rId6"/>
    <p:sldId id="28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19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-III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ode.google.com/archive/p/json-simple/download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19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데이터 베이스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- 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III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회원가입 및 회원정보 수정 프로그래밍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아마도 처음 개발을 시작하는 개발자가 프로젝트에서 처음 접하는 프로그래밍은 회원관리 부분일 것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회원가입 및 회원정보 수정 프로그래밍을 통한 </a:t>
            </a:r>
            <a:r>
              <a:rPr lang="en-US" altLang="ko-KR" sz="1100" dirty="0" smtClean="0">
                <a:latin typeface="+mn-ea"/>
              </a:rPr>
              <a:t>JDBC</a:t>
            </a:r>
            <a:r>
              <a:rPr lang="ko-KR" altLang="en-US" sz="1100" dirty="0" smtClean="0">
                <a:latin typeface="+mn-ea"/>
              </a:rPr>
              <a:t>사용법을 학습합니다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733605" y="3243231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join.jsp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733606" y="2259630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doJoin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274344" y="2259630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joinResult.jsp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9131240" y="4257888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login.jsp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9131240" y="5152822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doLogIn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66827" y="4257888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update.jsp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66827" y="5154221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doUpdate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4733605" y="5520972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logout.jsp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4733606" y="4257889"/>
            <a:ext cx="2222557" cy="496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index.jsp</a:t>
            </a:r>
            <a:endParaRPr lang="ko-KR" altLang="en-US" dirty="0"/>
          </a:p>
        </p:txBody>
      </p:sp>
      <p:cxnSp>
        <p:nvCxnSpPr>
          <p:cNvPr id="47" name="꺾인 연결선 46"/>
          <p:cNvCxnSpPr>
            <a:stCxn id="28" idx="0"/>
            <a:endCxn id="4" idx="2"/>
          </p:cNvCxnSpPr>
          <p:nvPr/>
        </p:nvCxnSpPr>
        <p:spPr>
          <a:xfrm rot="16200000" flipV="1">
            <a:off x="5585982" y="3998985"/>
            <a:ext cx="517807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4" idx="0"/>
            <a:endCxn id="7" idx="2"/>
          </p:cNvCxnSpPr>
          <p:nvPr/>
        </p:nvCxnSpPr>
        <p:spPr>
          <a:xfrm flipV="1">
            <a:off x="5844884" y="2756481"/>
            <a:ext cx="1" cy="48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7" idx="3"/>
            <a:endCxn id="8" idx="1"/>
          </p:cNvCxnSpPr>
          <p:nvPr/>
        </p:nvCxnSpPr>
        <p:spPr>
          <a:xfrm>
            <a:off x="6956163" y="2508056"/>
            <a:ext cx="3181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8" idx="2"/>
            <a:endCxn id="28" idx="0"/>
          </p:cNvCxnSpPr>
          <p:nvPr/>
        </p:nvCxnSpPr>
        <p:spPr>
          <a:xfrm rot="5400000">
            <a:off x="6364550" y="2236816"/>
            <a:ext cx="1501408" cy="2540738"/>
          </a:xfrm>
          <a:prstGeom prst="bentConnector3">
            <a:avLst>
              <a:gd name="adj1" fmla="val 831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28" idx="3"/>
            <a:endCxn id="28" idx="3"/>
          </p:cNvCxnSpPr>
          <p:nvPr/>
        </p:nvCxnSpPr>
        <p:spPr>
          <a:xfrm>
            <a:off x="6956163" y="450631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28" idx="3"/>
            <a:endCxn id="28" idx="3"/>
          </p:cNvCxnSpPr>
          <p:nvPr/>
        </p:nvCxnSpPr>
        <p:spPr>
          <a:xfrm>
            <a:off x="6956163" y="450631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28" idx="3"/>
            <a:endCxn id="9" idx="1"/>
          </p:cNvCxnSpPr>
          <p:nvPr/>
        </p:nvCxnSpPr>
        <p:spPr>
          <a:xfrm flipV="1">
            <a:off x="6956163" y="4506314"/>
            <a:ext cx="21750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>
            <a:stCxn id="9" idx="2"/>
            <a:endCxn id="10" idx="0"/>
          </p:cNvCxnSpPr>
          <p:nvPr/>
        </p:nvCxnSpPr>
        <p:spPr>
          <a:xfrm>
            <a:off x="10242519" y="4754739"/>
            <a:ext cx="0" cy="398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0" idx="1"/>
            <a:endCxn id="28" idx="3"/>
          </p:cNvCxnSpPr>
          <p:nvPr/>
        </p:nvCxnSpPr>
        <p:spPr>
          <a:xfrm rot="10800000">
            <a:off x="6956164" y="4506316"/>
            <a:ext cx="2175077" cy="894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28" idx="1"/>
            <a:endCxn id="12" idx="3"/>
          </p:cNvCxnSpPr>
          <p:nvPr/>
        </p:nvCxnSpPr>
        <p:spPr>
          <a:xfrm flipH="1" flipV="1">
            <a:off x="2989384" y="4506314"/>
            <a:ext cx="174422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12" idx="2"/>
            <a:endCxn id="13" idx="0"/>
          </p:cNvCxnSpPr>
          <p:nvPr/>
        </p:nvCxnSpPr>
        <p:spPr>
          <a:xfrm>
            <a:off x="1878106" y="4754739"/>
            <a:ext cx="0" cy="399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13" idx="3"/>
            <a:endCxn id="28" idx="1"/>
          </p:cNvCxnSpPr>
          <p:nvPr/>
        </p:nvCxnSpPr>
        <p:spPr>
          <a:xfrm flipV="1">
            <a:off x="2989384" y="4506315"/>
            <a:ext cx="1744222" cy="8963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28" idx="2"/>
            <a:endCxn id="16" idx="0"/>
          </p:cNvCxnSpPr>
          <p:nvPr/>
        </p:nvCxnSpPr>
        <p:spPr>
          <a:xfrm flipH="1">
            <a:off x="5844884" y="4754740"/>
            <a:ext cx="1" cy="766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93275" y="38143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회원정보수정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5290885" y="61419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로그아웃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5290885" y="17713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회원가입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9803936" y="37400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로그인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9617763" y="3130844"/>
            <a:ext cx="145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로</a:t>
            </a:r>
            <a:r>
              <a:rPr lang="ko-KR" altLang="en-US" sz="1200" b="1" dirty="0">
                <a:solidFill>
                  <a:srgbClr val="FF0000"/>
                </a:solidFill>
              </a:rPr>
              <a:t>그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인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(</a:t>
            </a:r>
            <a:r>
              <a:rPr lang="en-US" altLang="ko-KR" sz="1200" b="1" dirty="0" err="1" smtClean="0">
                <a:solidFill>
                  <a:srgbClr val="FF0000"/>
                </a:solidFill>
              </a:rPr>
              <a:t>index.jsp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</a:t>
            </a:r>
            <a:endParaRPr lang="en-US" altLang="ko-KR" sz="1200" b="1" dirty="0" smtClean="0">
              <a:solidFill>
                <a:srgbClr val="FF0000"/>
              </a:solidFill>
            </a:endParaRPr>
          </a:p>
          <a:p>
            <a:r>
              <a:rPr lang="ko-KR" altLang="en-US" sz="1200" b="1" dirty="0" smtClean="0">
                <a:solidFill>
                  <a:srgbClr val="FF0000"/>
                </a:solidFill>
              </a:rPr>
              <a:t>섹션 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존재시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 </a:t>
            </a:r>
            <a:endParaRPr lang="en-US" altLang="ko-KR" sz="1200" b="1" dirty="0" smtClean="0">
              <a:solidFill>
                <a:srgbClr val="FF0000"/>
              </a:solidFill>
            </a:endParaRPr>
          </a:p>
          <a:p>
            <a:r>
              <a:rPr lang="ko-KR" altLang="en-US" sz="1200" b="1" dirty="0" smtClean="0">
                <a:solidFill>
                  <a:srgbClr val="FF0000"/>
                </a:solidFill>
              </a:rPr>
              <a:t>바로 </a:t>
            </a:r>
            <a:r>
              <a:rPr lang="en-US" altLang="ko-KR" sz="1200" b="1" dirty="0" err="1" smtClean="0">
                <a:solidFill>
                  <a:srgbClr val="FF0000"/>
                </a:solidFill>
              </a:rPr>
              <a:t>index.jsp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21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회원가입 및 회원정보 수정 프로그래밍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83" y="2412395"/>
            <a:ext cx="8982075" cy="34861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33" name="직선 연결선 32"/>
          <p:cNvCxnSpPr/>
          <p:nvPr/>
        </p:nvCxnSpPr>
        <p:spPr>
          <a:xfrm>
            <a:off x="3671309" y="2633448"/>
            <a:ext cx="20393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5772237" y="2633448"/>
            <a:ext cx="22248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963008" y="1705374"/>
            <a:ext cx="1379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>
                <a:latin typeface="+mn-ea"/>
              </a:rPr>
              <a:t>요청처리객체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71342" y="1705374"/>
            <a:ext cx="1379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>
                <a:latin typeface="+mn-ea"/>
              </a:rPr>
              <a:t>응답처리객체</a:t>
            </a:r>
            <a:endParaRPr lang="en-US" altLang="ko-KR" sz="1400" dirty="0" smtClean="0">
              <a:latin typeface="+mn-ea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4652685" y="2078550"/>
            <a:ext cx="0" cy="3431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6861019" y="2078550"/>
            <a:ext cx="0" cy="34316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H="1">
            <a:off x="5468473" y="3341265"/>
            <a:ext cx="82983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69405" y="3210460"/>
            <a:ext cx="2430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 smtClean="0">
                <a:latin typeface="+mn-ea"/>
              </a:rPr>
              <a:t>웹브라우저에</a:t>
            </a:r>
            <a:r>
              <a:rPr lang="ko-KR" altLang="en-US" sz="1100" dirty="0" smtClean="0">
                <a:latin typeface="+mn-ea"/>
              </a:rPr>
              <a:t> 출력하기 위한 </a:t>
            </a:r>
            <a:r>
              <a:rPr lang="ko-KR" altLang="en-US" sz="1100" dirty="0" err="1" smtClean="0">
                <a:latin typeface="+mn-ea"/>
              </a:rPr>
              <a:t>스트림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 flipH="1">
            <a:off x="5468473" y="3805915"/>
            <a:ext cx="82983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69405" y="3675110"/>
            <a:ext cx="49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html</a:t>
            </a: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1858298" y="2741497"/>
            <a:ext cx="37399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96415" y="2610692"/>
            <a:ext cx="1031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smtClean="0">
                <a:latin typeface="+mn-ea"/>
              </a:rPr>
              <a:t>Console </a:t>
            </a:r>
            <a:r>
              <a:rPr lang="ko-KR" altLang="en-US" sz="1100" dirty="0" smtClean="0">
                <a:latin typeface="+mn-ea"/>
              </a:rPr>
              <a:t>출력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089978" y="2975642"/>
            <a:ext cx="241110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(“</a:t>
            </a:r>
            <a:r>
              <a:rPr lang="en-US" altLang="ko-KR" sz="1400" dirty="0" smtClean="0">
                <a:solidFill>
                  <a:srgbClr val="0000FF"/>
                </a:solidFill>
              </a:rPr>
              <a:t>text/html; charset=utf-8</a:t>
            </a:r>
            <a:r>
              <a:rPr lang="en-US" altLang="ko-KR" sz="1400" dirty="0" smtClean="0"/>
              <a:t>”);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9584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회원가입 및 회원정보 수정 프로그래밍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743940" y="1445498"/>
            <a:ext cx="10542927" cy="43396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protected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doAction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HttpServletRequest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HttpServletResponse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sz="12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ServletException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ko-KR" sz="12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200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doAction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HttpSession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session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.getSession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.setCharacterEncoding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"utf-8"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//</a:t>
            </a:r>
            <a:r>
              <a:rPr lang="ko-KR" alt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한글처리</a:t>
            </a:r>
            <a:endParaRPr lang="en-US" altLang="ko-KR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uid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"id"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upw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.getParameter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"pw"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altLang="ko-KR" sz="1200" dirty="0" smtClean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ko-KR" altLang="en-US" sz="1200" dirty="0" err="1" smtClean="0">
                <a:solidFill>
                  <a:srgbClr val="3F7F5F"/>
                </a:solidFill>
                <a:latin typeface="Consolas" panose="020B0609020204030204" pitchFamily="49" charset="0"/>
              </a:rPr>
              <a:t>객체선언후</a:t>
            </a:r>
            <a:r>
              <a:rPr lang="ko-KR" altLang="en-US" sz="12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200" dirty="0" err="1" smtClean="0">
                <a:solidFill>
                  <a:srgbClr val="3F7F5F"/>
                </a:solidFill>
                <a:latin typeface="Consolas" panose="020B0609020204030204" pitchFamily="49" charset="0"/>
              </a:rPr>
              <a:t>메소드호출</a:t>
            </a:r>
            <a:endParaRPr lang="ko-KR" alt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ko-KR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200" u="sng" dirty="0" smtClean="0">
                <a:solidFill>
                  <a:srgbClr val="3F7F5F"/>
                </a:solidFill>
                <a:latin typeface="Consolas" panose="020B0609020204030204" pitchFamily="49" charset="0"/>
              </a:rPr>
              <a:t>html</a:t>
            </a:r>
            <a:r>
              <a:rPr lang="ko-KR" altLang="en-US" sz="1200" u="sng" dirty="0" smtClean="0">
                <a:solidFill>
                  <a:srgbClr val="3F7F5F"/>
                </a:solidFill>
                <a:latin typeface="Consolas" panose="020B0609020204030204" pitchFamily="49" charset="0"/>
              </a:rPr>
              <a:t>페이지</a:t>
            </a:r>
            <a:endParaRPr lang="ko-KR" alt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.setContentType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"text/html; charset=utf-8"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response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.getWriter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"&lt;html&gt;"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"&lt;head&gt;&lt;title&gt;</a:t>
            </a:r>
            <a:r>
              <a:rPr lang="ko-KR" altLang="en-US" sz="1200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로그인체크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&lt;/title&gt;&lt;/head&gt;"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"&lt;body&gt;"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"&lt;script&gt;"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"alert('"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msg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"');"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200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location.href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='"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url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"';"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"&lt;/script&gt;"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"&lt;/body&gt;"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"&lt;/html&gt;"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writer</a:t>
            </a:r>
            <a:r>
              <a:rPr lang="en-US" altLang="ko-KR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1200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200" dirty="0" err="1" smtClean="0">
                <a:solidFill>
                  <a:srgbClr val="3F7F5F"/>
                </a:solidFill>
                <a:latin typeface="Consolas" panose="020B0609020204030204" pitchFamily="49" charset="0"/>
              </a:rPr>
              <a:t>doAction</a:t>
            </a:r>
            <a:endParaRPr lang="en-US" altLang="ko-KR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562600" y="4446169"/>
            <a:ext cx="6096000" cy="2209404"/>
            <a:chOff x="5659394" y="4512071"/>
            <a:chExt cx="6096000" cy="2209404"/>
          </a:xfrm>
        </p:grpSpPr>
        <p:sp>
          <p:nvSpPr>
            <p:cNvPr id="6" name="직사각형 5"/>
            <p:cNvSpPr/>
            <p:nvPr/>
          </p:nvSpPr>
          <p:spPr>
            <a:xfrm>
              <a:off x="5659394" y="4782483"/>
              <a:ext cx="6096000" cy="1938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r>
                <a:rPr lang="en-US" altLang="ko-KR" sz="1200" b="1" dirty="0">
                  <a:solidFill>
                    <a:srgbClr val="7F0055"/>
                  </a:solidFill>
                  <a:latin typeface="Consolas" panose="020B0609020204030204" pitchFamily="49" charset="0"/>
                </a:rPr>
                <a:t>protected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b="1" dirty="0">
                  <a:solidFill>
                    <a:srgbClr val="7F0055"/>
                  </a:solidFill>
                  <a:latin typeface="Consolas" panose="020B0609020204030204" pitchFamily="49" charset="0"/>
                </a:rPr>
                <a:t>void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doGet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HttpServletRequest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request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HttpServletResponse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response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</a:t>
              </a:r>
              <a:r>
                <a:rPr lang="en-US" altLang="ko-KR" sz="1200" b="1" dirty="0">
                  <a:solidFill>
                    <a:srgbClr val="7F0055"/>
                  </a:solidFill>
                  <a:latin typeface="Consolas" panose="020B0609020204030204" pitchFamily="49" charset="0"/>
                </a:rPr>
                <a:t>throws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ServletException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IOException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System.</a:t>
              </a:r>
              <a:r>
                <a:rPr lang="en-US" altLang="ko-KR" sz="1200" b="1" i="1" dirty="0" err="1">
                  <a:solidFill>
                    <a:srgbClr val="0000C0"/>
                  </a:solidFill>
                  <a:latin typeface="Consolas" panose="020B0609020204030204" pitchFamily="49" charset="0"/>
                </a:rPr>
                <a:t>out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.println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1200" dirty="0">
                  <a:solidFill>
                    <a:srgbClr val="2A00FF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1200" dirty="0" err="1">
                  <a:solidFill>
                    <a:srgbClr val="2A00FF"/>
                  </a:solidFill>
                  <a:latin typeface="Consolas" panose="020B0609020204030204" pitchFamily="49" charset="0"/>
                </a:rPr>
                <a:t>doGet</a:t>
              </a:r>
              <a:r>
                <a:rPr lang="en-US" altLang="ko-KR" sz="1200" dirty="0">
                  <a:solidFill>
                    <a:srgbClr val="2A00FF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doAction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request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response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</a:p>
            <a:p>
              <a:r>
                <a:rPr lang="en-US" altLang="ko-KR" sz="1200" b="1" dirty="0">
                  <a:solidFill>
                    <a:srgbClr val="7F0055"/>
                  </a:solidFill>
                  <a:latin typeface="Consolas" panose="020B0609020204030204" pitchFamily="49" charset="0"/>
                </a:rPr>
                <a:t>protected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b="1" dirty="0">
                  <a:solidFill>
                    <a:srgbClr val="7F0055"/>
                  </a:solidFill>
                  <a:latin typeface="Consolas" panose="020B0609020204030204" pitchFamily="49" charset="0"/>
                </a:rPr>
                <a:t>void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doPost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HttpServletRequest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request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HttpServletResponse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response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 </a:t>
              </a:r>
              <a:r>
                <a:rPr lang="en-US" altLang="ko-KR" sz="1200" b="1" dirty="0">
                  <a:solidFill>
                    <a:srgbClr val="7F0055"/>
                  </a:solidFill>
                  <a:latin typeface="Consolas" panose="020B0609020204030204" pitchFamily="49" charset="0"/>
                </a:rPr>
                <a:t>throws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ServletException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IOException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{</a:t>
              </a:r>
            </a:p>
            <a:p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System.</a:t>
              </a:r>
              <a:r>
                <a:rPr lang="en-US" altLang="ko-KR" sz="1200" b="1" i="1" dirty="0" err="1">
                  <a:solidFill>
                    <a:srgbClr val="0000C0"/>
                  </a:solidFill>
                  <a:latin typeface="Consolas" panose="020B0609020204030204" pitchFamily="49" charset="0"/>
                </a:rPr>
                <a:t>out</a:t>
              </a:r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.println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1200" dirty="0">
                  <a:solidFill>
                    <a:srgbClr val="2A00FF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1200" dirty="0" err="1">
                  <a:solidFill>
                    <a:srgbClr val="2A00FF"/>
                  </a:solidFill>
                  <a:latin typeface="Consolas" panose="020B0609020204030204" pitchFamily="49" charset="0"/>
                </a:rPr>
                <a:t>doGet</a:t>
              </a:r>
              <a:r>
                <a:rPr lang="en-US" altLang="ko-KR" sz="1200" dirty="0">
                  <a:solidFill>
                    <a:srgbClr val="2A00FF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altLang="ko-KR" sz="12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doAction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request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ko-KR" sz="1200" dirty="0">
                  <a:solidFill>
                    <a:srgbClr val="6A3E3E"/>
                  </a:solidFill>
                  <a:latin typeface="Consolas" panose="020B0609020204030204" pitchFamily="49" charset="0"/>
                </a:rPr>
                <a:t>response</a:t>
              </a:r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altLang="ko-KR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altLang="ko-KR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659394" y="4512071"/>
              <a:ext cx="60960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 algn="ctr"/>
              <a:r>
                <a:rPr lang="ko-KR" altLang="en-US" sz="1200" b="1" smtClean="0">
                  <a:latin typeface="Consolas" panose="020B0609020204030204" pitchFamily="49" charset="0"/>
                </a:rPr>
                <a:t>하단부에 추가</a:t>
              </a:r>
              <a:endParaRPr lang="en-US" altLang="ko-KR" sz="1200" dirty="0"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04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ajax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전송 및 </a:t>
            </a:r>
            <a:r>
              <a:rPr lang="ko-KR" altLang="en-US" sz="1600" b="1" dirty="0" smtClean="0">
                <a:latin typeface="+mn-ea"/>
              </a:rPr>
              <a:t>회원정보 </a:t>
            </a:r>
            <a:r>
              <a:rPr lang="en-US" altLang="ko-KR" sz="1600" b="1" dirty="0">
                <a:latin typeface="+mn-ea"/>
              </a:rPr>
              <a:t>JSON </a:t>
            </a:r>
            <a:r>
              <a:rPr lang="ko-KR" altLang="en-US" sz="1600" b="1" dirty="0" smtClean="0">
                <a:latin typeface="+mn-ea"/>
              </a:rPr>
              <a:t>변환</a:t>
            </a:r>
            <a:endParaRPr lang="ko-KR" altLang="en-US" sz="16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s://blog.kakaocdn.net/dn/cR6V8w/btq2KxWHCVp/zqpkWi1ZmAg4f1KcbYXdQ0/i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63" y="1690362"/>
            <a:ext cx="2563037" cy="215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blog.kakaocdn.net/dn/dBdRx7/btq2MbeGjf9/wyWLT1glhZ8ckROJTxLsq0/im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427" y="1690362"/>
            <a:ext cx="8158073" cy="391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677007" y="4220844"/>
            <a:ext cx="744781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 smtClean="0"/>
              <a:t>1. DB data </a:t>
            </a:r>
            <a:r>
              <a:rPr lang="ko-KR" altLang="en-US" sz="1100" dirty="0"/>
              <a:t>객체를 </a:t>
            </a:r>
            <a:r>
              <a:rPr lang="en-US" altLang="ko-KR" sz="1100" dirty="0" err="1" smtClean="0"/>
              <a:t>ArrayList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추가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 smtClean="0"/>
              <a:t>2. </a:t>
            </a:r>
            <a:r>
              <a:rPr lang="en-US" altLang="ko-KR" sz="1100" dirty="0" err="1" smtClean="0"/>
              <a:t>ArrayList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데이터를 </a:t>
            </a:r>
            <a:r>
              <a:rPr lang="en-US" altLang="ko-KR" sz="1100" dirty="0" err="1" smtClean="0"/>
              <a:t>Json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형태로 변경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</a:t>
            </a:r>
            <a:r>
              <a:rPr lang="en-US" altLang="ko-KR" sz="1100" dirty="0" err="1" smtClean="0"/>
              <a:t>JSONObject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에 담기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 </a:t>
            </a:r>
            <a:r>
              <a:rPr lang="en-US" altLang="ko-KR" sz="1100" dirty="0" err="1" smtClean="0"/>
              <a:t>JSONObject</a:t>
            </a:r>
            <a:r>
              <a:rPr lang="ko-KR" altLang="en-US" sz="1100" dirty="0"/>
              <a:t>를 </a:t>
            </a:r>
            <a:r>
              <a:rPr lang="en-US" altLang="ko-KR" sz="1100" dirty="0" err="1"/>
              <a:t>JSONArray</a:t>
            </a:r>
            <a:r>
              <a:rPr lang="ko-KR" altLang="en-US" sz="1100" dirty="0"/>
              <a:t>에 </a:t>
            </a:r>
            <a:r>
              <a:rPr lang="ko-KR" altLang="en-US" sz="1100" dirty="0" smtClean="0"/>
              <a:t>담기</a:t>
            </a:r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 smtClean="0"/>
              <a:t>* </a:t>
            </a:r>
            <a:r>
              <a:rPr lang="ko-KR" altLang="en-US" sz="1100" dirty="0" err="1" smtClean="0"/>
              <a:t>응답시</a:t>
            </a:r>
            <a:r>
              <a:rPr lang="ko-KR" altLang="en-US" sz="1100" dirty="0" smtClean="0"/>
              <a:t> 유의사항</a:t>
            </a:r>
            <a:endParaRPr lang="ko-KR" altLang="en-US" sz="1100" dirty="0"/>
          </a:p>
          <a:p>
            <a:endParaRPr lang="en-US" altLang="ko-KR" sz="1100" dirty="0" smtClean="0"/>
          </a:p>
          <a:p>
            <a:r>
              <a:rPr lang="en-US" altLang="ko-KR" sz="1100" dirty="0" smtClean="0"/>
              <a:t>1</a:t>
            </a:r>
            <a:r>
              <a:rPr lang="en-US" altLang="ko-KR" sz="1100" dirty="0"/>
              <a:t>) </a:t>
            </a:r>
            <a:r>
              <a:rPr lang="ko-KR" altLang="en-US" sz="1100" dirty="0"/>
              <a:t>한글이 깨지지 않도록 </a:t>
            </a:r>
            <a:r>
              <a:rPr lang="en-US" altLang="ko-KR" sz="1100" dirty="0"/>
              <a:t>utf-8</a:t>
            </a:r>
            <a:r>
              <a:rPr lang="ko-KR" altLang="en-US" sz="1100" dirty="0"/>
              <a:t>로 </a:t>
            </a:r>
            <a:r>
              <a:rPr lang="ko-KR" altLang="en-US" sz="1100" dirty="0" err="1"/>
              <a:t>인코딩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response.setCharacterencoding</a:t>
            </a:r>
            <a:r>
              <a:rPr lang="en-US" altLang="ko-KR" sz="1100" dirty="0"/>
              <a:t>("utf-8");)</a:t>
            </a:r>
          </a:p>
          <a:p>
            <a:endParaRPr lang="en-US" altLang="ko-KR" sz="1100" dirty="0"/>
          </a:p>
          <a:p>
            <a:r>
              <a:rPr lang="en-US" altLang="ko-KR" sz="1100" dirty="0"/>
              <a:t>2) </a:t>
            </a:r>
            <a:r>
              <a:rPr lang="en-US" altLang="ko-KR" sz="1100" dirty="0" err="1"/>
              <a:t>JSONArray</a:t>
            </a:r>
            <a:r>
              <a:rPr lang="ko-KR" altLang="en-US" sz="1100" dirty="0"/>
              <a:t>의 주소가 아닌 </a:t>
            </a:r>
            <a:r>
              <a:rPr lang="en-US" altLang="ko-KR" sz="1100" dirty="0" err="1"/>
              <a:t>json</a:t>
            </a:r>
            <a:r>
              <a:rPr lang="en-US" altLang="ko-KR" sz="1100" dirty="0"/>
              <a:t> </a:t>
            </a:r>
            <a:r>
              <a:rPr lang="ko-KR" altLang="en-US" sz="1100" dirty="0"/>
              <a:t>상태로 응답해야 하므로 </a:t>
            </a:r>
            <a:r>
              <a:rPr lang="ko-KR" altLang="en-US" sz="1100" dirty="0" smtClean="0"/>
              <a:t>변환 </a:t>
            </a:r>
            <a:r>
              <a:rPr lang="ko-KR" altLang="en-US" sz="1100" dirty="0" err="1" smtClean="0"/>
              <a:t>작업필요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(</a:t>
            </a:r>
            <a:r>
              <a:rPr lang="en-US" altLang="ko-KR" sz="1100" dirty="0" err="1"/>
              <a:t>jarray.toJSONString</a:t>
            </a:r>
            <a:r>
              <a:rPr lang="en-US" altLang="ko-KR" sz="1100" dirty="0"/>
              <a:t>();)</a:t>
            </a:r>
          </a:p>
          <a:p>
            <a:endParaRPr lang="en-US" altLang="ko-KR" sz="1100" dirty="0"/>
          </a:p>
          <a:p>
            <a:r>
              <a:rPr lang="en-US" altLang="ko-KR" sz="1100" dirty="0"/>
              <a:t>3) </a:t>
            </a:r>
            <a:r>
              <a:rPr lang="en-US" altLang="ko-KR" sz="1100" dirty="0" smtClean="0"/>
              <a:t>response</a:t>
            </a:r>
            <a:r>
              <a:rPr lang="ko-KR" altLang="en-US" sz="1100" dirty="0" smtClean="0"/>
              <a:t>로 출력해줘야 함</a:t>
            </a:r>
            <a:r>
              <a:rPr lang="en-US" altLang="ko-KR" sz="1100" dirty="0" smtClean="0"/>
              <a:t>.(</a:t>
            </a:r>
            <a:r>
              <a:rPr lang="en-US" altLang="ko-KR" sz="1100" dirty="0" err="1"/>
              <a:t>response.getWriter</a:t>
            </a:r>
            <a:r>
              <a:rPr lang="en-US" altLang="ko-KR" sz="1100" dirty="0"/>
              <a:t>().</a:t>
            </a:r>
            <a:r>
              <a:rPr lang="en-US" altLang="ko-KR" sz="1100" dirty="0" smtClean="0"/>
              <a:t>print(</a:t>
            </a:r>
            <a:r>
              <a:rPr lang="ko-KR" altLang="en-US" sz="1100" dirty="0" smtClean="0"/>
              <a:t>내용</a:t>
            </a:r>
            <a:r>
              <a:rPr lang="en-US" altLang="ko-KR" sz="1100" dirty="0" smtClean="0"/>
              <a:t>);)</a:t>
            </a:r>
            <a:endParaRPr lang="ko-KR" altLang="en-US" sz="1100" dirty="0"/>
          </a:p>
        </p:txBody>
      </p:sp>
      <p:sp>
        <p:nvSpPr>
          <p:cNvPr id="8" name="직사각형 7"/>
          <p:cNvSpPr/>
          <p:nvPr/>
        </p:nvSpPr>
        <p:spPr>
          <a:xfrm>
            <a:off x="8124824" y="6582975"/>
            <a:ext cx="24383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/>
              <a:t>https://dev2som.tistory.com/126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27863" y="1180968"/>
            <a:ext cx="11151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Servlet</a:t>
            </a:r>
            <a:r>
              <a:rPr lang="ko-KR" altLang="en-US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ajax</a:t>
            </a:r>
            <a:r>
              <a:rPr lang="ko-KR" altLang="en-US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</a:t>
            </a:r>
            <a:r>
              <a:rPr lang="en-US" altLang="ko-KR" b="1" dirty="0" err="1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json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data </a:t>
            </a:r>
            <a:r>
              <a:rPr lang="ko-KR" altLang="en-US" b="1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받기 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en-US" altLang="ko-KR" b="1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4"/>
              </a:rPr>
              <a:t>https://</a:t>
            </a:r>
            <a:r>
              <a:rPr lang="en-US" altLang="ko-KR" b="1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4"/>
              </a:rPr>
              <a:t>code.google.com/archive/p/json-simple/downloads</a:t>
            </a:r>
            <a:r>
              <a:rPr lang="en-US" altLang="ko-KR" b="1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jar</a:t>
            </a:r>
            <a:r>
              <a:rPr lang="ko-KR" altLang="en-US" b="1" dirty="0" smtClean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파일 설치</a:t>
            </a:r>
            <a:endParaRPr lang="ko-KR" altLang="en-US" b="0" i="0" dirty="0">
              <a:solidFill>
                <a:srgbClr val="000000"/>
              </a:solidFill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605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* </a:t>
            </a:r>
            <a:r>
              <a:rPr lang="ko-KR" altLang="en-US" sz="1600" b="1" dirty="0">
                <a:latin typeface="+mn-ea"/>
              </a:rPr>
              <a:t>참조 </a:t>
            </a:r>
            <a:r>
              <a:rPr lang="en-US" altLang="ko-KR" sz="1600" b="1" dirty="0">
                <a:latin typeface="+mn-ea"/>
              </a:rPr>
              <a:t>: ajax </a:t>
            </a:r>
            <a:r>
              <a:rPr lang="ko-KR" altLang="en-US" sz="1600" b="1" dirty="0">
                <a:latin typeface="+mn-ea"/>
              </a:rPr>
              <a:t>전송 및 회원정보 </a:t>
            </a:r>
            <a:r>
              <a:rPr lang="en-US" altLang="ko-KR" sz="1600" b="1" dirty="0">
                <a:latin typeface="+mn-ea"/>
              </a:rPr>
              <a:t>JSON </a:t>
            </a:r>
            <a:r>
              <a:rPr lang="ko-KR" altLang="en-US" sz="1600" b="1" dirty="0">
                <a:latin typeface="+mn-ea"/>
              </a:rPr>
              <a:t>변환</a:t>
            </a:r>
            <a:endParaRPr lang="ko-KR" altLang="en-US" sz="16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66192B57-47A2-46E7-8731-5D0D2D01513C}"/>
              </a:ext>
            </a:extLst>
          </p:cNvPr>
          <p:cNvSpPr/>
          <p:nvPr/>
        </p:nvSpPr>
        <p:spPr>
          <a:xfrm>
            <a:off x="689094" y="1422444"/>
            <a:ext cx="81456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혼합</a:t>
            </a:r>
            <a:r>
              <a:rPr lang="en-US" altLang="ko-KR" b="1" dirty="0"/>
              <a:t> </a:t>
            </a:r>
            <a:r>
              <a:rPr lang="ko-KR" altLang="en-US" b="1" dirty="0"/>
              <a:t>객체 </a:t>
            </a:r>
            <a:r>
              <a:rPr lang="en-US" altLang="ko-KR" b="1" dirty="0"/>
              <a:t>-&gt; </a:t>
            </a:r>
            <a:r>
              <a:rPr lang="en-US" altLang="ko-KR" b="1" dirty="0" err="1"/>
              <a:t>Json</a:t>
            </a:r>
            <a:r>
              <a:rPr lang="ko-KR" altLang="en-US" b="1" dirty="0"/>
              <a:t>형식의 </a:t>
            </a:r>
            <a:r>
              <a:rPr lang="en-US" altLang="ko-KR" b="1" dirty="0"/>
              <a:t>text</a:t>
            </a:r>
            <a:r>
              <a:rPr lang="ko-KR" altLang="en-US" b="1" dirty="0"/>
              <a:t>변환</a:t>
            </a:r>
            <a:endParaRPr lang="en-US" altLang="ko-KR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6192B57-47A2-46E7-8731-5D0D2D01513C}"/>
              </a:ext>
            </a:extLst>
          </p:cNvPr>
          <p:cNvSpPr/>
          <p:nvPr/>
        </p:nvSpPr>
        <p:spPr>
          <a:xfrm>
            <a:off x="540639" y="1873197"/>
            <a:ext cx="105568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데이터 형태 </a:t>
            </a:r>
            <a:r>
              <a:rPr lang="en-US" altLang="ko-KR" sz="1200" dirty="0"/>
              <a:t>: [{"isMarried":false,"address":null,"name":"kim","age":19},{"isMarried":true,"address":"seoul","name":"lee","age":22}]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83920" y="2231617"/>
            <a:ext cx="4411288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맑은 고딕" panose="020B0503020000020004" pitchFamily="50" charset="-127"/>
              </a:rPr>
              <a:t>   </a:t>
            </a:r>
          </a:p>
          <a:p>
            <a:r>
              <a:rPr lang="en-US" altLang="ko-KR" sz="1100" dirty="0">
                <a:latin typeface="맑은 고딕" panose="020B0503020000020004" pitchFamily="50" charset="-127"/>
              </a:rPr>
              <a:t>          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 obj1 =</a:t>
            </a:r>
            <a:r>
              <a:rPr lang="ko-KR" altLang="en-US" sz="1200" dirty="0"/>
              <a:t> </a:t>
            </a:r>
            <a:r>
              <a:rPr lang="en-US" altLang="ko-KR" sz="1200" dirty="0"/>
              <a:t>new</a:t>
            </a:r>
            <a:r>
              <a:rPr lang="ko-KR" altLang="en-US" sz="1200" dirty="0"/>
              <a:t>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           obj1.put("name", "</a:t>
            </a:r>
            <a:r>
              <a:rPr lang="en-US" altLang="ko-KR" sz="1200" dirty="0" err="1"/>
              <a:t>kim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           obj1.put("age", 19L);</a:t>
            </a:r>
          </a:p>
          <a:p>
            <a:r>
              <a:rPr lang="en-US" altLang="ko-KR" sz="1200" dirty="0"/>
              <a:t>           obj1.put("address", null);</a:t>
            </a:r>
          </a:p>
          <a:p>
            <a:r>
              <a:rPr lang="en-US" altLang="ko-KR" sz="1200" dirty="0"/>
              <a:t>           obj1.put("</a:t>
            </a:r>
            <a:r>
              <a:rPr lang="en-US" altLang="ko-KR" sz="1200" dirty="0" err="1"/>
              <a:t>isMarried</a:t>
            </a:r>
            <a:r>
              <a:rPr lang="en-US" altLang="ko-KR" sz="1200" dirty="0"/>
              <a:t>", false);</a:t>
            </a:r>
          </a:p>
          <a:p>
            <a:r>
              <a:rPr lang="en-US" altLang="ko-KR" sz="1200" dirty="0"/>
              <a:t>           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 obj2 =</a:t>
            </a:r>
            <a:r>
              <a:rPr lang="ko-KR" altLang="en-US" sz="1200" dirty="0"/>
              <a:t> </a:t>
            </a:r>
            <a:r>
              <a:rPr lang="en-US" altLang="ko-KR" sz="1200" dirty="0"/>
              <a:t>new</a:t>
            </a:r>
            <a:r>
              <a:rPr lang="ko-KR" altLang="en-US" sz="1200" dirty="0"/>
              <a:t> </a:t>
            </a:r>
            <a:r>
              <a:rPr lang="en-US" altLang="ko-KR" sz="1200" dirty="0" err="1"/>
              <a:t>JSONObject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           obj2.put("name", "lee");</a:t>
            </a:r>
          </a:p>
          <a:p>
            <a:r>
              <a:rPr lang="en-US" altLang="ko-KR" sz="1200" dirty="0"/>
              <a:t>           obj2.put("age", 22L);</a:t>
            </a:r>
          </a:p>
          <a:p>
            <a:r>
              <a:rPr lang="en-US" altLang="ko-KR" sz="1200" dirty="0"/>
              <a:t>           obj2.put("address", "</a:t>
            </a:r>
            <a:r>
              <a:rPr lang="en-US" altLang="ko-KR" sz="1200" dirty="0" err="1"/>
              <a:t>seoul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           obj2.put("</a:t>
            </a:r>
            <a:r>
              <a:rPr lang="en-US" altLang="ko-KR" sz="1200" dirty="0" err="1"/>
              <a:t>isMarried</a:t>
            </a:r>
            <a:r>
              <a:rPr lang="en-US" altLang="ko-KR" sz="1200" dirty="0"/>
              <a:t>", true);</a:t>
            </a:r>
          </a:p>
          <a:p>
            <a:r>
              <a:rPr lang="en-US" altLang="ko-KR" sz="1200" dirty="0"/>
              <a:t>           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JSONArray</a:t>
            </a:r>
            <a:r>
              <a:rPr lang="en-US" altLang="ko-KR" sz="1200" dirty="0"/>
              <a:t> </a:t>
            </a:r>
            <a:r>
              <a:rPr lang="en-US" altLang="ko-KR" sz="1200" dirty="0" err="1"/>
              <a:t>arr</a:t>
            </a:r>
            <a:r>
              <a:rPr lang="en-US" altLang="ko-KR" sz="1200" dirty="0"/>
              <a:t> =</a:t>
            </a:r>
            <a:r>
              <a:rPr lang="ko-KR" altLang="en-US" sz="1200" dirty="0"/>
              <a:t> </a:t>
            </a:r>
            <a:r>
              <a:rPr lang="en-US" altLang="ko-KR" sz="1200" dirty="0"/>
              <a:t>new</a:t>
            </a:r>
            <a:r>
              <a:rPr lang="ko-KR" altLang="en-US" sz="1200" dirty="0"/>
              <a:t> </a:t>
            </a:r>
            <a:r>
              <a:rPr lang="en-US" altLang="ko-KR" sz="1200" dirty="0" err="1"/>
              <a:t>JSONArray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arr.add</a:t>
            </a:r>
            <a:r>
              <a:rPr lang="en-US" altLang="ko-KR" sz="1200" dirty="0"/>
              <a:t>(obj1);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arr.add</a:t>
            </a:r>
            <a:r>
              <a:rPr lang="en-US" altLang="ko-KR" sz="1200" dirty="0"/>
              <a:t>(obj2);</a:t>
            </a:r>
          </a:p>
          <a:p>
            <a:r>
              <a:rPr lang="en-US" altLang="ko-KR" sz="1200" dirty="0"/>
              <a:t>           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(obj1.toJSONString());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(obj2.toJSONString());</a:t>
            </a:r>
          </a:p>
          <a:p>
            <a:r>
              <a:rPr lang="en-US" altLang="ko-KR" sz="1200" dirty="0"/>
              <a:t>           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</a:t>
            </a:r>
            <a:r>
              <a:rPr lang="en-US" altLang="ko-KR" sz="1200" dirty="0" err="1"/>
              <a:t>arr.toJSONString</a:t>
            </a:r>
            <a:r>
              <a:rPr lang="en-US" altLang="ko-KR" sz="1200" dirty="0"/>
              <a:t>());</a:t>
            </a:r>
          </a:p>
          <a:p>
            <a:r>
              <a:rPr lang="en-US" altLang="ko-KR" sz="1100" dirty="0">
                <a:latin typeface="맑은 고딕" panose="020B0503020000020004" pitchFamily="50" charset="-127"/>
              </a:rPr>
              <a:t>}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295208" y="4982267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b="1" dirty="0" err="1">
                <a:latin typeface="맑은 고딕" panose="020B0503020000020004" pitchFamily="50" charset="-127"/>
              </a:rPr>
              <a:t>출력결과</a:t>
            </a:r>
            <a:r>
              <a:rPr lang="ko-KR" altLang="en-US" sz="1200" b="1" dirty="0"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</a:rPr>
              <a:t>: </a:t>
            </a: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{"isMarried":false,"address":null,"name":"kim","age":19}</a:t>
            </a: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{"isMarried":true,"address":"seoul","name":"lee","age":22}</a:t>
            </a:r>
          </a:p>
          <a:p>
            <a:r>
              <a:rPr lang="en-US" altLang="ko-KR" sz="1200" b="1" dirty="0">
                <a:latin typeface="맑은 고딕" panose="020B0503020000020004" pitchFamily="50" charset="-127"/>
              </a:rPr>
              <a:t>[{"isMarried":false,"address":null,"name":"kim","age":19},{"isMarried":true,"address":"seoul","name":"lee","age":22}]</a:t>
            </a:r>
          </a:p>
        </p:txBody>
      </p:sp>
    </p:spTree>
    <p:extLst>
      <p:ext uri="{BB962C8B-B14F-4D97-AF65-F5344CB8AC3E}">
        <p14:creationId xmlns:p14="http://schemas.microsoft.com/office/powerpoint/2010/main" val="32336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5006</TotalTime>
  <Words>410</Words>
  <Application>Microsoft Office PowerPoint</Application>
  <PresentationFormat>와이드스크린</PresentationFormat>
  <Paragraphs>108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나눔스퀘어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1161</cp:revision>
  <dcterms:created xsi:type="dcterms:W3CDTF">2014-12-01T08:37:15Z</dcterms:created>
  <dcterms:modified xsi:type="dcterms:W3CDTF">2023-11-17T09:08:25Z</dcterms:modified>
</cp:coreProperties>
</file>