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3" r:id="rId2"/>
    <p:sldId id="352" r:id="rId3"/>
    <p:sldId id="414" r:id="rId4"/>
    <p:sldId id="282" r:id="rId5"/>
    <p:sldId id="283" r:id="rId6"/>
    <p:sldId id="284" r:id="rId7"/>
    <p:sldId id="285" r:id="rId8"/>
    <p:sldId id="286" r:id="rId9"/>
    <p:sldId id="290" r:id="rId10"/>
    <p:sldId id="287" r:id="rId11"/>
    <p:sldId id="288" r:id="rId12"/>
    <p:sldId id="301" r:id="rId13"/>
    <p:sldId id="289" r:id="rId14"/>
    <p:sldId id="299" r:id="rId15"/>
    <p:sldId id="294" r:id="rId16"/>
    <p:sldId id="300" r:id="rId17"/>
    <p:sldId id="295" r:id="rId18"/>
    <p:sldId id="296" r:id="rId19"/>
    <p:sldId id="297" r:id="rId20"/>
    <p:sldId id="292" r:id="rId21"/>
    <p:sldId id="293" r:id="rId22"/>
    <p:sldId id="29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24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JSTL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vnrepository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akarta.apache.or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sp/jstl/core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%25@taglib%20prefix=%22fn%22%20uri=%22http://java.sun.com/jsp/jstl/functions%22%20%25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24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. JSTL(JSP standard Tag Library)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130968"/>
            <a:ext cx="1137010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JSTL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설치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: Tomcat 10.1.x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버전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358" y="1627461"/>
            <a:ext cx="10912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Tomcat 10.1.8 </a:t>
            </a:r>
            <a:r>
              <a:rPr lang="ko-KR" altLang="en-US" sz="1600" dirty="0">
                <a:latin typeface="+mn-ea"/>
              </a:rPr>
              <a:t>버전에서는 </a:t>
            </a:r>
            <a:r>
              <a:rPr lang="en-US" altLang="ko-KR" sz="1600" dirty="0">
                <a:latin typeface="+mn-ea"/>
              </a:rPr>
              <a:t>JSP</a:t>
            </a:r>
            <a:r>
              <a:rPr lang="ko-KR" altLang="en-US" sz="1600" dirty="0">
                <a:latin typeface="+mn-ea"/>
              </a:rPr>
              <a:t>나 </a:t>
            </a:r>
            <a:r>
              <a:rPr lang="ko-KR" altLang="en-US" sz="1600" dirty="0" err="1">
                <a:latin typeface="+mn-ea"/>
              </a:rPr>
              <a:t>서블릿을</a:t>
            </a:r>
            <a:r>
              <a:rPr lang="ko-KR" altLang="en-US" sz="1600" dirty="0">
                <a:latin typeface="+mn-ea"/>
              </a:rPr>
              <a:t> 사용하기 위해 이전의 </a:t>
            </a:r>
            <a:r>
              <a:rPr lang="en-US" altLang="ko-KR" sz="1600" dirty="0">
                <a:latin typeface="+mn-ea"/>
              </a:rPr>
              <a:t>javax.* </a:t>
            </a:r>
            <a:r>
              <a:rPr lang="ko-KR" altLang="en-US" sz="1600" dirty="0">
                <a:latin typeface="+mn-ea"/>
              </a:rPr>
              <a:t>패키지 대신에 </a:t>
            </a:r>
            <a:r>
              <a:rPr lang="en-US" altLang="ko-KR" sz="1600" dirty="0">
                <a:latin typeface="+mn-ea"/>
              </a:rPr>
              <a:t>jakarta.* </a:t>
            </a:r>
            <a:r>
              <a:rPr lang="ko-KR" altLang="en-US" sz="1600" dirty="0">
                <a:latin typeface="+mn-ea"/>
              </a:rPr>
              <a:t>패키지를 사용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62C4AA-16D0-47DF-BD67-AD076B8BB8F0}"/>
              </a:ext>
            </a:extLst>
          </p:cNvPr>
          <p:cNvSpPr/>
          <p:nvPr/>
        </p:nvSpPr>
        <p:spPr>
          <a:xfrm>
            <a:off x="1347967" y="2219027"/>
            <a:ext cx="9276281" cy="729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https://mvnrepository.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com/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다운로드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3EDDE4-CE41-43B2-ACCF-BC5FF6DA6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35" y="3894715"/>
            <a:ext cx="3064826" cy="164734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7F1FC0-F4F7-4C6D-BF87-1EC6B6498339}"/>
              </a:ext>
            </a:extLst>
          </p:cNvPr>
          <p:cNvSpPr txBox="1"/>
          <p:nvPr/>
        </p:nvSpPr>
        <p:spPr>
          <a:xfrm>
            <a:off x="268135" y="3429000"/>
            <a:ext cx="407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jakarta.servlet.jsp.jstl-api-3.0.0.jar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6A5C082-47DC-4FD8-805A-15D6C0306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882" y="3909437"/>
            <a:ext cx="3356776" cy="287843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11133F-FA14-4701-982A-B21678A845C4}"/>
              </a:ext>
            </a:extLst>
          </p:cNvPr>
          <p:cNvSpPr txBox="1"/>
          <p:nvPr/>
        </p:nvSpPr>
        <p:spPr>
          <a:xfrm>
            <a:off x="7156908" y="3429000"/>
            <a:ext cx="407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jakarta.servlet.jsp.jstl-3.0.1.jar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120485F-7AD2-413A-9113-1D99BFD84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4314" y="3946465"/>
            <a:ext cx="3632419" cy="219140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40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16359" y="1130968"/>
            <a:ext cx="11370102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JSTL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설치 </a:t>
            </a:r>
            <a:r>
              <a:rPr lang="en-US" altLang="ko-KR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: Tomcat 10.1.x </a:t>
            </a:r>
            <a:r>
              <a:rPr lang="ko-KR" altLang="en-US" dirty="0">
                <a:latin typeface="NanumBarunGothic" panose="020B0603020101020101" pitchFamily="50" charset="-127"/>
                <a:ea typeface="NanumBarunGothic" panose="020B0603020101020101" pitchFamily="50" charset="-127"/>
              </a:rPr>
              <a:t>버전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6534" y="3097577"/>
            <a:ext cx="3612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개별 라이브러리 파일 복사해서 사용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394814-2615-4080-9164-41A11252A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18" y="3556161"/>
            <a:ext cx="3134162" cy="29722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E73EF1-3016-43DE-9E43-D98C7F4E8212}"/>
              </a:ext>
            </a:extLst>
          </p:cNvPr>
          <p:cNvSpPr/>
          <p:nvPr/>
        </p:nvSpPr>
        <p:spPr>
          <a:xfrm>
            <a:off x="3078980" y="5624438"/>
            <a:ext cx="2350900" cy="5536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A3602-4CC8-4E56-92C1-255DFC7E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467" y="3556161"/>
            <a:ext cx="3724795" cy="2191056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accent1"/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3BC496EB-15D5-49B5-BD87-5F2C0700FD0D}"/>
              </a:ext>
            </a:extLst>
          </p:cNvPr>
          <p:cNvSpPr/>
          <p:nvPr/>
        </p:nvSpPr>
        <p:spPr>
          <a:xfrm>
            <a:off x="6800724" y="4891985"/>
            <a:ext cx="2350900" cy="5536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E3425C-E9F8-4582-BD1C-4814E82D5D4B}"/>
              </a:ext>
            </a:extLst>
          </p:cNvPr>
          <p:cNvSpPr/>
          <p:nvPr/>
        </p:nvSpPr>
        <p:spPr>
          <a:xfrm>
            <a:off x="6682613" y="3578845"/>
            <a:ext cx="3487638" cy="4430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ABC2F8-DD80-4E7E-93AA-A4FF613CD908}"/>
              </a:ext>
            </a:extLst>
          </p:cNvPr>
          <p:cNvSpPr txBox="1"/>
          <p:nvPr/>
        </p:nvSpPr>
        <p:spPr>
          <a:xfrm>
            <a:off x="6682613" y="3090446"/>
            <a:ext cx="3724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+mn-ea"/>
              </a:rPr>
              <a:t>톰캣서버에</a:t>
            </a:r>
            <a:r>
              <a:rPr lang="ko-KR" altLang="en-US" sz="1600" dirty="0">
                <a:latin typeface="+mn-ea"/>
              </a:rPr>
              <a:t> 넣어 모든 프로젝트에 사용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3659B3-74EA-4C20-927E-3FD828075A9E}"/>
              </a:ext>
            </a:extLst>
          </p:cNvPr>
          <p:cNvSpPr/>
          <p:nvPr/>
        </p:nvSpPr>
        <p:spPr>
          <a:xfrm>
            <a:off x="1347967" y="1609605"/>
            <a:ext cx="9276281" cy="1186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jakarta.servlet.jsp.jstl-api-3.0.0.jar</a:t>
            </a:r>
          </a:p>
          <a:p>
            <a:pPr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jakarta.servlet.jsp.jstl-3.0.1.jar</a:t>
            </a:r>
          </a:p>
        </p:txBody>
      </p:sp>
    </p:spTree>
    <p:extLst>
      <p:ext uri="{BB962C8B-B14F-4D97-AF65-F5344CB8AC3E}">
        <p14:creationId xmlns:p14="http://schemas.microsoft.com/office/powerpoint/2010/main" val="104351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JSP</a:t>
            </a:r>
            <a:r>
              <a:rPr lang="ko-KR" altLang="en-US" sz="1100" dirty="0"/>
              <a:t>의 경우 </a:t>
            </a:r>
            <a:r>
              <a:rPr lang="en-US" altLang="ko-KR" sz="1100" dirty="0"/>
              <a:t>HTML </a:t>
            </a:r>
            <a:r>
              <a:rPr lang="ko-KR" altLang="en-US" sz="1100" dirty="0"/>
              <a:t>태그와 같이 사용되어 전체적인 코드의 </a:t>
            </a:r>
            <a:r>
              <a:rPr lang="ko-KR" altLang="en-US" sz="1100" dirty="0" err="1"/>
              <a:t>가독성이</a:t>
            </a:r>
            <a:r>
              <a:rPr lang="ko-KR" altLang="en-US" sz="1100" dirty="0"/>
              <a:t> 떨어집니다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ko-KR" altLang="en-US" sz="1100" dirty="0">
                <a:latin typeface="+mn-ea"/>
              </a:rPr>
              <a:t>그래서 이러한 단점을 보완하고자 만들어진 태그 라이브러리가 </a:t>
            </a:r>
            <a:r>
              <a:rPr lang="en-US" altLang="ko-KR" sz="1100" dirty="0">
                <a:latin typeface="+mn-ea"/>
              </a:rPr>
              <a:t>JSTL </a:t>
            </a:r>
            <a:r>
              <a:rPr lang="ko-KR" altLang="en-US" sz="1100" dirty="0">
                <a:latin typeface="+mn-ea"/>
              </a:rPr>
              <a:t>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JSTL</a:t>
            </a:r>
            <a:r>
              <a:rPr lang="ko-KR" altLang="en-US" sz="1100" dirty="0">
                <a:latin typeface="+mn-ea"/>
              </a:rPr>
              <a:t>의 경우 우리가 사용하는 </a:t>
            </a:r>
            <a:r>
              <a:rPr lang="en-US" altLang="ko-KR" sz="1100" dirty="0">
                <a:latin typeface="+mn-ea"/>
              </a:rPr>
              <a:t>Tomcat</a:t>
            </a:r>
            <a:r>
              <a:rPr lang="ko-KR" altLang="en-US" sz="1100" dirty="0">
                <a:latin typeface="+mn-ea"/>
              </a:rPr>
              <a:t>컨테이너에 포함되어 있지 않으므로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별도의 설치를 하고 사용 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963879" y="207746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879" y="181585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JSTL </a:t>
            </a:r>
            <a:r>
              <a:rPr lang="ko-KR" altLang="en-US" sz="1100" dirty="0">
                <a:latin typeface="+mn-ea"/>
              </a:rPr>
              <a:t>설치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18" y="2382577"/>
            <a:ext cx="1607607" cy="42475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2362" y="2130798"/>
            <a:ext cx="3843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  <a:hlinkClick r:id="rId3"/>
              </a:rPr>
              <a:t>http://jakarta.apache.org/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접속 한 후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좌측의 </a:t>
            </a:r>
            <a:r>
              <a:rPr lang="en-US" altLang="ko-KR" sz="1100" dirty="0" err="1">
                <a:latin typeface="+mn-ea"/>
              </a:rPr>
              <a:t>Taglibs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70514" y="6336686"/>
            <a:ext cx="785875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77" y="2435559"/>
            <a:ext cx="4306775" cy="25112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39934" y="2120967"/>
            <a:ext cx="4338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Apache Standard </a:t>
            </a:r>
            <a:r>
              <a:rPr lang="en-US" altLang="ko-KR" sz="1100" dirty="0" err="1">
                <a:latin typeface="+mn-ea"/>
              </a:rPr>
              <a:t>Taglib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070964" y="4531006"/>
            <a:ext cx="1277488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963879" y="1536691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879" y="1275081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JSTL </a:t>
            </a:r>
            <a:r>
              <a:rPr lang="ko-KR" altLang="en-US" sz="1100" dirty="0">
                <a:latin typeface="+mn-ea"/>
              </a:rPr>
              <a:t>설치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9" y="2121540"/>
            <a:ext cx="5331424" cy="1710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879" y="1859929"/>
            <a:ext cx="53314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Standard 1.1 download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607119" y="3380786"/>
            <a:ext cx="1277488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12" y="2121539"/>
            <a:ext cx="2571750" cy="27241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61712" y="1861207"/>
            <a:ext cx="53314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binaries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961943" y="3926503"/>
            <a:ext cx="1277488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5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34" y="2117346"/>
            <a:ext cx="5069505" cy="25268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963879" y="1536691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879" y="1275081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JSTL </a:t>
            </a:r>
            <a:r>
              <a:rPr lang="ko-KR" altLang="en-US" sz="1100" dirty="0">
                <a:latin typeface="+mn-ea"/>
              </a:rPr>
              <a:t>설치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3879" y="1791105"/>
            <a:ext cx="2939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jakarta-taglibs-standard-1.1.2.zip </a:t>
            </a:r>
            <a:r>
              <a:rPr lang="ko-KR" altLang="en-US" sz="1100" dirty="0">
                <a:latin typeface="+mn-ea"/>
              </a:rPr>
              <a:t>클릭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199535" y="3429946"/>
            <a:ext cx="2359742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625" y="2052715"/>
            <a:ext cx="2514600" cy="26574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13625" y="1791105"/>
            <a:ext cx="2939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압축해제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903792" y="2667272"/>
            <a:ext cx="2359742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903792" y="4255181"/>
            <a:ext cx="2359742" cy="273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22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9" y="2270338"/>
            <a:ext cx="4610100" cy="12382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설치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963879" y="1536691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3879" y="1275081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JSTL </a:t>
            </a:r>
            <a:r>
              <a:rPr lang="ko-KR" altLang="en-US" sz="1100" dirty="0">
                <a:latin typeface="+mn-ea"/>
              </a:rPr>
              <a:t>설치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3879" y="1791105"/>
            <a:ext cx="2939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라이브러리 파일 복사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290916" y="2889462"/>
            <a:ext cx="1219200" cy="4633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109" y="2250458"/>
            <a:ext cx="4019550" cy="1704975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8146025" y="3018181"/>
            <a:ext cx="1219200" cy="2461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8146025" y="3415019"/>
            <a:ext cx="1219200" cy="2461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643716" y="2418735"/>
            <a:ext cx="1028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62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7008" y="1107832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JSTL</a:t>
            </a:r>
            <a:r>
              <a:rPr lang="ko-KR" altLang="en-US" sz="1100" dirty="0">
                <a:latin typeface="+mn-ea"/>
              </a:rPr>
              <a:t>에서는 다섯 가지의  라이브러리를 제공 합니다</a:t>
            </a:r>
            <a:r>
              <a:rPr lang="en-US" altLang="ko-KR" sz="1100" dirty="0">
                <a:latin typeface="+mn-ea"/>
              </a:rPr>
              <a:t>. ( Core, XML Processing, I18N formatting, SQL, Functions 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1054"/>
              </p:ext>
            </p:extLst>
          </p:nvPr>
        </p:nvGraphicFramePr>
        <p:xfrm>
          <a:off x="952988" y="1479231"/>
          <a:ext cx="8979577" cy="2009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7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lib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URI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Prefix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Core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>
                          <a:effectLst/>
                        </a:rPr>
                        <a:t>http://java.sun.com/jsp/jstl/core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&lt;c:tag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XML Processing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http://java.sun.com/jsp/jstl/xml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&lt;</a:t>
                      </a:r>
                      <a:r>
                        <a:rPr lang="en-US" sz="1100" u="none" strike="noStrike" dirty="0" err="1">
                          <a:effectLst/>
                        </a:rPr>
                        <a:t>x:tag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I18N formatting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http://java.sun.com/jsp/jstl/fmt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fmt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&lt;fmt:tag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SQL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http://java.sun.com/jsp/jstl/sql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sql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&lt;sql:tag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Functions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http://java.sun.com/jsp/jstl/functions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fn:function</a:t>
                      </a:r>
                      <a:r>
                        <a:rPr lang="en-US" sz="1100" u="none" strike="noStrike" dirty="0">
                          <a:effectLst/>
                        </a:rPr>
                        <a:t>()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BEA9D5-2752-445A-887B-A7A537725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01953"/>
              </p:ext>
            </p:extLst>
          </p:nvPr>
        </p:nvGraphicFramePr>
        <p:xfrm>
          <a:off x="952988" y="4136405"/>
          <a:ext cx="8979577" cy="1975393"/>
        </p:xfrm>
        <a:graphic>
          <a:graphicData uri="http://schemas.openxmlformats.org/drawingml/2006/table">
            <a:tbl>
              <a:tblPr/>
              <a:tblGrid>
                <a:gridCol w="2614599">
                  <a:extLst>
                    <a:ext uri="{9D8B030D-6E8A-4147-A177-3AD203B41FA5}">
                      <a16:colId xmlns:a16="http://schemas.microsoft.com/office/drawing/2014/main" val="2492376429"/>
                    </a:ext>
                  </a:extLst>
                </a:gridCol>
                <a:gridCol w="6364978">
                  <a:extLst>
                    <a:ext uri="{9D8B030D-6E8A-4147-A177-3AD203B41FA5}">
                      <a16:colId xmlns:a16="http://schemas.microsoft.com/office/drawing/2014/main" val="2242396451"/>
                    </a:ext>
                  </a:extLst>
                </a:gridCol>
              </a:tblGrid>
              <a:tr h="372205"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라이브러리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설명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959315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Core    &lt;</a:t>
                      </a:r>
                      <a:r>
                        <a:rPr lang="en-US" sz="1100" u="none" strike="noStrike" dirty="0" err="1">
                          <a:effectLst/>
                        </a:rPr>
                        <a:t>c:tag</a:t>
                      </a:r>
                      <a:r>
                        <a:rPr lang="en-US" sz="1100" u="none" strike="noStrike" dirty="0">
                          <a:effectLst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일반 프로그래밍 언어에서 제공하는 것과 유사한 변수 선언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실행 흐름의 제어 기능을 제공하고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다른 </a:t>
                      </a:r>
                      <a:r>
                        <a:rPr lang="en-US" altLang="ko-KR" sz="1200" dirty="0" err="1">
                          <a:effectLst/>
                        </a:rPr>
                        <a:t>jsp</a:t>
                      </a:r>
                      <a:r>
                        <a:rPr lang="en-US" altLang="ko-KR" sz="1200" dirty="0">
                          <a:effectLst/>
                        </a:rPr>
                        <a:t> </a:t>
                      </a:r>
                      <a:r>
                        <a:rPr lang="ko-KR" altLang="en-US" sz="1200" dirty="0">
                          <a:effectLst/>
                        </a:rPr>
                        <a:t>페이지로 제어를 이동하는 기능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1506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XML Processing    &lt;</a:t>
                      </a:r>
                      <a:r>
                        <a:rPr lang="en-US" sz="1100" u="none" strike="noStrike" dirty="0" err="1">
                          <a:effectLst/>
                        </a:rPr>
                        <a:t>x:tag</a:t>
                      </a:r>
                      <a:r>
                        <a:rPr lang="en-US" sz="1100" u="none" strike="noStrike" dirty="0">
                          <a:effectLst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200" dirty="0">
                          <a:effectLst/>
                        </a:rPr>
                        <a:t>XML </a:t>
                      </a:r>
                      <a:r>
                        <a:rPr lang="ko-KR" altLang="en-US" sz="1200" dirty="0">
                          <a:effectLst/>
                        </a:rPr>
                        <a:t>문서를 </a:t>
                      </a:r>
                      <a:r>
                        <a:rPr lang="ko-KR" altLang="en-US" sz="1200" dirty="0" err="1">
                          <a:effectLst/>
                        </a:rPr>
                        <a:t>처리할때</a:t>
                      </a:r>
                      <a:r>
                        <a:rPr lang="ko-KR" altLang="en-US" sz="1200" dirty="0">
                          <a:effectLst/>
                        </a:rPr>
                        <a:t> 필요한 기능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908647"/>
                  </a:ext>
                </a:extLst>
              </a:tr>
              <a:tr h="300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I18N formatting    &lt;</a:t>
                      </a:r>
                      <a:r>
                        <a:rPr lang="en-US" sz="1100" u="none" strike="noStrike" dirty="0" err="1">
                          <a:effectLst/>
                        </a:rPr>
                        <a:t>fmt:</a:t>
                      </a:r>
                      <a:r>
                        <a:rPr lang="en-US" altLang="ko-KR" sz="1100" u="none" strike="noStrike" dirty="0" err="1">
                          <a:effectLst/>
                        </a:rPr>
                        <a:t>tag</a:t>
                      </a:r>
                      <a:r>
                        <a:rPr lang="en-US" altLang="ko-KR" sz="1100" u="none" strike="noStrike" dirty="0">
                          <a:effectLst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</a:rPr>
                        <a:t>숫자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날짜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시간 포맷하는 기능과 국제화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다국어 지원 기능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61049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SQL   &lt;</a:t>
                      </a:r>
                      <a:r>
                        <a:rPr lang="en-US" sz="1100" u="none" strike="noStrike" dirty="0" err="1">
                          <a:effectLst/>
                        </a:rPr>
                        <a:t>sql:tag</a:t>
                      </a:r>
                      <a:r>
                        <a:rPr lang="en-US" sz="1100" u="none" strike="noStrike" dirty="0">
                          <a:effectLst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effectLst/>
                        </a:rPr>
                        <a:t>데이터베이스의 데이터를 입력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수정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삭제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조회 하는 기능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5921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Functions   -  </a:t>
                      </a:r>
                      <a:r>
                        <a:rPr lang="en-US" sz="1100" u="none" strike="noStrike" dirty="0" err="1">
                          <a:effectLst/>
                        </a:rPr>
                        <a:t>fn:function</a:t>
                      </a:r>
                      <a:r>
                        <a:rPr lang="en-US" sz="1100" u="none" strike="noStrike" dirty="0">
                          <a:effectLst/>
                        </a:rPr>
                        <a:t>()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문자열을 처리하는 함수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25850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9472DEC-5B95-4EF9-B77D-9266FF0E2C79}"/>
              </a:ext>
            </a:extLst>
          </p:cNvPr>
          <p:cNvSpPr txBox="1"/>
          <p:nvPr/>
        </p:nvSpPr>
        <p:spPr>
          <a:xfrm>
            <a:off x="840786" y="3732091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>
                <a:latin typeface="+mn-ea"/>
              </a:rPr>
              <a:t>Jstl</a:t>
            </a:r>
            <a:r>
              <a:rPr lang="ko-KR" altLang="en-US" sz="1100" b="1" dirty="0">
                <a:latin typeface="+mn-ea"/>
              </a:rPr>
              <a:t> 라이브러리 설명</a:t>
            </a:r>
            <a:endParaRPr lang="en-US" altLang="ko-KR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812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40786" y="1562443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0786" y="5110988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Core </a:t>
            </a:r>
            <a:r>
              <a:rPr lang="ko-KR" altLang="en-US" sz="1100" b="1" dirty="0">
                <a:latin typeface="+mn-ea"/>
              </a:rPr>
              <a:t>라이브러리 선언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81454" y="5615658"/>
            <a:ext cx="7634654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&lt;%@ </a:t>
            </a:r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en-US" altLang="ko-KR" dirty="0" err="1"/>
              <a:t>uri</a:t>
            </a:r>
            <a:r>
              <a:rPr lang="en-US" altLang="ko-KR" dirty="0"/>
              <a:t>=</a:t>
            </a:r>
            <a:r>
              <a:rPr lang="en-US" altLang="ko-KR" dirty="0">
                <a:hlinkClick r:id="rId2"/>
              </a:rPr>
              <a:t>http://java.sun.com/jsp/jstl/core</a:t>
            </a:r>
            <a:r>
              <a:rPr lang="en-US" altLang="ko-KR" dirty="0"/>
              <a:t> prefix=“c” %&gt;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40785" y="1562443"/>
            <a:ext cx="101613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Core </a:t>
            </a:r>
            <a:r>
              <a:rPr lang="ko-KR" altLang="en-US" sz="1100" dirty="0">
                <a:latin typeface="+mn-ea"/>
              </a:rPr>
              <a:t>라이브러리는 기본적인 라이브러리로 출력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 err="1">
                <a:latin typeface="+mn-ea"/>
              </a:rPr>
              <a:t>제어문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 err="1">
                <a:latin typeface="+mn-ea"/>
              </a:rPr>
              <a:t>반복문</a:t>
            </a:r>
            <a:r>
              <a:rPr lang="ko-KR" altLang="en-US" sz="1100" dirty="0">
                <a:latin typeface="+mn-ea"/>
              </a:rPr>
              <a:t> 같은 기능이 포함되어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(jsp_24_2_ex1_elex)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4F4ACF-F469-48A7-B083-6B7879BF7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43789"/>
              </p:ext>
            </p:extLst>
          </p:nvPr>
        </p:nvGraphicFramePr>
        <p:xfrm>
          <a:off x="952988" y="2214110"/>
          <a:ext cx="7905784" cy="2402507"/>
        </p:xfrm>
        <a:graphic>
          <a:graphicData uri="http://schemas.openxmlformats.org/drawingml/2006/table">
            <a:tbl>
              <a:tblPr/>
              <a:tblGrid>
                <a:gridCol w="1982264">
                  <a:extLst>
                    <a:ext uri="{9D8B030D-6E8A-4147-A177-3AD203B41FA5}">
                      <a16:colId xmlns:a16="http://schemas.microsoft.com/office/drawing/2014/main" val="2492376429"/>
                    </a:ext>
                  </a:extLst>
                </a:gridCol>
                <a:gridCol w="5923520">
                  <a:extLst>
                    <a:ext uri="{9D8B030D-6E8A-4147-A177-3AD203B41FA5}">
                      <a16:colId xmlns:a16="http://schemas.microsoft.com/office/drawing/2014/main" val="2242396451"/>
                    </a:ext>
                  </a:extLst>
                </a:gridCol>
              </a:tblGrid>
              <a:tr h="372205"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 err="1">
                          <a:effectLst/>
                        </a:rPr>
                        <a:t>태그명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>
                          <a:effectLst/>
                        </a:rPr>
                        <a:t>설명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959315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&lt;c:set&gt;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>
                          <a:effectLst/>
                        </a:rPr>
                        <a:t>변수명에 값을 할당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1506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&lt;c:out&gt;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>
                          <a:effectLst/>
                        </a:rPr>
                        <a:t>값을 출력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908647"/>
                  </a:ext>
                </a:extLst>
              </a:tr>
              <a:tr h="300723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&lt;</a:t>
                      </a:r>
                      <a:r>
                        <a:rPr lang="en-US" sz="1200" dirty="0" err="1">
                          <a:effectLst/>
                        </a:rPr>
                        <a:t>c:if</a:t>
                      </a:r>
                      <a:r>
                        <a:rPr lang="en-US" sz="1200" dirty="0">
                          <a:effectLst/>
                        </a:rPr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>
                          <a:effectLst/>
                        </a:rPr>
                        <a:t>조건식에 해당하는 블럭과 사용될 </a:t>
                      </a:r>
                      <a:r>
                        <a:rPr lang="en-US" altLang="ko-KR" sz="1200">
                          <a:effectLst/>
                        </a:rPr>
                        <a:t>scope</a:t>
                      </a:r>
                      <a:r>
                        <a:rPr lang="ko-KR" altLang="en-US" sz="1200">
                          <a:effectLst/>
                        </a:rPr>
                        <a:t>설정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761049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&lt;c:choose&gt;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>
                          <a:effectLst/>
                        </a:rPr>
                        <a:t>다른 언어의 </a:t>
                      </a:r>
                      <a:r>
                        <a:rPr lang="en-US" altLang="ko-KR" sz="1200">
                          <a:effectLst/>
                        </a:rPr>
                        <a:t>switch</a:t>
                      </a:r>
                      <a:r>
                        <a:rPr lang="ko-KR" altLang="en-US" sz="1200">
                          <a:effectLst/>
                        </a:rPr>
                        <a:t>와 비슷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5921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&lt;c:when&gt;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200">
                          <a:effectLst/>
                        </a:rPr>
                        <a:t>switch</a:t>
                      </a:r>
                      <a:r>
                        <a:rPr lang="ko-KR" altLang="en-US" sz="1200">
                          <a:effectLst/>
                        </a:rPr>
                        <a:t>문의 </a:t>
                      </a:r>
                      <a:r>
                        <a:rPr lang="en-US" altLang="ko-KR" sz="1200">
                          <a:effectLst/>
                        </a:rPr>
                        <a:t>case</a:t>
                      </a:r>
                      <a:r>
                        <a:rPr lang="ko-KR" altLang="en-US" sz="1200">
                          <a:effectLst/>
                        </a:rPr>
                        <a:t>에 해당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258508"/>
                  </a:ext>
                </a:extLst>
              </a:tr>
              <a:tr h="281755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&lt;c:otherwise&gt;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200">
                          <a:effectLst/>
                        </a:rPr>
                        <a:t>switch</a:t>
                      </a:r>
                      <a:r>
                        <a:rPr lang="ko-KR" altLang="en-US" sz="1200">
                          <a:effectLst/>
                        </a:rPr>
                        <a:t>문의 </a:t>
                      </a:r>
                      <a:r>
                        <a:rPr lang="en-US" altLang="ko-KR" sz="1200">
                          <a:effectLst/>
                        </a:rPr>
                        <a:t>default</a:t>
                      </a:r>
                      <a:r>
                        <a:rPr lang="ko-KR" altLang="en-US" sz="1200">
                          <a:effectLst/>
                        </a:rPr>
                        <a:t>에 해당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25126"/>
                  </a:ext>
                </a:extLst>
              </a:tr>
              <a:tr h="320804">
                <a:tc>
                  <a:txBody>
                    <a:bodyPr/>
                    <a:lstStyle/>
                    <a:p>
                      <a:pPr fontAlgn="base"/>
                      <a:r>
                        <a:rPr lang="en-US" sz="1200">
                          <a:effectLst/>
                        </a:rPr>
                        <a:t>&lt;c:forEach&gt;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200" dirty="0" err="1">
                          <a:effectLst/>
                        </a:rPr>
                        <a:t>다른언어의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loop</a:t>
                      </a:r>
                      <a:r>
                        <a:rPr lang="ko-KR" altLang="en-US" sz="1200" dirty="0">
                          <a:effectLst/>
                        </a:rPr>
                        <a:t>문 </a:t>
                      </a:r>
                      <a:r>
                        <a:rPr lang="en-US" altLang="ko-KR" sz="1200" dirty="0">
                          <a:effectLst/>
                        </a:rPr>
                        <a:t>items </a:t>
                      </a:r>
                      <a:r>
                        <a:rPr lang="ko-KR" altLang="en-US" sz="1200" dirty="0">
                          <a:effectLst/>
                        </a:rPr>
                        <a:t>속성에 배열을 할당할 수 있음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95555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72BFE90-F14D-4C05-AD6E-C28495C01FFA}"/>
              </a:ext>
            </a:extLst>
          </p:cNvPr>
          <p:cNvSpPr txBox="1"/>
          <p:nvPr/>
        </p:nvSpPr>
        <p:spPr>
          <a:xfrm>
            <a:off x="840786" y="1247484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Core</a:t>
            </a:r>
            <a:r>
              <a:rPr lang="ko-KR" altLang="en-US" sz="1100" b="1" dirty="0">
                <a:latin typeface="+mn-ea"/>
              </a:rPr>
              <a:t>의 태그들</a:t>
            </a:r>
            <a:endParaRPr lang="en-US" altLang="ko-KR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875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40786" y="164305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0786" y="138144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출력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c:out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63868" y="1740820"/>
            <a:ext cx="8836269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c:out</a:t>
            </a:r>
            <a:r>
              <a:rPr lang="en-US" altLang="ko-KR" dirty="0"/>
              <a:t> value=“</a:t>
            </a:r>
            <a:r>
              <a:rPr lang="ko-KR" altLang="en-US" dirty="0" err="1"/>
              <a:t>출력값</a:t>
            </a:r>
            <a:r>
              <a:rPr lang="en-US" altLang="ko-KR" dirty="0"/>
              <a:t>” default=“</a:t>
            </a:r>
            <a:r>
              <a:rPr lang="ko-KR" altLang="en-US" dirty="0"/>
              <a:t>기본값</a:t>
            </a:r>
            <a:r>
              <a:rPr lang="en-US" altLang="ko-KR" dirty="0"/>
              <a:t>” </a:t>
            </a:r>
            <a:r>
              <a:rPr lang="en-US" altLang="ko-KR" dirty="0" err="1"/>
              <a:t>escapeXml</a:t>
            </a:r>
            <a:r>
              <a:rPr lang="en-US" altLang="ko-KR" dirty="0"/>
              <a:t>=“true or false”&gt;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840786" y="2936338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0786" y="2674728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변수 설정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c:set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63868" y="3051691"/>
            <a:ext cx="8836270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c:set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 err="1"/>
              <a:t>변수명</a:t>
            </a:r>
            <a:r>
              <a:rPr lang="en-US" altLang="ko-KR" dirty="0"/>
              <a:t>” value=“</a:t>
            </a:r>
            <a:r>
              <a:rPr lang="ko-KR" altLang="en-US" dirty="0" err="1"/>
              <a:t>설정값</a:t>
            </a:r>
            <a:r>
              <a:rPr lang="en-US" altLang="ko-KR" dirty="0"/>
              <a:t>” target=“</a:t>
            </a:r>
            <a:r>
              <a:rPr lang="ko-KR" altLang="en-US" dirty="0"/>
              <a:t>객체</a:t>
            </a:r>
            <a:r>
              <a:rPr lang="en-US" altLang="ko-KR" dirty="0"/>
              <a:t>” property=“</a:t>
            </a:r>
            <a:r>
              <a:rPr lang="ko-KR" altLang="en-US" dirty="0"/>
              <a:t>값</a:t>
            </a:r>
            <a:r>
              <a:rPr lang="en-US" altLang="ko-KR" dirty="0"/>
              <a:t>” scope=“</a:t>
            </a:r>
            <a:r>
              <a:rPr lang="ko-KR" altLang="en-US" dirty="0"/>
              <a:t>범위</a:t>
            </a:r>
            <a:r>
              <a:rPr lang="en-US" altLang="ko-KR" dirty="0"/>
              <a:t>”&gt;</a:t>
            </a:r>
            <a:endParaRPr lang="ko-KR" altLang="en-US" dirty="0"/>
          </a:p>
        </p:txBody>
      </p:sp>
      <p:cxnSp>
        <p:nvCxnSpPr>
          <p:cNvPr id="17" name="직선 연결선 16"/>
          <p:cNvCxnSpPr/>
          <p:nvPr/>
        </p:nvCxnSpPr>
        <p:spPr>
          <a:xfrm>
            <a:off x="840785" y="4333310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0785" y="4071700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변수를 제거하는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c:remove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063867" y="4448662"/>
            <a:ext cx="8836270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c:remove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 err="1"/>
              <a:t>변수명</a:t>
            </a:r>
            <a:r>
              <a:rPr lang="en-US" altLang="ko-KR" dirty="0"/>
              <a:t>” scope=“</a:t>
            </a:r>
            <a:r>
              <a:rPr lang="ko-KR" altLang="en-US" dirty="0"/>
              <a:t>범위</a:t>
            </a:r>
            <a:r>
              <a:rPr lang="en-US" altLang="ko-KR" dirty="0"/>
              <a:t>”&gt;</a:t>
            </a:r>
            <a:endParaRPr lang="ko-KR" alt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840785" y="560946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785" y="534785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예외 처리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c:catch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063867" y="5724817"/>
            <a:ext cx="8836270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c:catch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 err="1"/>
              <a:t>변수명</a:t>
            </a:r>
            <a:r>
              <a:rPr lang="en-US" altLang="ko-KR" dirty="0"/>
              <a:t>”&gt;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680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40786" y="164305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0786" y="138144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제어문</a:t>
            </a:r>
            <a:r>
              <a:rPr lang="en-US" altLang="ko-KR" sz="1100" dirty="0">
                <a:latin typeface="+mn-ea"/>
              </a:rPr>
              <a:t>(if)</a:t>
            </a:r>
            <a:r>
              <a:rPr lang="ko-KR" altLang="en-US" sz="1100" dirty="0">
                <a:latin typeface="+mn-ea"/>
              </a:rPr>
              <a:t>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c:if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63868" y="1740820"/>
            <a:ext cx="8836269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c:if</a:t>
            </a:r>
            <a:r>
              <a:rPr lang="en-US" altLang="ko-KR" dirty="0"/>
              <a:t> test=“</a:t>
            </a:r>
            <a:r>
              <a:rPr lang="ko-KR" altLang="en-US" dirty="0"/>
              <a:t>조건</a:t>
            </a:r>
            <a:r>
              <a:rPr lang="en-US" altLang="ko-KR" dirty="0"/>
              <a:t>”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/>
              <a:t>조건 처리 </a:t>
            </a:r>
            <a:r>
              <a:rPr lang="ko-KR" altLang="en-US" dirty="0" err="1"/>
              <a:t>변수명</a:t>
            </a:r>
            <a:r>
              <a:rPr lang="en-US" altLang="ko-KR" dirty="0"/>
              <a:t>” scope=“</a:t>
            </a:r>
            <a:r>
              <a:rPr lang="ko-KR" altLang="en-US" dirty="0"/>
              <a:t>범위</a:t>
            </a:r>
            <a:r>
              <a:rPr lang="en-US" altLang="ko-KR" dirty="0"/>
              <a:t>”&gt;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840786" y="2936338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0786" y="2674728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제어문</a:t>
            </a:r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err="1">
                <a:latin typeface="+mn-ea"/>
              </a:rPr>
              <a:t>swich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c:choose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63868" y="3051691"/>
            <a:ext cx="8836270" cy="146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c:choose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c:when</a:t>
            </a:r>
            <a:r>
              <a:rPr lang="en-US" altLang="ko-KR" dirty="0"/>
              <a:t> test=“</a:t>
            </a:r>
            <a:r>
              <a:rPr lang="ko-KR" altLang="en-US" dirty="0"/>
              <a:t>조건</a:t>
            </a:r>
            <a:r>
              <a:rPr lang="en-US" altLang="ko-KR" dirty="0"/>
              <a:t>”&gt; </a:t>
            </a:r>
            <a:r>
              <a:rPr lang="ko-KR" altLang="en-US" dirty="0"/>
              <a:t>처리 내용 </a:t>
            </a:r>
            <a:r>
              <a:rPr lang="en-US" altLang="ko-KR" dirty="0"/>
              <a:t>&lt;/</a:t>
            </a:r>
            <a:r>
              <a:rPr lang="en-US" altLang="ko-KR" dirty="0" err="1"/>
              <a:t>c:when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c:otherwise</a:t>
            </a:r>
            <a:r>
              <a:rPr lang="en-US" altLang="ko-KR" dirty="0"/>
              <a:t>&gt; </a:t>
            </a:r>
            <a:r>
              <a:rPr lang="ko-KR" altLang="en-US" dirty="0"/>
              <a:t>처리 내용 </a:t>
            </a:r>
            <a:r>
              <a:rPr lang="en-US" altLang="ko-KR" dirty="0"/>
              <a:t>&lt;/</a:t>
            </a:r>
            <a:r>
              <a:rPr lang="en-US" altLang="ko-KR" dirty="0" err="1"/>
              <a:t>c:otherwise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c:choose</a:t>
            </a:r>
            <a:r>
              <a:rPr lang="en-US" altLang="ko-KR" dirty="0"/>
              <a:t>&gt;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840785" y="5139043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785" y="4877433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반복문</a:t>
            </a:r>
            <a:r>
              <a:rPr lang="en-US" altLang="ko-KR" sz="1100" dirty="0">
                <a:latin typeface="+mn-ea"/>
              </a:rPr>
              <a:t>(for)</a:t>
            </a:r>
            <a:r>
              <a:rPr lang="ko-KR" altLang="en-US" sz="1100" dirty="0">
                <a:latin typeface="+mn-ea"/>
              </a:rPr>
              <a:t>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c:forEach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063867" y="5254396"/>
            <a:ext cx="8836270" cy="772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items=“</a:t>
            </a:r>
            <a:r>
              <a:rPr lang="ko-KR" altLang="en-US" dirty="0" err="1"/>
              <a:t>객체명</a:t>
            </a:r>
            <a:r>
              <a:rPr lang="en-US" altLang="ko-KR" dirty="0"/>
              <a:t>” begin=“</a:t>
            </a:r>
            <a:r>
              <a:rPr lang="ko-KR" altLang="en-US" dirty="0"/>
              <a:t>시작 인덱스</a:t>
            </a:r>
            <a:r>
              <a:rPr lang="en-US" altLang="ko-KR" dirty="0"/>
              <a:t>” end=“</a:t>
            </a:r>
            <a:r>
              <a:rPr lang="ko-KR" altLang="en-US" dirty="0"/>
              <a:t>끝 인덱스</a:t>
            </a:r>
            <a:r>
              <a:rPr lang="en-US" altLang="ko-KR" dirty="0"/>
              <a:t>” step=“</a:t>
            </a:r>
            <a:r>
              <a:rPr lang="ko-KR" altLang="en-US" dirty="0" err="1"/>
              <a:t>증감식</a:t>
            </a:r>
            <a:r>
              <a:rPr lang="en-US" altLang="ko-KR" dirty="0"/>
              <a:t>”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 err="1"/>
              <a:t>변수명</a:t>
            </a:r>
            <a:r>
              <a:rPr lang="en-US" altLang="ko-KR" dirty="0"/>
              <a:t>” </a:t>
            </a:r>
            <a:r>
              <a:rPr lang="en-US" altLang="ko-KR" dirty="0" err="1"/>
              <a:t>varStatus</a:t>
            </a:r>
            <a:r>
              <a:rPr lang="en-US" altLang="ko-KR" dirty="0"/>
              <a:t>=“</a:t>
            </a:r>
            <a:r>
              <a:rPr lang="ko-KR" altLang="en-US" dirty="0"/>
              <a:t>상태변수</a:t>
            </a:r>
            <a:r>
              <a:rPr lang="en-US" altLang="ko-KR" dirty="0"/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400855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실습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1637906"/>
            <a:ext cx="9707597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&lt;h1&gt;</a:t>
            </a:r>
            <a:r>
              <a:rPr lang="en-US" altLang="ko-KR" dirty="0" err="1"/>
              <a:t>jstl</a:t>
            </a:r>
            <a:r>
              <a:rPr lang="en-US" altLang="ko-KR" dirty="0"/>
              <a:t> if</a:t>
            </a:r>
            <a:r>
              <a:rPr lang="ko-KR" altLang="en-US" dirty="0"/>
              <a:t>문 사용</a:t>
            </a:r>
            <a:r>
              <a:rPr lang="en-US" altLang="ko-KR" dirty="0"/>
              <a:t>&lt;/h1&gt;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c:if</a:t>
            </a:r>
            <a:r>
              <a:rPr lang="en-US" altLang="ko-KR" dirty="0"/>
              <a:t> test="${param.id=='</a:t>
            </a:r>
            <a:r>
              <a:rPr lang="en-US" altLang="ko-KR" dirty="0" err="1"/>
              <a:t>aaa</a:t>
            </a:r>
            <a:r>
              <a:rPr lang="en-US" altLang="ko-KR" dirty="0"/>
              <a:t>'}"&gt;</a:t>
            </a:r>
          </a:p>
          <a:p>
            <a:r>
              <a:rPr lang="en-US" altLang="ko-KR" dirty="0"/>
              <a:t>  &lt;h2&gt;</a:t>
            </a:r>
            <a:r>
              <a:rPr lang="en-US" altLang="ko-KR" dirty="0" err="1"/>
              <a:t>aaa</a:t>
            </a:r>
            <a:r>
              <a:rPr lang="ko-KR" altLang="en-US" dirty="0"/>
              <a:t>님 환영합니다</a:t>
            </a:r>
            <a:r>
              <a:rPr lang="en-US" altLang="ko-KR" dirty="0"/>
              <a:t>.&lt;/h2&gt;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c:if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c:if</a:t>
            </a:r>
            <a:r>
              <a:rPr lang="en-US" altLang="ko-KR" dirty="0"/>
              <a:t> test="${param.id!='</a:t>
            </a:r>
            <a:r>
              <a:rPr lang="en-US" altLang="ko-KR" dirty="0" err="1"/>
              <a:t>aaa</a:t>
            </a:r>
            <a:r>
              <a:rPr lang="en-US" altLang="ko-KR" dirty="0"/>
              <a:t>'}"&gt;</a:t>
            </a:r>
          </a:p>
          <a:p>
            <a:r>
              <a:rPr lang="en-US" altLang="ko-KR" dirty="0"/>
              <a:t>  &lt;h2&gt;${param.id}</a:t>
            </a:r>
            <a:r>
              <a:rPr lang="ko-KR" altLang="en-US" dirty="0"/>
              <a:t>님 환영합니다</a:t>
            </a:r>
            <a:r>
              <a:rPr lang="en-US" altLang="ko-KR" dirty="0"/>
              <a:t>.&lt;/h2&gt;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c:if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4256201"/>
            <a:ext cx="9707597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&lt;h1&gt;</a:t>
            </a:r>
            <a:r>
              <a:rPr lang="en-US" altLang="ko-KR" dirty="0" err="1"/>
              <a:t>switch:choose</a:t>
            </a:r>
            <a:r>
              <a:rPr lang="en-US" altLang="ko-KR" dirty="0"/>
              <a:t>&lt;/h1&gt;</a:t>
            </a:r>
          </a:p>
          <a:p>
            <a:r>
              <a:rPr lang="en-US" altLang="ko-KR" dirty="0"/>
              <a:t>	   &lt;</a:t>
            </a:r>
            <a:r>
              <a:rPr lang="en-US" altLang="ko-KR" dirty="0" err="1"/>
              <a:t>c:choose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     &lt;</a:t>
            </a:r>
            <a:r>
              <a:rPr lang="en-US" altLang="ko-KR" dirty="0" err="1"/>
              <a:t>c:when</a:t>
            </a:r>
            <a:r>
              <a:rPr lang="en-US" altLang="ko-KR" dirty="0"/>
              <a:t> test="${param.id=='</a:t>
            </a:r>
            <a:r>
              <a:rPr lang="en-US" altLang="ko-KR" dirty="0" err="1"/>
              <a:t>aaa</a:t>
            </a:r>
            <a:r>
              <a:rPr lang="en-US" altLang="ko-KR" dirty="0"/>
              <a:t>'}"&gt;</a:t>
            </a:r>
          </a:p>
          <a:p>
            <a:r>
              <a:rPr lang="en-US" altLang="ko-KR" dirty="0"/>
              <a:t>	        &lt;h2&gt;</a:t>
            </a:r>
            <a:r>
              <a:rPr lang="en-US" altLang="ko-KR" dirty="0" err="1"/>
              <a:t>aaa</a:t>
            </a:r>
            <a:r>
              <a:rPr lang="ko-KR" altLang="en-US" dirty="0"/>
              <a:t>님 환영합니다</a:t>
            </a:r>
            <a:r>
              <a:rPr lang="en-US" altLang="ko-KR" dirty="0"/>
              <a:t>.&lt;/h2&gt;</a:t>
            </a:r>
          </a:p>
          <a:p>
            <a:r>
              <a:rPr lang="en-US" altLang="ko-KR" dirty="0"/>
              <a:t>	     &lt;/</a:t>
            </a:r>
            <a:r>
              <a:rPr lang="en-US" altLang="ko-KR" dirty="0" err="1"/>
              <a:t>c:when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     &lt;</a:t>
            </a:r>
            <a:r>
              <a:rPr lang="en-US" altLang="ko-KR" dirty="0" err="1"/>
              <a:t>c:otherwise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        &lt;h2&gt;${param.id}</a:t>
            </a:r>
            <a:r>
              <a:rPr lang="ko-KR" altLang="en-US" dirty="0"/>
              <a:t>님 환영합니다</a:t>
            </a:r>
            <a:r>
              <a:rPr lang="en-US" altLang="ko-KR" dirty="0"/>
              <a:t>.&lt;/h2&gt;</a:t>
            </a:r>
          </a:p>
          <a:p>
            <a:r>
              <a:rPr lang="en-US" altLang="ko-KR" dirty="0"/>
              <a:t>	     &lt;/</a:t>
            </a:r>
            <a:r>
              <a:rPr lang="en-US" altLang="ko-KR" dirty="0" err="1"/>
              <a:t>c:otherwise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   &lt;/</a:t>
            </a:r>
            <a:r>
              <a:rPr lang="en-US" altLang="ko-KR" dirty="0" err="1"/>
              <a:t>c:choose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0785" y="1169843"/>
            <a:ext cx="148951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Jstl</a:t>
            </a:r>
            <a:r>
              <a:rPr lang="en-US" altLang="ko-KR" dirty="0"/>
              <a:t> if</a:t>
            </a:r>
            <a:r>
              <a:rPr lang="ko-KR" altLang="en-US" dirty="0"/>
              <a:t>문 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85" y="3767962"/>
            <a:ext cx="173637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Choose</a:t>
            </a:r>
            <a:r>
              <a:rPr lang="ko-KR" altLang="en-US" dirty="0"/>
              <a:t>문 사용</a:t>
            </a:r>
          </a:p>
        </p:txBody>
      </p:sp>
    </p:spTree>
    <p:extLst>
      <p:ext uri="{BB962C8B-B14F-4D97-AF65-F5344CB8AC3E}">
        <p14:creationId xmlns:p14="http://schemas.microsoft.com/office/powerpoint/2010/main" val="3947244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840786" y="164305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0786" y="138144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페이지 이동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c:redirect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63868" y="1740820"/>
            <a:ext cx="8836269" cy="516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c:redirect</a:t>
            </a:r>
            <a:r>
              <a:rPr lang="en-US" altLang="ko-KR" dirty="0"/>
              <a:t> </a:t>
            </a:r>
            <a:r>
              <a:rPr lang="en-US" altLang="ko-KR" dirty="0" err="1"/>
              <a:t>url</a:t>
            </a:r>
            <a:r>
              <a:rPr lang="en-US" altLang="ko-KR" dirty="0"/>
              <a:t>=“</a:t>
            </a:r>
            <a:r>
              <a:rPr lang="en-US" altLang="ko-KR" dirty="0" err="1"/>
              <a:t>url</a:t>
            </a:r>
            <a:r>
              <a:rPr lang="en-US" altLang="ko-KR" dirty="0"/>
              <a:t>”&gt;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840786" y="2936338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0786" y="2674728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파라미터</a:t>
            </a:r>
            <a:r>
              <a:rPr lang="ko-KR" altLang="en-US" sz="1100" dirty="0">
                <a:latin typeface="+mn-ea"/>
              </a:rPr>
              <a:t> 전달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c:param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63868" y="3051692"/>
            <a:ext cx="8836270" cy="608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c:param</a:t>
            </a:r>
            <a:r>
              <a:rPr lang="en-US" altLang="ko-KR" dirty="0"/>
              <a:t> name=“</a:t>
            </a:r>
            <a:r>
              <a:rPr lang="ko-KR" altLang="en-US" dirty="0" err="1"/>
              <a:t>파라미터명</a:t>
            </a:r>
            <a:r>
              <a:rPr lang="en-US" altLang="ko-KR" dirty="0"/>
              <a:t>” value=“</a:t>
            </a:r>
            <a:r>
              <a:rPr lang="ko-KR" altLang="en-US" dirty="0"/>
              <a:t>값</a:t>
            </a:r>
            <a:r>
              <a:rPr lang="en-US" altLang="ko-KR" dirty="0"/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1280359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실습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1821719"/>
            <a:ext cx="9707597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&lt;label&gt;</a:t>
            </a:r>
            <a:r>
              <a:rPr lang="ko-KR" altLang="en-US" dirty="0"/>
              <a:t>취미</a:t>
            </a:r>
            <a:r>
              <a:rPr lang="en-US" altLang="ko-KR" dirty="0"/>
              <a:t>&lt;/label&gt;</a:t>
            </a:r>
          </a:p>
          <a:p>
            <a:r>
              <a:rPr lang="en-US" altLang="ko-KR" dirty="0"/>
              <a:t>&lt;input type="checkbox" name="hobby" id="game" value="game" &gt;</a:t>
            </a:r>
          </a:p>
          <a:p>
            <a:r>
              <a:rPr lang="en-US" altLang="ko-KR" dirty="0"/>
              <a:t>&lt;label for="game"&gt;</a:t>
            </a:r>
            <a:r>
              <a:rPr lang="ko-KR" altLang="en-US" dirty="0"/>
              <a:t>게임</a:t>
            </a:r>
            <a:r>
              <a:rPr lang="en-US" altLang="ko-KR" dirty="0"/>
              <a:t>&lt;/label&gt;</a:t>
            </a:r>
          </a:p>
          <a:p>
            <a:r>
              <a:rPr lang="en-US" altLang="ko-KR" dirty="0"/>
              <a:t>&lt;input type="checkbox" name="hobby" id="golf" value="golf" &gt;</a:t>
            </a:r>
          </a:p>
          <a:p>
            <a:r>
              <a:rPr lang="en-US" altLang="ko-KR" dirty="0"/>
              <a:t>&lt;label for="golf"&gt;</a:t>
            </a:r>
            <a:r>
              <a:rPr lang="ko-KR" altLang="en-US" dirty="0"/>
              <a:t>골프</a:t>
            </a:r>
            <a:r>
              <a:rPr lang="en-US" altLang="ko-KR" dirty="0"/>
              <a:t>&lt;/label&gt;</a:t>
            </a:r>
          </a:p>
          <a:p>
            <a:r>
              <a:rPr lang="en-US" altLang="ko-KR" dirty="0"/>
              <a:t>&lt;input type="checkbox" name="hobby" id="run" value="run" &gt;</a:t>
            </a:r>
          </a:p>
          <a:p>
            <a:r>
              <a:rPr lang="en-US" altLang="ko-KR" dirty="0"/>
              <a:t>&lt;label for="run"&gt;</a:t>
            </a:r>
            <a:r>
              <a:rPr lang="ko-KR" altLang="en-US" dirty="0"/>
              <a:t>조깅</a:t>
            </a:r>
            <a:r>
              <a:rPr lang="en-US" altLang="ko-KR" dirty="0"/>
              <a:t>&lt;/label&gt;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4870503"/>
            <a:ext cx="9707597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&lt;h2&gt;</a:t>
            </a:r>
            <a:r>
              <a:rPr lang="ko-KR" altLang="en-US" dirty="0"/>
              <a:t>배열 취미 </a:t>
            </a:r>
            <a:r>
              <a:rPr lang="en-US" altLang="ko-KR" dirty="0"/>
              <a:t>: ${</a:t>
            </a:r>
            <a:r>
              <a:rPr lang="en-US" altLang="ko-KR" dirty="0" err="1"/>
              <a:t>paramValues.hobby</a:t>
            </a:r>
            <a:r>
              <a:rPr lang="en-US" altLang="ko-KR" dirty="0"/>
              <a:t> }&lt;/h2&gt;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="hobby" items="${</a:t>
            </a:r>
            <a:r>
              <a:rPr lang="en-US" altLang="ko-KR" dirty="0" err="1"/>
              <a:t>paramValues.hobby</a:t>
            </a:r>
            <a:r>
              <a:rPr lang="en-US" altLang="ko-KR" dirty="0"/>
              <a:t>}"&gt;</a:t>
            </a:r>
          </a:p>
          <a:p>
            <a:r>
              <a:rPr lang="en-US" altLang="ko-KR" dirty="0"/>
              <a:t>      &lt;span&gt;${hobby}&lt;/span&gt;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0785" y="1353656"/>
            <a:ext cx="124700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Form.html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40785" y="4382264"/>
            <a:ext cx="11555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Result.jsp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626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840785" y="154855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785" y="128694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반복문</a:t>
            </a:r>
            <a:r>
              <a:rPr lang="en-US" altLang="ko-KR" sz="1100" dirty="0">
                <a:latin typeface="+mn-ea"/>
              </a:rPr>
              <a:t>(for)</a:t>
            </a:r>
            <a:r>
              <a:rPr lang="ko-KR" altLang="en-US" sz="1100" dirty="0">
                <a:latin typeface="+mn-ea"/>
              </a:rPr>
              <a:t>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c:forEach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063867" y="1663908"/>
            <a:ext cx="8836270" cy="772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items=“</a:t>
            </a:r>
            <a:r>
              <a:rPr lang="ko-KR" altLang="en-US" dirty="0" err="1"/>
              <a:t>객체명</a:t>
            </a:r>
            <a:r>
              <a:rPr lang="en-US" altLang="ko-KR" dirty="0"/>
              <a:t>” begin=“</a:t>
            </a:r>
            <a:r>
              <a:rPr lang="ko-KR" altLang="en-US" dirty="0"/>
              <a:t>시작 인덱스</a:t>
            </a:r>
            <a:r>
              <a:rPr lang="en-US" altLang="ko-KR" dirty="0"/>
              <a:t>” end=“</a:t>
            </a:r>
            <a:r>
              <a:rPr lang="ko-KR" altLang="en-US" dirty="0"/>
              <a:t>끝 인덱스</a:t>
            </a:r>
            <a:r>
              <a:rPr lang="en-US" altLang="ko-KR" dirty="0"/>
              <a:t>” step=“</a:t>
            </a:r>
            <a:r>
              <a:rPr lang="ko-KR" altLang="en-US" dirty="0" err="1"/>
              <a:t>증감식</a:t>
            </a:r>
            <a:r>
              <a:rPr lang="en-US" altLang="ko-KR" dirty="0"/>
              <a:t>” </a:t>
            </a:r>
            <a:r>
              <a:rPr lang="en-US" altLang="ko-KR" dirty="0" err="1"/>
              <a:t>var</a:t>
            </a:r>
            <a:r>
              <a:rPr lang="en-US" altLang="ko-KR" dirty="0"/>
              <a:t>=“</a:t>
            </a:r>
            <a:r>
              <a:rPr lang="ko-KR" altLang="en-US" dirty="0" err="1"/>
              <a:t>변수명</a:t>
            </a:r>
            <a:r>
              <a:rPr lang="en-US" altLang="ko-KR" dirty="0"/>
              <a:t>” </a:t>
            </a:r>
            <a:r>
              <a:rPr lang="en-US" altLang="ko-KR" dirty="0" err="1"/>
              <a:t>varStatus</a:t>
            </a:r>
            <a:r>
              <a:rPr lang="en-US" altLang="ko-KR" dirty="0"/>
              <a:t>=“</a:t>
            </a:r>
            <a:r>
              <a:rPr lang="ko-KR" altLang="en-US" dirty="0"/>
              <a:t>상태변수</a:t>
            </a:r>
            <a:r>
              <a:rPr lang="en-US" altLang="ko-KR" dirty="0"/>
              <a:t>”&gt;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1063866" y="2707355"/>
            <a:ext cx="97075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&lt;</a:t>
            </a:r>
            <a:r>
              <a:rPr lang="ko-KR" altLang="en-US" dirty="0" err="1"/>
              <a:t>c:forEach</a:t>
            </a:r>
            <a:r>
              <a:rPr lang="ko-KR" altLang="en-US" dirty="0"/>
              <a:t> </a:t>
            </a:r>
            <a:r>
              <a:rPr lang="ko-KR" altLang="en-US" dirty="0" err="1"/>
              <a:t>var</a:t>
            </a:r>
            <a:r>
              <a:rPr lang="ko-KR" altLang="en-US" dirty="0"/>
              <a:t>=“</a:t>
            </a:r>
            <a:r>
              <a:rPr lang="en-US" altLang="ko-KR" dirty="0" err="1"/>
              <a:t>dto</a:t>
            </a:r>
            <a:r>
              <a:rPr lang="ko-KR" altLang="en-US" dirty="0"/>
              <a:t>" </a:t>
            </a:r>
            <a:r>
              <a:rPr lang="ko-KR" altLang="en-US" dirty="0" err="1"/>
              <a:t>items</a:t>
            </a:r>
            <a:r>
              <a:rPr lang="ko-KR" altLang="en-US" dirty="0"/>
              <a:t>="${</a:t>
            </a:r>
            <a:r>
              <a:rPr lang="ko-KR" altLang="en-US" dirty="0" err="1"/>
              <a:t>list</a:t>
            </a:r>
            <a:r>
              <a:rPr lang="ko-KR" altLang="en-US" dirty="0"/>
              <a:t>}" </a:t>
            </a:r>
            <a:r>
              <a:rPr lang="ko-KR" altLang="en-US" dirty="0" err="1"/>
              <a:t>varStatus</a:t>
            </a:r>
            <a:r>
              <a:rPr lang="ko-KR" altLang="en-US" dirty="0"/>
              <a:t>="</a:t>
            </a:r>
            <a:r>
              <a:rPr lang="ko-KR" altLang="en-US" dirty="0" err="1"/>
              <a:t>vs</a:t>
            </a:r>
            <a:r>
              <a:rPr lang="ko-KR" altLang="en-US" dirty="0"/>
              <a:t>" </a:t>
            </a:r>
            <a:r>
              <a:rPr lang="ko-KR" altLang="en-US" dirty="0" err="1"/>
              <a:t>begin</a:t>
            </a:r>
            <a:r>
              <a:rPr lang="ko-KR" altLang="en-US" dirty="0"/>
              <a:t>=0 </a:t>
            </a:r>
            <a:r>
              <a:rPr lang="ko-KR" altLang="en-US" dirty="0" err="1"/>
              <a:t>end</a:t>
            </a:r>
            <a:r>
              <a:rPr lang="ko-KR" altLang="en-US" dirty="0"/>
              <a:t>=5 </a:t>
            </a:r>
            <a:r>
              <a:rPr lang="ko-KR" altLang="en-US" dirty="0" err="1"/>
              <a:t>step</a:t>
            </a:r>
            <a:r>
              <a:rPr lang="ko-KR" altLang="en-US" dirty="0"/>
              <a:t>=1&gt;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c:out</a:t>
            </a:r>
            <a:r>
              <a:rPr lang="ko-KR" altLang="en-US" dirty="0"/>
              <a:t> </a:t>
            </a:r>
            <a:r>
              <a:rPr lang="ko-KR" altLang="en-US" dirty="0" err="1"/>
              <a:t>value</a:t>
            </a:r>
            <a:r>
              <a:rPr lang="ko-KR" altLang="en-US" dirty="0"/>
              <a:t>="${</a:t>
            </a:r>
            <a:r>
              <a:rPr lang="en-US" altLang="ko-KR" dirty="0" err="1"/>
              <a:t>dto</a:t>
            </a:r>
            <a:r>
              <a:rPr lang="ko-KR" altLang="en-US" dirty="0"/>
              <a:t>.</a:t>
            </a:r>
            <a:r>
              <a:rPr lang="ko-KR" altLang="en-US" dirty="0" err="1"/>
              <a:t>id</a:t>
            </a:r>
            <a:r>
              <a:rPr lang="ko-KR" altLang="en-US" dirty="0"/>
              <a:t>}"/&gt;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c:out</a:t>
            </a:r>
            <a:r>
              <a:rPr lang="ko-KR" altLang="en-US" dirty="0"/>
              <a:t> </a:t>
            </a:r>
            <a:r>
              <a:rPr lang="ko-KR" altLang="en-US" dirty="0" err="1"/>
              <a:t>value</a:t>
            </a:r>
            <a:r>
              <a:rPr lang="ko-KR" altLang="en-US" dirty="0"/>
              <a:t>="${</a:t>
            </a:r>
            <a:r>
              <a:rPr lang="en-US" altLang="ko-KR" dirty="0" err="1"/>
              <a:t>dto</a:t>
            </a:r>
            <a:r>
              <a:rPr lang="ko-KR" altLang="en-US" dirty="0"/>
              <a:t>.</a:t>
            </a:r>
            <a:r>
              <a:rPr lang="ko-KR" altLang="en-US" dirty="0" err="1"/>
              <a:t>name</a:t>
            </a:r>
            <a:r>
              <a:rPr lang="ko-KR" altLang="en-US" dirty="0"/>
              <a:t>}"/&gt;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c:out</a:t>
            </a:r>
            <a:r>
              <a:rPr lang="ko-KR" altLang="en-US" dirty="0"/>
              <a:t> </a:t>
            </a:r>
            <a:r>
              <a:rPr lang="ko-KR" altLang="en-US" dirty="0" err="1"/>
              <a:t>value</a:t>
            </a:r>
            <a:r>
              <a:rPr lang="ko-KR" altLang="en-US" dirty="0"/>
              <a:t>="${</a:t>
            </a:r>
            <a:r>
              <a:rPr lang="en-US" altLang="ko-KR" dirty="0" err="1"/>
              <a:t>dto</a:t>
            </a:r>
            <a:r>
              <a:rPr lang="ko-KR" altLang="en-US" dirty="0"/>
              <a:t>.</a:t>
            </a:r>
            <a:r>
              <a:rPr lang="ko-KR" altLang="en-US" dirty="0" err="1"/>
              <a:t>age</a:t>
            </a:r>
            <a:r>
              <a:rPr lang="ko-KR" altLang="en-US" dirty="0"/>
              <a:t>}"/&gt;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c:out</a:t>
            </a:r>
            <a:r>
              <a:rPr lang="ko-KR" altLang="en-US" dirty="0"/>
              <a:t> </a:t>
            </a:r>
            <a:r>
              <a:rPr lang="ko-KR" altLang="en-US" dirty="0" err="1"/>
              <a:t>value</a:t>
            </a:r>
            <a:r>
              <a:rPr lang="ko-KR" altLang="en-US" dirty="0"/>
              <a:t>="${</a:t>
            </a:r>
            <a:r>
              <a:rPr lang="ko-KR" altLang="en-US" dirty="0" err="1"/>
              <a:t>vs.index</a:t>
            </a:r>
            <a:r>
              <a:rPr lang="ko-KR" altLang="en-US" dirty="0"/>
              <a:t>}"/&gt;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c:forEach</a:t>
            </a:r>
            <a:r>
              <a:rPr lang="ko-KR" altLang="en-US" dirty="0"/>
              <a:t>&gt;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E1EB20-237C-4729-8492-5C02D22EA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8891"/>
              </p:ext>
            </p:extLst>
          </p:nvPr>
        </p:nvGraphicFramePr>
        <p:xfrm>
          <a:off x="1217454" y="4782612"/>
          <a:ext cx="9218452" cy="822960"/>
        </p:xfrm>
        <a:graphic>
          <a:graphicData uri="http://schemas.openxmlformats.org/drawingml/2006/table">
            <a:tbl>
              <a:tblPr/>
              <a:tblGrid>
                <a:gridCol w="1534632">
                  <a:extLst>
                    <a:ext uri="{9D8B030D-6E8A-4147-A177-3AD203B41FA5}">
                      <a16:colId xmlns:a16="http://schemas.microsoft.com/office/drawing/2014/main" val="4167340738"/>
                    </a:ext>
                  </a:extLst>
                </a:gridCol>
                <a:gridCol w="2152749">
                  <a:extLst>
                    <a:ext uri="{9D8B030D-6E8A-4147-A177-3AD203B41FA5}">
                      <a16:colId xmlns:a16="http://schemas.microsoft.com/office/drawing/2014/main" val="1056246821"/>
                    </a:ext>
                  </a:extLst>
                </a:gridCol>
                <a:gridCol w="1289518">
                  <a:extLst>
                    <a:ext uri="{9D8B030D-6E8A-4147-A177-3AD203B41FA5}">
                      <a16:colId xmlns:a16="http://schemas.microsoft.com/office/drawing/2014/main" val="868698980"/>
                    </a:ext>
                  </a:extLst>
                </a:gridCol>
                <a:gridCol w="1406746">
                  <a:extLst>
                    <a:ext uri="{9D8B030D-6E8A-4147-A177-3AD203B41FA5}">
                      <a16:colId xmlns:a16="http://schemas.microsoft.com/office/drawing/2014/main" val="592203905"/>
                    </a:ext>
                  </a:extLst>
                </a:gridCol>
                <a:gridCol w="1300175">
                  <a:extLst>
                    <a:ext uri="{9D8B030D-6E8A-4147-A177-3AD203B41FA5}">
                      <a16:colId xmlns:a16="http://schemas.microsoft.com/office/drawing/2014/main" val="3022055998"/>
                    </a:ext>
                  </a:extLst>
                </a:gridCol>
                <a:gridCol w="1534632">
                  <a:extLst>
                    <a:ext uri="{9D8B030D-6E8A-4147-A177-3AD203B41FA5}">
                      <a16:colId xmlns:a16="http://schemas.microsoft.com/office/drawing/2014/main" val="61430212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var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items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varStatus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begin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end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step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6746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effectLst/>
                        </a:rPr>
                        <a:t> 사용할 변수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Collection</a:t>
                      </a:r>
                      <a:r>
                        <a:rPr lang="ko-KR" altLang="en-US" sz="1800" dirty="0">
                          <a:effectLst/>
                        </a:rPr>
                        <a:t>객체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(</a:t>
                      </a:r>
                      <a:r>
                        <a:rPr lang="en-US" sz="1800" dirty="0">
                          <a:effectLst/>
                        </a:rPr>
                        <a:t>List, </a:t>
                      </a:r>
                      <a:r>
                        <a:rPr lang="en-US" sz="1800" dirty="0" err="1">
                          <a:effectLst/>
                        </a:rPr>
                        <a:t>ArrayList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effectLst/>
                        </a:rPr>
                        <a:t> 반복 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ctr"/>
                      <a:r>
                        <a:rPr lang="en-US" sz="1800" dirty="0">
                          <a:effectLst/>
                        </a:rPr>
                        <a:t>index </a:t>
                      </a:r>
                      <a:r>
                        <a:rPr lang="ko-KR" altLang="en-US" sz="1800" dirty="0">
                          <a:effectLst/>
                        </a:rPr>
                        <a:t>변수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effectLst/>
                        </a:rPr>
                        <a:t>시작 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ctr"/>
                      <a:r>
                        <a:rPr lang="en-US" sz="1800" dirty="0">
                          <a:effectLst/>
                        </a:rPr>
                        <a:t>index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effectLst/>
                        </a:rPr>
                        <a:t>종료 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ctr"/>
                      <a:r>
                        <a:rPr lang="en-US" sz="1800" dirty="0">
                          <a:effectLst/>
                        </a:rPr>
                        <a:t>index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 err="1">
                          <a:effectLst/>
                        </a:rPr>
                        <a:t>반복시</a:t>
                      </a:r>
                      <a:r>
                        <a:rPr lang="ko-KR" altLang="en-US" sz="1800" dirty="0">
                          <a:effectLst/>
                        </a:rPr>
                        <a:t> 이동 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ctr"/>
                      <a:r>
                        <a:rPr lang="en-US" sz="1800" dirty="0">
                          <a:effectLst/>
                        </a:rPr>
                        <a:t>index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155187"/>
                  </a:ext>
                </a:extLst>
              </a:tr>
            </a:tbl>
          </a:graphicData>
        </a:graphic>
      </p:graphicFrame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CDBB3DE1-1171-49CE-ACDF-823EAB3B41E9}"/>
              </a:ext>
            </a:extLst>
          </p:cNvPr>
          <p:cNvSpPr/>
          <p:nvPr/>
        </p:nvSpPr>
        <p:spPr>
          <a:xfrm rot="5400000">
            <a:off x="2886863" y="4084226"/>
            <a:ext cx="250619" cy="358943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082607BE-C600-45D2-8630-0248903F3DA6}"/>
              </a:ext>
            </a:extLst>
          </p:cNvPr>
          <p:cNvSpPr/>
          <p:nvPr/>
        </p:nvSpPr>
        <p:spPr>
          <a:xfrm rot="5400000">
            <a:off x="7531378" y="3099729"/>
            <a:ext cx="250619" cy="555843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BABCE-A6A5-46DB-B1A9-2EF717694A37}"/>
              </a:ext>
            </a:extLst>
          </p:cNvPr>
          <p:cNvSpPr txBox="1"/>
          <p:nvPr/>
        </p:nvSpPr>
        <p:spPr>
          <a:xfrm>
            <a:off x="2689006" y="61989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필수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0AA1F-CD9C-4EEB-B207-C9951574260C}"/>
              </a:ext>
            </a:extLst>
          </p:cNvPr>
          <p:cNvSpPr txBox="1"/>
          <p:nvPr/>
        </p:nvSpPr>
        <p:spPr>
          <a:xfrm>
            <a:off x="7333521" y="61989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244928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실습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1821719"/>
            <a:ext cx="9707597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&lt;%</a:t>
            </a:r>
          </a:p>
          <a:p>
            <a:r>
              <a:rPr lang="en-US" altLang="ko-KR" dirty="0"/>
              <a:t>	for(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en-US" altLang="ko-KR" dirty="0"/>
              <a:t>=1;i&lt;=10;i++){</a:t>
            </a:r>
          </a:p>
          <a:p>
            <a:r>
              <a:rPr lang="en-US" altLang="ko-KR" dirty="0"/>
              <a:t>	  </a:t>
            </a:r>
            <a:r>
              <a:rPr lang="en-US" altLang="ko-KR" dirty="0" err="1"/>
              <a:t>out.println</a:t>
            </a:r>
            <a:r>
              <a:rPr lang="en-US" altLang="ko-KR" dirty="0"/>
              <a:t>("&lt;h2&gt;"+</a:t>
            </a:r>
            <a:r>
              <a:rPr lang="en-US" altLang="ko-KR" dirty="0" err="1"/>
              <a:t>i</a:t>
            </a:r>
            <a:r>
              <a:rPr lang="en-US" altLang="ko-KR" dirty="0"/>
              <a:t>+"&lt;/h2&gt;");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%&gt;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5" y="1353656"/>
            <a:ext cx="11555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Result.jsp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3397778"/>
            <a:ext cx="9707597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="</a:t>
            </a:r>
            <a:r>
              <a:rPr lang="en-US" altLang="ko-KR" dirty="0" err="1"/>
              <a:t>i</a:t>
            </a:r>
            <a:r>
              <a:rPr lang="en-US" altLang="ko-KR" dirty="0"/>
              <a:t>" begin="1" end="10" step="1"&gt;</a:t>
            </a:r>
          </a:p>
          <a:p>
            <a:r>
              <a:rPr lang="en-US" altLang="ko-KR" dirty="0"/>
              <a:t>     &lt;h2&gt;${</a:t>
            </a:r>
            <a:r>
              <a:rPr lang="en-US" altLang="ko-KR" dirty="0" err="1"/>
              <a:t>i</a:t>
            </a:r>
            <a:r>
              <a:rPr lang="en-US" altLang="ko-KR" dirty="0"/>
              <a:t>}&lt;/h2&gt;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840785" y="1548555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785" y="1286945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반복문</a:t>
            </a:r>
            <a:r>
              <a:rPr lang="en-US" altLang="ko-KR" sz="1100" dirty="0">
                <a:latin typeface="+mn-ea"/>
              </a:rPr>
              <a:t>(for)</a:t>
            </a:r>
            <a:r>
              <a:rPr lang="ko-KR" altLang="en-US" sz="1100" dirty="0">
                <a:latin typeface="+mn-ea"/>
              </a:rPr>
              <a:t> 태그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c:forEach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FD5B5-B4E6-424F-94C2-AB4DC53CD38B}"/>
              </a:ext>
            </a:extLst>
          </p:cNvPr>
          <p:cNvSpPr/>
          <p:nvPr/>
        </p:nvSpPr>
        <p:spPr>
          <a:xfrm>
            <a:off x="840785" y="4294030"/>
            <a:ext cx="97075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${</a:t>
            </a:r>
            <a:r>
              <a:rPr lang="en-US" altLang="ko-KR" dirty="0" err="1"/>
              <a:t>vs.current</a:t>
            </a:r>
            <a:r>
              <a:rPr lang="en-US" altLang="ko-KR" dirty="0"/>
              <a:t>} : </a:t>
            </a:r>
            <a:r>
              <a:rPr lang="ko-KR" altLang="en-US" dirty="0"/>
              <a:t>현재 아이템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vs.index</a:t>
            </a:r>
            <a:r>
              <a:rPr lang="en-US" altLang="ko-KR" dirty="0"/>
              <a:t>} : 0</a:t>
            </a:r>
            <a:r>
              <a:rPr lang="ko-KR" altLang="en-US" dirty="0"/>
              <a:t>부터의 순서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vs.count</a:t>
            </a:r>
            <a:r>
              <a:rPr lang="en-US" altLang="ko-KR" dirty="0"/>
              <a:t>} : 1</a:t>
            </a:r>
            <a:r>
              <a:rPr lang="ko-KR" altLang="en-US" dirty="0"/>
              <a:t>부터의 순서 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vs.first</a:t>
            </a:r>
            <a:r>
              <a:rPr lang="en-US" altLang="ko-KR" dirty="0"/>
              <a:t>} : </a:t>
            </a:r>
            <a:r>
              <a:rPr lang="ko-KR" altLang="en-US" dirty="0"/>
              <a:t>현재 루프가 처음인지 반환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vs.last</a:t>
            </a:r>
            <a:r>
              <a:rPr lang="en-US" altLang="ko-KR" dirty="0"/>
              <a:t>} : </a:t>
            </a:r>
            <a:r>
              <a:rPr lang="ko-KR" altLang="en-US" dirty="0"/>
              <a:t>현재 루프가 마지막인지 반환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vs.begin</a:t>
            </a:r>
            <a:r>
              <a:rPr lang="en-US" altLang="ko-KR" dirty="0"/>
              <a:t>} : </a:t>
            </a:r>
            <a:r>
              <a:rPr lang="ko-KR" altLang="en-US" dirty="0" err="1"/>
              <a:t>시작값</a:t>
            </a:r>
            <a:endParaRPr lang="ko-KR" altLang="en-US" dirty="0"/>
          </a:p>
          <a:p>
            <a:r>
              <a:rPr lang="en-US" altLang="ko-KR" dirty="0"/>
              <a:t>${</a:t>
            </a:r>
            <a:r>
              <a:rPr lang="en-US" altLang="ko-KR" dirty="0" err="1"/>
              <a:t>vs.end</a:t>
            </a:r>
            <a:r>
              <a:rPr lang="en-US" altLang="ko-KR" dirty="0"/>
              <a:t>} : </a:t>
            </a:r>
            <a:r>
              <a:rPr lang="ko-KR" altLang="en-US" dirty="0" err="1"/>
              <a:t>끝값</a:t>
            </a:r>
            <a:r>
              <a:rPr lang="ko-KR" altLang="en-US" dirty="0"/>
              <a:t> </a:t>
            </a:r>
          </a:p>
          <a:p>
            <a:r>
              <a:rPr lang="en-US" altLang="ko-KR" dirty="0"/>
              <a:t>${</a:t>
            </a:r>
            <a:r>
              <a:rPr lang="en-US" altLang="ko-KR" dirty="0" err="1"/>
              <a:t>vs.step</a:t>
            </a:r>
            <a:r>
              <a:rPr lang="en-US" altLang="ko-KR" dirty="0"/>
              <a:t>} : </a:t>
            </a:r>
            <a:r>
              <a:rPr lang="ko-KR" altLang="en-US" dirty="0" err="1"/>
              <a:t>증가값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F8F7C7-DE5F-468D-B2B7-5DE5E886E9E8}"/>
              </a:ext>
            </a:extLst>
          </p:cNvPr>
          <p:cNvSpPr/>
          <p:nvPr/>
        </p:nvSpPr>
        <p:spPr>
          <a:xfrm>
            <a:off x="840785" y="1704383"/>
            <a:ext cx="97075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varStatus</a:t>
            </a:r>
            <a:r>
              <a:rPr lang="ko-KR" altLang="en-US" dirty="0"/>
              <a:t>의 경우 변수명을 지정 후 반복문을 실행한다면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현재 </a:t>
            </a:r>
            <a:r>
              <a:rPr lang="en-US" altLang="ko-KR" dirty="0"/>
              <a:t>foreach</a:t>
            </a:r>
            <a:r>
              <a:rPr lang="ko-KR" altLang="en-US" dirty="0"/>
              <a:t>의 상태를 알 수가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7DB8F7C-C342-46B9-ADFF-F327B555A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229306"/>
              </p:ext>
            </p:extLst>
          </p:nvPr>
        </p:nvGraphicFramePr>
        <p:xfrm>
          <a:off x="937120" y="2554421"/>
          <a:ext cx="9876289" cy="1651260"/>
        </p:xfrm>
        <a:graphic>
          <a:graphicData uri="http://schemas.openxmlformats.org/drawingml/2006/table">
            <a:tbl>
              <a:tblPr/>
              <a:tblGrid>
                <a:gridCol w="1428575">
                  <a:extLst>
                    <a:ext uri="{9D8B030D-6E8A-4147-A177-3AD203B41FA5}">
                      <a16:colId xmlns:a16="http://schemas.microsoft.com/office/drawing/2014/main" val="2377573890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1087672109"/>
                    </a:ext>
                  </a:extLst>
                </a:gridCol>
                <a:gridCol w="6501468">
                  <a:extLst>
                    <a:ext uri="{9D8B030D-6E8A-4147-A177-3AD203B41FA5}">
                      <a16:colId xmlns:a16="http://schemas.microsoft.com/office/drawing/2014/main" val="4237750325"/>
                    </a:ext>
                  </a:extLst>
                </a:gridCol>
              </a:tblGrid>
              <a:tr h="4320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값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리턴</a:t>
                      </a:r>
                      <a:endParaRPr lang="ko-KR" alt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설명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01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index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int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items</a:t>
                      </a:r>
                      <a:r>
                        <a:rPr lang="ko-KR" alt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에 정의한 항목을 가리키는 </a:t>
                      </a:r>
                      <a:r>
                        <a:rPr lang="en-US" altLang="ko-KR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index </a:t>
                      </a:r>
                      <a:r>
                        <a:rPr lang="ko-KR" alt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번호이다</a:t>
                      </a:r>
                      <a:r>
                        <a:rPr lang="en-US" altLang="ko-KR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. 0</a:t>
                      </a:r>
                      <a:r>
                        <a:rPr lang="ko-KR" alt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부터 시작한다</a:t>
                      </a:r>
                      <a:endParaRPr lang="ko-KR" alt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5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count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int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현재 몇 번째 반복인지 나타낸다</a:t>
                      </a:r>
                      <a:r>
                        <a:rPr lang="en-US" altLang="ko-KR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. 1</a:t>
                      </a:r>
                      <a:r>
                        <a:rPr lang="ko-KR" altLang="en-US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부터 시작한다</a:t>
                      </a:r>
                      <a:r>
                        <a:rPr lang="en-US" altLang="ko-KR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.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25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first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boolean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현재 반복이 첫번째인지 여부</a:t>
                      </a:r>
                      <a:endParaRPr lang="ko-KR" alt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68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last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boolean</a:t>
                      </a:r>
                      <a:endParaRPr lang="en-US" sz="140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dirty="0">
                          <a:solidFill>
                            <a:srgbClr val="666666"/>
                          </a:solidFill>
                          <a:effectLst/>
                          <a:latin typeface="Noto Serif KR"/>
                        </a:rPr>
                        <a:t>현재 반복이 마지막인지 여부</a:t>
                      </a:r>
                      <a:endParaRPr lang="ko-KR" altLang="en-US" sz="1400" dirty="0">
                        <a:solidFill>
                          <a:srgbClr val="666666"/>
                        </a:solidFill>
                        <a:effectLst/>
                        <a:latin typeface="Spoqa Han San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0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0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861D0C-BF06-45DD-9053-76C01B251B08}"/>
              </a:ext>
            </a:extLst>
          </p:cNvPr>
          <p:cNvSpPr/>
          <p:nvPr/>
        </p:nvSpPr>
        <p:spPr>
          <a:xfrm>
            <a:off x="778601" y="1504375"/>
            <a:ext cx="89358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var=“</a:t>
            </a:r>
            <a:r>
              <a:rPr lang="en-US" altLang="ko-KR" dirty="0" err="1"/>
              <a:t>dto</a:t>
            </a:r>
            <a:r>
              <a:rPr lang="en-US" altLang="ko-KR" dirty="0"/>
              <a:t>" items="${list}" begin=0 end=5 step=1 </a:t>
            </a:r>
            <a:r>
              <a:rPr lang="en-US" altLang="ko-KR" dirty="0" err="1"/>
              <a:t>varStatus</a:t>
            </a:r>
            <a:r>
              <a:rPr lang="en-US" altLang="ko-KR" dirty="0"/>
              <a:t>=“vs"&gt;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번호 </a:t>
            </a:r>
            <a:r>
              <a:rPr lang="en-US" altLang="ko-KR" dirty="0"/>
              <a:t>: ${</a:t>
            </a:r>
            <a:r>
              <a:rPr lang="en-US" altLang="ko-KR" dirty="0" err="1"/>
              <a:t>vs.count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이름 </a:t>
            </a:r>
            <a:r>
              <a:rPr lang="en-US" altLang="ko-KR" dirty="0"/>
              <a:t>: ${dto.name}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나이 </a:t>
            </a:r>
            <a:r>
              <a:rPr lang="en-US" altLang="ko-KR" dirty="0"/>
              <a:t>: ${</a:t>
            </a:r>
            <a:r>
              <a:rPr lang="en-US" altLang="ko-KR" dirty="0" err="1"/>
              <a:t>dto.age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주소 </a:t>
            </a:r>
            <a:r>
              <a:rPr lang="en-US" altLang="ko-KR" dirty="0"/>
              <a:t>: ${</a:t>
            </a:r>
            <a:r>
              <a:rPr lang="en-US" altLang="ko-KR" dirty="0" err="1"/>
              <a:t>dto.addr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B5093-2178-4911-BF66-25FF0A1C2807}"/>
              </a:ext>
            </a:extLst>
          </p:cNvPr>
          <p:cNvSpPr txBox="1"/>
          <p:nvPr/>
        </p:nvSpPr>
        <p:spPr>
          <a:xfrm>
            <a:off x="8321522" y="1857635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부터 시작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2C1D2F2-5CE7-42E0-A358-16D8F3EA6902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204594" y="2042301"/>
            <a:ext cx="5116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D296A2-89EC-4D3E-A042-1F767B65B74C}"/>
              </a:ext>
            </a:extLst>
          </p:cNvPr>
          <p:cNvSpPr/>
          <p:nvPr/>
        </p:nvSpPr>
        <p:spPr>
          <a:xfrm>
            <a:off x="778601" y="3349604"/>
            <a:ext cx="89358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var=“</a:t>
            </a:r>
            <a:r>
              <a:rPr lang="en-US" altLang="ko-KR" dirty="0" err="1"/>
              <a:t>dto</a:t>
            </a:r>
            <a:r>
              <a:rPr lang="en-US" altLang="ko-KR" dirty="0"/>
              <a:t>" items="${list}" &gt;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번호 </a:t>
            </a:r>
            <a:r>
              <a:rPr lang="en-US" altLang="ko-KR" dirty="0"/>
              <a:t>: ${</a:t>
            </a:r>
            <a:r>
              <a:rPr lang="en-US" altLang="ko-KR" dirty="0" err="1"/>
              <a:t>dto.num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이름 </a:t>
            </a:r>
            <a:r>
              <a:rPr lang="en-US" altLang="ko-KR" dirty="0"/>
              <a:t>: ${dto.name}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나이 </a:t>
            </a:r>
            <a:r>
              <a:rPr lang="en-US" altLang="ko-KR" dirty="0"/>
              <a:t>: ${</a:t>
            </a:r>
            <a:r>
              <a:rPr lang="en-US" altLang="ko-KR" dirty="0" err="1"/>
              <a:t>dto.age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    </a:t>
            </a:r>
            <a:r>
              <a:rPr lang="ko-KR" altLang="en-US" dirty="0"/>
              <a:t>주소 </a:t>
            </a:r>
            <a:r>
              <a:rPr lang="en-US" altLang="ko-KR" dirty="0"/>
              <a:t>: ${</a:t>
            </a:r>
            <a:r>
              <a:rPr lang="en-US" altLang="ko-KR" dirty="0" err="1"/>
              <a:t>dto.addr</a:t>
            </a: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65EE6244-7262-43C4-8338-220585C719F5}"/>
              </a:ext>
            </a:extLst>
          </p:cNvPr>
          <p:cNvSpPr/>
          <p:nvPr/>
        </p:nvSpPr>
        <p:spPr>
          <a:xfrm>
            <a:off x="5939406" y="3462847"/>
            <a:ext cx="560923" cy="1495047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717447-1C87-4279-B491-B8B740E398E6}"/>
              </a:ext>
            </a:extLst>
          </p:cNvPr>
          <p:cNvSpPr txBox="1"/>
          <p:nvPr/>
        </p:nvSpPr>
        <p:spPr>
          <a:xfrm>
            <a:off x="6874601" y="404210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일반적인 형태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28DE5A-8B53-4F55-904C-CC4682E78100}"/>
              </a:ext>
            </a:extLst>
          </p:cNvPr>
          <p:cNvSpPr/>
          <p:nvPr/>
        </p:nvSpPr>
        <p:spPr>
          <a:xfrm>
            <a:off x="778601" y="5353625"/>
            <a:ext cx="82898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var="item" items="</a:t>
            </a:r>
            <a:r>
              <a:rPr lang="ko-KR" altLang="en-US" dirty="0"/>
              <a:t>서울</a:t>
            </a:r>
            <a:r>
              <a:rPr lang="en-US" altLang="ko-KR" dirty="0"/>
              <a:t>,</a:t>
            </a:r>
            <a:r>
              <a:rPr lang="ko-KR" altLang="en-US" dirty="0"/>
              <a:t>부산</a:t>
            </a:r>
            <a:r>
              <a:rPr lang="en-US" altLang="ko-KR" dirty="0"/>
              <a:t>,</a:t>
            </a:r>
            <a:r>
              <a:rPr lang="ko-KR" altLang="en-US" dirty="0"/>
              <a:t>경기</a:t>
            </a:r>
            <a:r>
              <a:rPr lang="en-US" altLang="ko-KR" dirty="0"/>
              <a:t>,</a:t>
            </a:r>
            <a:r>
              <a:rPr lang="ko-KR" altLang="en-US" dirty="0"/>
              <a:t>인천</a:t>
            </a:r>
            <a:r>
              <a:rPr lang="en-US" altLang="ko-KR" dirty="0"/>
              <a:t>"&gt;</a:t>
            </a:r>
          </a:p>
          <a:p>
            <a:r>
              <a:rPr lang="ko-KR" altLang="en-US" dirty="0"/>
              <a:t>      지역 </a:t>
            </a:r>
            <a:r>
              <a:rPr lang="en-US" altLang="ko-KR" dirty="0"/>
              <a:t>: ${item }&lt;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9851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861D0C-BF06-45DD-9053-76C01B251B08}"/>
              </a:ext>
            </a:extLst>
          </p:cNvPr>
          <p:cNvSpPr/>
          <p:nvPr/>
        </p:nvSpPr>
        <p:spPr>
          <a:xfrm>
            <a:off x="778601" y="1311429"/>
            <a:ext cx="89358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&lt;%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ArrayList</a:t>
            </a:r>
            <a:r>
              <a:rPr lang="en-US" altLang="ko-KR" dirty="0"/>
              <a:t> list = new </a:t>
            </a:r>
            <a:r>
              <a:rPr lang="en-US" altLang="ko-KR" dirty="0" err="1"/>
              <a:t>ArrayList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  Login lo=null;</a:t>
            </a:r>
          </a:p>
          <a:p>
            <a:r>
              <a:rPr lang="en-US" altLang="ko-KR" dirty="0"/>
              <a:t>  for(int </a:t>
            </a:r>
            <a:r>
              <a:rPr lang="en-US" altLang="ko-KR" dirty="0" err="1"/>
              <a:t>i</a:t>
            </a:r>
            <a:r>
              <a:rPr lang="en-US" altLang="ko-KR" dirty="0"/>
              <a:t>=0;i&lt;5;i++){</a:t>
            </a:r>
          </a:p>
          <a:p>
            <a:r>
              <a:rPr lang="en-US" altLang="ko-KR" dirty="0"/>
              <a:t>	  lo = new Login();</a:t>
            </a:r>
          </a:p>
          <a:p>
            <a:r>
              <a:rPr lang="en-US" altLang="ko-KR" dirty="0"/>
              <a:t>	  </a:t>
            </a:r>
            <a:r>
              <a:rPr lang="en-US" altLang="ko-KR" dirty="0" err="1"/>
              <a:t>lo.setId</a:t>
            </a:r>
            <a:r>
              <a:rPr lang="en-US" altLang="ko-KR" dirty="0"/>
              <a:t>("admin"+</a:t>
            </a:r>
            <a:r>
              <a:rPr lang="en-US" altLang="ko-KR" dirty="0" err="1"/>
              <a:t>i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  </a:t>
            </a:r>
            <a:r>
              <a:rPr lang="en-US" altLang="ko-KR" dirty="0" err="1"/>
              <a:t>lo.setPw</a:t>
            </a:r>
            <a:r>
              <a:rPr lang="en-US" altLang="ko-KR" dirty="0"/>
              <a:t>("</a:t>
            </a:r>
            <a:r>
              <a:rPr lang="en-US" altLang="ko-KR" dirty="0" err="1"/>
              <a:t>abc</a:t>
            </a:r>
            <a:r>
              <a:rPr lang="en-US" altLang="ko-KR" dirty="0"/>
              <a:t>"+</a:t>
            </a:r>
            <a:r>
              <a:rPr lang="en-US" altLang="ko-KR" dirty="0" err="1"/>
              <a:t>i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  </a:t>
            </a:r>
            <a:r>
              <a:rPr lang="en-US" altLang="ko-KR" dirty="0" err="1"/>
              <a:t>list.add</a:t>
            </a:r>
            <a:r>
              <a:rPr lang="en-US" altLang="ko-KR" dirty="0"/>
              <a:t>(lo);</a:t>
            </a:r>
          </a:p>
          <a:p>
            <a:r>
              <a:rPr lang="en-US" altLang="ko-KR" dirty="0"/>
              <a:t>  }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request.setAttribute</a:t>
            </a:r>
            <a:r>
              <a:rPr lang="en-US" altLang="ko-KR" dirty="0"/>
              <a:t>("test", list);</a:t>
            </a:r>
          </a:p>
          <a:p>
            <a:r>
              <a:rPr lang="en-US" altLang="ko-KR" dirty="0"/>
              <a:t>%&gt; 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2DE94C-4D0E-462E-A080-677B9316FE02}"/>
              </a:ext>
            </a:extLst>
          </p:cNvPr>
          <p:cNvSpPr/>
          <p:nvPr/>
        </p:nvSpPr>
        <p:spPr>
          <a:xfrm>
            <a:off x="778601" y="4803385"/>
            <a:ext cx="89358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c:forEach</a:t>
            </a:r>
            <a:r>
              <a:rPr lang="en-US" altLang="ko-KR" dirty="0"/>
              <a:t> var=</a:t>
            </a:r>
            <a:r>
              <a:rPr lang="en-US" altLang="ko-KR" i="1" dirty="0"/>
              <a:t>"</a:t>
            </a:r>
            <a:r>
              <a:rPr lang="en-US" altLang="ko-KR" i="1" dirty="0" err="1"/>
              <a:t>dto</a:t>
            </a:r>
            <a:r>
              <a:rPr lang="en-US" altLang="ko-KR" i="1" dirty="0"/>
              <a:t>" items="${test }"&gt;</a:t>
            </a:r>
          </a:p>
          <a:p>
            <a:r>
              <a:rPr lang="ko-KR" altLang="en-US" dirty="0"/>
              <a:t>    아이디 </a:t>
            </a:r>
            <a:r>
              <a:rPr lang="en-US" altLang="ko-KR" dirty="0"/>
              <a:t>: ${dto.id }&lt;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    패스워드 </a:t>
            </a:r>
            <a:r>
              <a:rPr lang="en-US" altLang="ko-KR" dirty="0"/>
              <a:t>: ${dto.pw }&lt;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c:forEach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4671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FCC542E-A7F7-4150-B3E7-D28A7B1CABBF}"/>
              </a:ext>
            </a:extLst>
          </p:cNvPr>
          <p:cNvCxnSpPr/>
          <p:nvPr/>
        </p:nvCxnSpPr>
        <p:spPr>
          <a:xfrm>
            <a:off x="840786" y="1648217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B2F789-7111-410A-ABC4-174DA5726F4C}"/>
              </a:ext>
            </a:extLst>
          </p:cNvPr>
          <p:cNvSpPr txBox="1"/>
          <p:nvPr/>
        </p:nvSpPr>
        <p:spPr>
          <a:xfrm>
            <a:off x="840786" y="1386607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fmt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91D0EB-83A4-475B-A366-9242DC26C2EA}"/>
              </a:ext>
            </a:extLst>
          </p:cNvPr>
          <p:cNvSpPr/>
          <p:nvPr/>
        </p:nvSpPr>
        <p:spPr>
          <a:xfrm>
            <a:off x="1081454" y="2291295"/>
            <a:ext cx="7273981" cy="2908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&lt;%@</a:t>
            </a:r>
            <a:r>
              <a:rPr lang="en-US" altLang="ko-KR" dirty="0" err="1"/>
              <a:t>taglib</a:t>
            </a:r>
            <a:r>
              <a:rPr lang="en-US" altLang="ko-KR" dirty="0"/>
              <a:t> prefix="</a:t>
            </a:r>
            <a:r>
              <a:rPr lang="en-US" altLang="ko-KR" dirty="0" err="1"/>
              <a:t>fmt</a:t>
            </a:r>
            <a:r>
              <a:rPr lang="en-US" altLang="ko-KR" dirty="0"/>
              <a:t>" </a:t>
            </a:r>
            <a:r>
              <a:rPr lang="en-US" altLang="ko-KR" dirty="0" err="1"/>
              <a:t>uri</a:t>
            </a:r>
            <a:r>
              <a:rPr lang="en-US" altLang="ko-KR" dirty="0"/>
              <a:t>="http://java.sun.com/</a:t>
            </a:r>
            <a:r>
              <a:rPr lang="en-US" altLang="ko-KR" dirty="0" err="1"/>
              <a:t>jsp</a:t>
            </a:r>
            <a:r>
              <a:rPr lang="en-US" altLang="ko-KR" dirty="0"/>
              <a:t>/</a:t>
            </a:r>
            <a:r>
              <a:rPr lang="en-US" altLang="ko-KR" dirty="0" err="1"/>
              <a:t>jstl</a:t>
            </a:r>
            <a:r>
              <a:rPr lang="en-US" altLang="ko-KR" dirty="0"/>
              <a:t>/</a:t>
            </a:r>
            <a:r>
              <a:rPr lang="en-US" altLang="ko-KR" dirty="0" err="1"/>
              <a:t>fmt</a:t>
            </a:r>
            <a:r>
              <a:rPr lang="en-US" altLang="ko-KR" dirty="0"/>
              <a:t>" %&gt;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jsp:useBean</a:t>
            </a:r>
            <a:r>
              <a:rPr lang="en-US" altLang="ko-KR" dirty="0"/>
              <a:t> id="now" class="</a:t>
            </a:r>
            <a:r>
              <a:rPr lang="en-US" altLang="ko-KR" dirty="0" err="1"/>
              <a:t>java.util.Date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value=</a:t>
            </a:r>
            <a:r>
              <a:rPr lang="en-US" altLang="ko-KR" i="1" dirty="0"/>
              <a:t>"${now}" pattern="YYYY/MM/dd" /&gt;t&lt;</a:t>
            </a:r>
            <a:r>
              <a:rPr lang="en-US" altLang="ko-KR" i="1" dirty="0" err="1"/>
              <a:t>br</a:t>
            </a:r>
            <a:r>
              <a:rPr lang="en-US" altLang="ko-KR" i="1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u="sng" dirty="0" err="1"/>
              <a:t>fmt:formatDate</a:t>
            </a:r>
            <a:r>
              <a:rPr lang="en-US" altLang="ko-KR" u="sng" dirty="0"/>
              <a:t> var=</a:t>
            </a:r>
            <a:r>
              <a:rPr lang="en-US" altLang="ko-KR" i="1" u="sng" dirty="0"/>
              <a:t>"year" value="${now}" pattern="YYYY" /&gt;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var=</a:t>
            </a:r>
            <a:r>
              <a:rPr lang="en-US" altLang="ko-KR" i="1" dirty="0"/>
              <a:t>"month" value="${now}" pattern="MM" /&gt;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var=</a:t>
            </a:r>
            <a:r>
              <a:rPr lang="en-US" altLang="ko-KR" i="1" dirty="0"/>
              <a:t>"day" value="${now}" pattern="dd" /&gt;</a:t>
            </a:r>
          </a:p>
          <a:p>
            <a:r>
              <a:rPr lang="en-US" altLang="ko-KR" dirty="0"/>
              <a:t>&lt;p&gt;</a:t>
            </a:r>
            <a:r>
              <a:rPr lang="ko-KR" altLang="en-US" dirty="0"/>
              <a:t>현재 년도</a:t>
            </a:r>
            <a:r>
              <a:rPr lang="en-US" altLang="ko-KR" dirty="0"/>
              <a:t>: ${year}&lt;/p&gt;</a:t>
            </a:r>
          </a:p>
          <a:p>
            <a:r>
              <a:rPr lang="en-US" altLang="ko-KR" dirty="0"/>
              <a:t>&lt;p&gt;</a:t>
            </a:r>
            <a:r>
              <a:rPr lang="ko-KR" altLang="en-US" dirty="0"/>
              <a:t>현재 월</a:t>
            </a:r>
            <a:r>
              <a:rPr lang="en-US" altLang="ko-KR" dirty="0"/>
              <a:t>: ${month}&lt;/p&gt;</a:t>
            </a:r>
          </a:p>
          <a:p>
            <a:r>
              <a:rPr lang="en-US" altLang="ko-KR" dirty="0"/>
              <a:t>&lt;p&gt;</a:t>
            </a:r>
            <a:r>
              <a:rPr lang="ko-KR" altLang="en-US" dirty="0"/>
              <a:t>현재 일</a:t>
            </a:r>
            <a:r>
              <a:rPr lang="en-US" altLang="ko-KR" dirty="0"/>
              <a:t>: ${day}&lt;/p&gt;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B5FE5-68E0-4950-A0D3-F9F8ED6FEBDC}"/>
              </a:ext>
            </a:extLst>
          </p:cNvPr>
          <p:cNvSpPr txBox="1"/>
          <p:nvPr/>
        </p:nvSpPr>
        <p:spPr>
          <a:xfrm>
            <a:off x="840785" y="1658683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날짜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시간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숫자 포맷 출력 등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B9E07-2444-449E-930D-C79C6CE5953A}"/>
              </a:ext>
            </a:extLst>
          </p:cNvPr>
          <p:cNvSpPr txBox="1"/>
          <p:nvPr/>
        </p:nvSpPr>
        <p:spPr>
          <a:xfrm>
            <a:off x="840786" y="1937457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현재 년도 구하기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fmt:formatDate</a:t>
            </a:r>
            <a:r>
              <a:rPr lang="en-US" altLang="ko-KR" sz="1100" dirty="0">
                <a:latin typeface="+mn-ea"/>
              </a:rPr>
              <a:t>&gt;  - EL</a:t>
            </a:r>
            <a:r>
              <a:rPr lang="ko-KR" altLang="en-US" sz="1100" dirty="0">
                <a:latin typeface="+mn-ea"/>
              </a:rPr>
              <a:t>태그 사용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FBA992-DA50-4B60-A33B-AFABF6273D0C}"/>
              </a:ext>
            </a:extLst>
          </p:cNvPr>
          <p:cNvSpPr/>
          <p:nvPr/>
        </p:nvSpPr>
        <p:spPr>
          <a:xfrm>
            <a:off x="1081454" y="5679686"/>
            <a:ext cx="8607830" cy="955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value=</a:t>
            </a:r>
            <a:r>
              <a:rPr lang="en-US" altLang="ko-KR" i="1" dirty="0"/>
              <a:t>"&lt;%= </a:t>
            </a:r>
            <a:r>
              <a:rPr lang="en-US" altLang="ko-KR" b="1" i="1" dirty="0"/>
              <a:t>new Date() %&gt;" type="both" /&gt;&lt;</a:t>
            </a:r>
            <a:r>
              <a:rPr lang="en-US" altLang="ko-KR" b="1" i="1" dirty="0" err="1"/>
              <a:t>br</a:t>
            </a:r>
            <a:r>
              <a:rPr lang="en-US" altLang="ko-KR" b="1" i="1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value=</a:t>
            </a:r>
            <a:r>
              <a:rPr lang="en-US" altLang="ko-KR" i="1" dirty="0"/>
              <a:t>"&lt;%= ne</a:t>
            </a:r>
            <a:r>
              <a:rPr lang="en-US" altLang="ko-KR" b="1" i="1" dirty="0"/>
              <a:t>w Date() %&gt;" type="date" /&gt;&lt;</a:t>
            </a:r>
            <a:r>
              <a:rPr lang="en-US" altLang="ko-KR" b="1" i="1" dirty="0" err="1"/>
              <a:t>br</a:t>
            </a:r>
            <a:r>
              <a:rPr lang="en-US" altLang="ko-KR" b="1" i="1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fmt:formatDate</a:t>
            </a:r>
            <a:r>
              <a:rPr lang="en-US" altLang="ko-KR" dirty="0"/>
              <a:t> value=</a:t>
            </a:r>
            <a:r>
              <a:rPr lang="en-US" altLang="ko-KR" i="1" dirty="0"/>
              <a:t>"&lt;%= ne</a:t>
            </a:r>
            <a:r>
              <a:rPr lang="en-US" altLang="ko-KR" b="1" i="1" dirty="0"/>
              <a:t>w Date() %&gt;" type="time" /&gt;&lt;</a:t>
            </a:r>
            <a:r>
              <a:rPr lang="en-US" altLang="ko-KR" b="1" i="1" dirty="0" err="1"/>
              <a:t>br</a:t>
            </a:r>
            <a:r>
              <a:rPr lang="en-US" altLang="ko-KR" b="1" i="1" dirty="0"/>
              <a:t>&gt;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A1658-EB88-4BD6-A9EE-409E028FF437}"/>
              </a:ext>
            </a:extLst>
          </p:cNvPr>
          <p:cNvSpPr txBox="1"/>
          <p:nvPr/>
        </p:nvSpPr>
        <p:spPr>
          <a:xfrm>
            <a:off x="840786" y="5340588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현재 년도 구하기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fmt:formatDate</a:t>
            </a:r>
            <a:r>
              <a:rPr lang="en-US" altLang="ko-KR" sz="1100" dirty="0">
                <a:latin typeface="+mn-ea"/>
              </a:rPr>
              <a:t>&gt;  -  </a:t>
            </a:r>
            <a:r>
              <a:rPr lang="ko-KR" altLang="en-US" sz="1100" dirty="0">
                <a:latin typeface="+mn-ea"/>
              </a:rPr>
              <a:t>표현식 사용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0720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FCC542E-A7F7-4150-B3E7-D28A7B1CABBF}"/>
              </a:ext>
            </a:extLst>
          </p:cNvPr>
          <p:cNvCxnSpPr/>
          <p:nvPr/>
        </p:nvCxnSpPr>
        <p:spPr>
          <a:xfrm>
            <a:off x="840786" y="3510256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B2F789-7111-410A-ABC4-174DA5726F4C}"/>
              </a:ext>
            </a:extLst>
          </p:cNvPr>
          <p:cNvSpPr txBox="1"/>
          <p:nvPr/>
        </p:nvSpPr>
        <p:spPr>
          <a:xfrm>
            <a:off x="840786" y="3248646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Function </a:t>
            </a:r>
            <a:r>
              <a:rPr lang="ko-KR" altLang="en-US" sz="1100" dirty="0">
                <a:latin typeface="+mn-ea"/>
              </a:rPr>
              <a:t>함수 라이브러리 </a:t>
            </a:r>
            <a:r>
              <a:rPr lang="en-US" altLang="ko-KR" sz="1100" dirty="0">
                <a:latin typeface="+mn-ea"/>
              </a:rPr>
              <a:t>- </a:t>
            </a:r>
            <a:r>
              <a:rPr lang="en-US" altLang="ko-KR" sz="1100" dirty="0" err="1">
                <a:latin typeface="+mn-ea"/>
              </a:rPr>
              <a:t>fn</a:t>
            </a:r>
            <a:r>
              <a:rPr lang="en-US" altLang="ko-KR" sz="1100" dirty="0">
                <a:latin typeface="+mn-ea"/>
              </a:rPr>
              <a:t> :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91D0EB-83A4-475B-A366-9242DC26C2EA}"/>
              </a:ext>
            </a:extLst>
          </p:cNvPr>
          <p:cNvSpPr/>
          <p:nvPr/>
        </p:nvSpPr>
        <p:spPr>
          <a:xfrm>
            <a:off x="1081454" y="2141840"/>
            <a:ext cx="8440051" cy="862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&lt;</a:t>
            </a:r>
            <a:r>
              <a:rPr lang="en-US" altLang="ko-KR" dirty="0" err="1"/>
              <a:t>fmt:formatNumber</a:t>
            </a:r>
            <a:r>
              <a:rPr lang="en-US" altLang="ko-KR" dirty="0"/>
              <a:t> value=</a:t>
            </a:r>
            <a:r>
              <a:rPr lang="en-US" altLang="ko-KR" i="1" dirty="0"/>
              <a:t>"123456789" </a:t>
            </a:r>
            <a:r>
              <a:rPr lang="en-US" altLang="ko-KR" i="1" dirty="0" err="1"/>
              <a:t>groupingUsed</a:t>
            </a:r>
            <a:r>
              <a:rPr lang="en-US" altLang="ko-KR" i="1" dirty="0"/>
              <a:t>="true" /&gt;&lt;</a:t>
            </a:r>
            <a:r>
              <a:rPr lang="en-US" altLang="ko-KR" i="1" dirty="0" err="1"/>
              <a:t>br</a:t>
            </a:r>
            <a:r>
              <a:rPr lang="en-US" altLang="ko-KR" i="1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fmt:formatNumber</a:t>
            </a:r>
            <a:r>
              <a:rPr lang="en-US" altLang="ko-KR" dirty="0"/>
              <a:t> value=</a:t>
            </a:r>
            <a:r>
              <a:rPr lang="en-US" altLang="ko-KR" i="1" dirty="0"/>
              <a:t>"3.141592" pattern="00.###" /&gt;&lt;</a:t>
            </a:r>
            <a:r>
              <a:rPr lang="en-US" altLang="ko-KR" i="1" dirty="0" err="1"/>
              <a:t>br</a:t>
            </a:r>
            <a:r>
              <a:rPr lang="en-US" altLang="ko-KR" i="1" dirty="0"/>
              <a:t>&gt;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B5FE5-68E0-4950-A0D3-F9F8ED6FEBDC}"/>
              </a:ext>
            </a:extLst>
          </p:cNvPr>
          <p:cNvSpPr txBox="1"/>
          <p:nvPr/>
        </p:nvSpPr>
        <p:spPr>
          <a:xfrm>
            <a:off x="840785" y="3520722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+mn-ea"/>
              </a:rPr>
              <a:t>함수 라이브러리를 사용 가능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B9E07-2444-449E-930D-C79C6CE5953A}"/>
              </a:ext>
            </a:extLst>
          </p:cNvPr>
          <p:cNvSpPr txBox="1"/>
          <p:nvPr/>
        </p:nvSpPr>
        <p:spPr>
          <a:xfrm>
            <a:off x="840786" y="1484661"/>
            <a:ext cx="10161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Jsp</a:t>
            </a:r>
            <a:r>
              <a:rPr lang="ko-KR" altLang="en-US" sz="1100" dirty="0">
                <a:latin typeface="+mn-ea"/>
              </a:rPr>
              <a:t>에서 </a:t>
            </a:r>
            <a:r>
              <a:rPr lang="ko-KR" altLang="en-US" sz="1100" dirty="0" err="1">
                <a:latin typeface="+mn-ea"/>
              </a:rPr>
              <a:t>출력포맷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: &lt;</a:t>
            </a:r>
            <a:r>
              <a:rPr lang="en-US" altLang="ko-KR" sz="1100" dirty="0" err="1">
                <a:latin typeface="+mn-ea"/>
              </a:rPr>
              <a:t>fmt</a:t>
            </a:r>
            <a:r>
              <a:rPr lang="en-US" altLang="ko-KR" sz="1100" dirty="0">
                <a:latin typeface="+mn-ea"/>
              </a:rPr>
              <a:t>:</a:t>
            </a:r>
            <a:r>
              <a:rPr lang="en-US" altLang="ko-KR" sz="1100" dirty="0"/>
              <a:t> </a:t>
            </a:r>
            <a:r>
              <a:rPr lang="en-US" altLang="ko-KR" sz="1100" dirty="0" err="1"/>
              <a:t>formatNumber</a:t>
            </a:r>
            <a:r>
              <a:rPr lang="en-US" altLang="ko-KR" sz="1100" dirty="0"/>
              <a:t> </a:t>
            </a:r>
            <a:r>
              <a:rPr lang="en-US" altLang="ko-KR" sz="1100" dirty="0">
                <a:latin typeface="+mn-ea"/>
              </a:rPr>
              <a:t>&gt;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BA13F04-0345-433E-AB0D-36095E88A657}"/>
              </a:ext>
            </a:extLst>
          </p:cNvPr>
          <p:cNvCxnSpPr/>
          <p:nvPr/>
        </p:nvCxnSpPr>
        <p:spPr>
          <a:xfrm>
            <a:off x="840786" y="1854158"/>
            <a:ext cx="10161321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8F1E24-52EA-45FA-A748-5D418637BC84}"/>
              </a:ext>
            </a:extLst>
          </p:cNvPr>
          <p:cNvSpPr/>
          <p:nvPr/>
        </p:nvSpPr>
        <p:spPr>
          <a:xfrm>
            <a:off x="1081454" y="3883512"/>
            <a:ext cx="9161504" cy="26228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&lt;%@taglib prefix="fn" uri="http://java.sun.com/jsp/jstl/functions" %</a:t>
            </a:r>
            <a:r>
              <a:rPr lang="pt-BR" altLang="ko-KR" dirty="0"/>
              <a:t>&gt;</a:t>
            </a:r>
          </a:p>
          <a:p>
            <a:endParaRPr lang="pt-BR" altLang="ko-KR" dirty="0"/>
          </a:p>
          <a:p>
            <a:r>
              <a:rPr lang="en-US" altLang="ko-KR" dirty="0"/>
              <a:t>${</a:t>
            </a:r>
            <a:r>
              <a:rPr lang="en-US" altLang="ko-KR" dirty="0" err="1"/>
              <a:t>fn:toUpperCase</a:t>
            </a:r>
            <a:r>
              <a:rPr lang="en-US" altLang="ko-KR" dirty="0"/>
              <a:t>("Hello")}&lt;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pt-BR" altLang="ko-KR" dirty="0"/>
              <a:t>&lt;%@taglib prefix=</a:t>
            </a:r>
            <a:r>
              <a:rPr lang="pt-BR" altLang="ko-KR" i="1" dirty="0"/>
              <a:t>"c" uri="http://java.sun.com/jsp/jstl/core" %&gt;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c:set</a:t>
            </a:r>
            <a:r>
              <a:rPr lang="en-US" altLang="ko-KR" dirty="0"/>
              <a:t> var="name" value="           </a:t>
            </a:r>
            <a:r>
              <a:rPr lang="ko-KR" altLang="en-US" dirty="0"/>
              <a:t>홍길동 </a:t>
            </a:r>
            <a:r>
              <a:rPr lang="en-US" altLang="ko-KR" dirty="0"/>
              <a:t>" /&gt;</a:t>
            </a:r>
            <a:br>
              <a:rPr lang="ko-KR" altLang="en-US" dirty="0"/>
            </a:br>
            <a:r>
              <a:rPr lang="ko-KR" altLang="en-US" dirty="0"/>
              <a:t>제 이름은 </a:t>
            </a:r>
            <a:r>
              <a:rPr lang="en-US" altLang="ko-KR" dirty="0"/>
              <a:t>${</a:t>
            </a:r>
            <a:r>
              <a:rPr lang="en-US" altLang="ko-KR" dirty="0" err="1"/>
              <a:t>fn:trim</a:t>
            </a:r>
            <a:r>
              <a:rPr lang="en-US" altLang="ko-KR" dirty="0"/>
              <a:t>(name)}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이름에 동이 포함되어 있을까</a:t>
            </a:r>
            <a:r>
              <a:rPr lang="en-US" altLang="ko-KR" dirty="0"/>
              <a:t>? </a:t>
            </a:r>
            <a:r>
              <a:rPr lang="ko-KR" altLang="en-US" dirty="0"/>
              <a:t>정답은 </a:t>
            </a:r>
            <a:r>
              <a:rPr lang="en-US" altLang="ko-KR" dirty="0"/>
              <a:t>${</a:t>
            </a:r>
            <a:r>
              <a:rPr lang="en-US" altLang="ko-KR" dirty="0" err="1"/>
              <a:t>fn:contains</a:t>
            </a:r>
            <a:r>
              <a:rPr lang="en-US" altLang="ko-KR" dirty="0"/>
              <a:t>(name, "</a:t>
            </a:r>
            <a:r>
              <a:rPr lang="ko-KR" altLang="en-US" dirty="0"/>
              <a:t>동</a:t>
            </a:r>
            <a:r>
              <a:rPr lang="en-US" altLang="ko-KR" dirty="0"/>
              <a:t>")}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87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JSTL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라이브러리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91D0EB-83A4-475B-A366-9242DC26C2EA}"/>
              </a:ext>
            </a:extLst>
          </p:cNvPr>
          <p:cNvSpPr/>
          <p:nvPr/>
        </p:nvSpPr>
        <p:spPr>
          <a:xfrm>
            <a:off x="926006" y="1935988"/>
            <a:ext cx="9324418" cy="605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Checkbox, radio </a:t>
            </a:r>
            <a:r>
              <a:rPr lang="ko-KR" altLang="en-US" sz="2000" dirty="0"/>
              <a:t>타입에서 </a:t>
            </a:r>
            <a:r>
              <a:rPr lang="en-US" altLang="ko-KR" sz="2000" dirty="0"/>
              <a:t>checked </a:t>
            </a:r>
            <a:r>
              <a:rPr lang="ko-KR" altLang="en-US" sz="2000" dirty="0" err="1"/>
              <a:t>설정할때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fn:contains</a:t>
            </a:r>
            <a:r>
              <a:rPr lang="en-US" altLang="ko-KR" sz="2000" dirty="0"/>
              <a:t>() </a:t>
            </a:r>
            <a:r>
              <a:rPr lang="ko-KR" altLang="en-US" sz="2000" dirty="0"/>
              <a:t>함수 사용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B9E07-2444-449E-930D-C79C6CE5953A}"/>
              </a:ext>
            </a:extLst>
          </p:cNvPr>
          <p:cNvSpPr txBox="1"/>
          <p:nvPr/>
        </p:nvSpPr>
        <p:spPr>
          <a:xfrm>
            <a:off x="840786" y="1352584"/>
            <a:ext cx="1016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Function </a:t>
            </a:r>
            <a:r>
              <a:rPr lang="ko-KR" altLang="en-US" dirty="0">
                <a:latin typeface="+mn-ea"/>
              </a:rPr>
              <a:t>함수 라이브러리 </a:t>
            </a: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fn</a:t>
            </a:r>
            <a:r>
              <a:rPr lang="en-US" altLang="ko-KR" dirty="0">
                <a:latin typeface="+mn-ea"/>
              </a:rPr>
              <a:t> :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51451" y="2755923"/>
            <a:ext cx="9298973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&lt;li&gt;</a:t>
            </a:r>
          </a:p>
          <a:p>
            <a:pPr lvl="1"/>
            <a:r>
              <a:rPr lang="en-US" altLang="ko-KR" dirty="0"/>
              <a:t>&lt;input type="checkbox" name="computer" id="computer" value="computer"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c:if</a:t>
            </a:r>
            <a:r>
              <a:rPr lang="en-US" altLang="ko-KR" dirty="0"/>
              <a:t> test="${</a:t>
            </a:r>
            <a:r>
              <a:rPr lang="en-US" altLang="ko-KR" dirty="0" err="1"/>
              <a:t>fn:contains</a:t>
            </a:r>
            <a:r>
              <a:rPr lang="en-US" altLang="ko-KR" dirty="0"/>
              <a:t>(</a:t>
            </a:r>
            <a:r>
              <a:rPr lang="en-US" altLang="ko-KR" dirty="0" err="1"/>
              <a:t>mdto.hobby</a:t>
            </a:r>
            <a:r>
              <a:rPr lang="en-US" altLang="ko-KR" dirty="0"/>
              <a:t>, 'computer')}"&gt; checked&lt;/</a:t>
            </a:r>
            <a:r>
              <a:rPr lang="en-US" altLang="ko-KR" dirty="0" err="1"/>
              <a:t>c:if</a:t>
            </a:r>
            <a:r>
              <a:rPr lang="en-US" altLang="ko-KR" dirty="0"/>
              <a:t>&gt;   /&gt;</a:t>
            </a:r>
          </a:p>
          <a:p>
            <a:pPr lvl="1"/>
            <a:r>
              <a:rPr lang="en-US" altLang="ko-KR" dirty="0"/>
              <a:t>&lt;label for="computer"&gt;</a:t>
            </a:r>
            <a:r>
              <a:rPr lang="ko-KR" altLang="en-US" dirty="0"/>
              <a:t>컴퓨터</a:t>
            </a:r>
            <a:r>
              <a:rPr lang="en-US" altLang="ko-KR" dirty="0"/>
              <a:t>/</a:t>
            </a:r>
            <a:r>
              <a:rPr lang="ko-KR" altLang="en-US" dirty="0"/>
              <a:t>인터넷</a:t>
            </a:r>
            <a:r>
              <a:rPr lang="en-US" altLang="ko-KR" dirty="0"/>
              <a:t>&lt;/label&gt;</a:t>
            </a:r>
          </a:p>
          <a:p>
            <a:r>
              <a:rPr lang="en-US" altLang="ko-KR" dirty="0"/>
              <a:t>&lt;/li&gt;</a:t>
            </a:r>
          </a:p>
          <a:p>
            <a:r>
              <a:rPr lang="en-US" altLang="ko-KR" dirty="0"/>
              <a:t>&lt;li&gt;</a:t>
            </a:r>
          </a:p>
          <a:p>
            <a:pPr lvl="1"/>
            <a:r>
              <a:rPr lang="en-US" altLang="ko-KR" dirty="0"/>
              <a:t>&lt;input type="checkbox" name="movie" id="movie" value="movie"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c:if</a:t>
            </a:r>
            <a:r>
              <a:rPr lang="en-US" altLang="ko-KR" dirty="0"/>
              <a:t> test="${</a:t>
            </a:r>
            <a:r>
              <a:rPr lang="en-US" altLang="ko-KR" dirty="0" err="1"/>
              <a:t>fn:contains</a:t>
            </a:r>
            <a:r>
              <a:rPr lang="en-US" altLang="ko-KR" dirty="0"/>
              <a:t>(</a:t>
            </a:r>
            <a:r>
              <a:rPr lang="en-US" altLang="ko-KR" dirty="0" err="1"/>
              <a:t>mdto.hobby</a:t>
            </a:r>
            <a:r>
              <a:rPr lang="en-US" altLang="ko-KR" dirty="0"/>
              <a:t>, 'movie')}"&gt; checked&lt;/</a:t>
            </a:r>
            <a:r>
              <a:rPr lang="en-US" altLang="ko-KR" dirty="0" err="1"/>
              <a:t>c:if</a:t>
            </a:r>
            <a:r>
              <a:rPr lang="en-US" altLang="ko-KR" dirty="0"/>
              <a:t>&gt;   /&gt;</a:t>
            </a:r>
          </a:p>
          <a:p>
            <a:pPr lvl="1"/>
            <a:r>
              <a:rPr lang="en-US" altLang="ko-KR" dirty="0"/>
              <a:t>&lt;label for="movie"&gt;</a:t>
            </a:r>
            <a:r>
              <a:rPr lang="ko-KR" altLang="en-US" dirty="0"/>
              <a:t>영화</a:t>
            </a:r>
            <a:r>
              <a:rPr lang="en-US" altLang="ko-KR" dirty="0"/>
              <a:t>/</a:t>
            </a:r>
            <a:r>
              <a:rPr lang="ko-KR" altLang="en-US" dirty="0"/>
              <a:t>비디오</a:t>
            </a:r>
            <a:r>
              <a:rPr lang="en-US" altLang="ko-KR" dirty="0"/>
              <a:t>&lt;/label&gt;</a:t>
            </a:r>
          </a:p>
          <a:p>
            <a:r>
              <a:rPr lang="en-US" altLang="ko-KR" dirty="0"/>
              <a:t>&lt;/li&gt;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94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4754</TotalTime>
  <Words>2324</Words>
  <Application>Microsoft Office PowerPoint</Application>
  <PresentationFormat>와이드스크린</PresentationFormat>
  <Paragraphs>301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NanumBarunGothic</vt:lpstr>
      <vt:lpstr>Noto Serif KR</vt:lpstr>
      <vt:lpstr>Spoqa Han Sans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kosmo</cp:lastModifiedBy>
  <cp:revision>1374</cp:revision>
  <dcterms:created xsi:type="dcterms:W3CDTF">2014-12-01T08:37:15Z</dcterms:created>
  <dcterms:modified xsi:type="dcterms:W3CDTF">2025-08-13T03:27:50Z</dcterms:modified>
</cp:coreProperties>
</file>