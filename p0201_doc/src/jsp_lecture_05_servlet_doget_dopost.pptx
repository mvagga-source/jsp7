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64" r:id="rId3"/>
    <p:sldId id="259" r:id="rId4"/>
    <p:sldId id="265" r:id="rId5"/>
    <p:sldId id="266" r:id="rId6"/>
    <p:sldId id="267" r:id="rId7"/>
    <p:sldId id="268" r:id="rId8"/>
    <p:sldId id="271" r:id="rId9"/>
    <p:sldId id="269" r:id="rId10"/>
    <p:sldId id="270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2020-03-30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2020-03-30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2020-03-30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2020-03-30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2020-03-30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2020-03-30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2020-03-30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8109528" y="176272"/>
            <a:ext cx="3470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5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Servlet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본격적으로 살펴보기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2020-03-30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2020-03-30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2020-03-30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2020-03-30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2020-03-30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2020-03-30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5</a:t>
            </a:r>
            <a:r>
              <a:rPr lang="ko-KR" altLang="en-US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en-US" altLang="ko-KR" sz="2000" spc="-150" dirty="0">
                <a:solidFill>
                  <a:srgbClr val="0070C0"/>
                </a:solidFill>
                <a:latin typeface="+mj-ea"/>
                <a:ea typeface="+mj-ea"/>
              </a:rPr>
              <a:t>Servlet </a:t>
            </a:r>
            <a:r>
              <a:rPr lang="ko-KR" altLang="en-US" sz="2000" spc="-150" dirty="0">
                <a:solidFill>
                  <a:srgbClr val="0070C0"/>
                </a:solidFill>
                <a:latin typeface="+mj-ea"/>
                <a:ea typeface="+mj-ea"/>
              </a:rPr>
              <a:t>본격적으로 </a:t>
            </a:r>
            <a:r>
              <a:rPr lang="ko-KR" altLang="en-US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살펴보기</a:t>
            </a:r>
            <a:r>
              <a:rPr lang="en-US" altLang="ko-KR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-I</a:t>
            </a:r>
            <a:endParaRPr lang="ko-KR" altLang="en-US" sz="20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09012" y="3900173"/>
            <a:ext cx="41954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프로젝트 만들기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doGet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()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doPost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컨텍스트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패스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(Context Path)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4432" y="4959417"/>
            <a:ext cx="2094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i="1" dirty="0" smtClean="0"/>
              <a:t>Lecturer</a:t>
            </a:r>
            <a:r>
              <a:rPr lang="en-US" altLang="ko-KR" sz="1200" dirty="0" smtClean="0"/>
              <a:t>  </a:t>
            </a:r>
            <a:r>
              <a:rPr lang="en-US" altLang="ko-KR" sz="1200" dirty="0"/>
              <a:t>K</a:t>
            </a:r>
            <a:r>
              <a:rPr lang="en-US" altLang="ko-KR" sz="1200" dirty="0" smtClean="0"/>
              <a:t>im </a:t>
            </a:r>
            <a:r>
              <a:rPr lang="en-US" altLang="ko-KR" sz="1200" dirty="0" err="1" smtClean="0"/>
              <a:t>Myoung</a:t>
            </a:r>
            <a:r>
              <a:rPr lang="en-US" altLang="ko-KR" sz="1200" dirty="0"/>
              <a:t>-</a:t>
            </a:r>
            <a:r>
              <a:rPr lang="en-US" altLang="ko-KR" sz="1200" dirty="0" smtClean="0"/>
              <a:t>Ho</a:t>
            </a:r>
          </a:p>
          <a:p>
            <a:pPr algn="r"/>
            <a:r>
              <a:rPr lang="en-US" altLang="ko-KR" sz="1200" i="1" dirty="0" smtClean="0"/>
              <a:t>Nickname</a:t>
            </a:r>
            <a:r>
              <a:rPr lang="en-US" altLang="ko-KR" sz="1200" dirty="0" smtClean="0"/>
              <a:t>  </a:t>
            </a:r>
            <a:r>
              <a:rPr lang="ko-KR" altLang="en-US" sz="1200" dirty="0" err="1" smtClean="0"/>
              <a:t>블스</a:t>
            </a:r>
            <a:endParaRPr lang="en-US" altLang="ko-KR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algn="r"/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blogstudy@naver.com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14" y="2419695"/>
            <a:ext cx="4248150" cy="20002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5-1.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프로젝트 만들기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은 </a:t>
            </a:r>
            <a:r>
              <a:rPr lang="en-US" altLang="ko-KR" sz="1100" dirty="0" smtClean="0">
                <a:latin typeface="+mn-ea"/>
              </a:rPr>
              <a:t>JAVA</a:t>
            </a:r>
            <a:r>
              <a:rPr lang="ko-KR" altLang="en-US" sz="1100" dirty="0" smtClean="0">
                <a:latin typeface="+mn-ea"/>
              </a:rPr>
              <a:t>언어를 사용하여 </a:t>
            </a:r>
            <a:r>
              <a:rPr lang="ko-KR" altLang="en-US" sz="1100" dirty="0" err="1" smtClean="0">
                <a:latin typeface="+mn-ea"/>
              </a:rPr>
              <a:t>웹프로그램을</a:t>
            </a:r>
            <a:r>
              <a:rPr lang="ko-KR" altLang="en-US" sz="1100" dirty="0" smtClean="0">
                <a:latin typeface="+mn-ea"/>
              </a:rPr>
              <a:t> 제작하는 것 입니다</a:t>
            </a:r>
            <a:r>
              <a:rPr lang="en-US" altLang="ko-KR" sz="1100" dirty="0" smtClean="0">
                <a:latin typeface="+mn-ea"/>
              </a:rPr>
              <a:t>.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간단한 </a:t>
            </a:r>
            <a:r>
              <a:rPr lang="en-US" altLang="ko-KR" sz="1100" dirty="0" smtClean="0">
                <a:latin typeface="+mn-ea"/>
              </a:rPr>
              <a:t>Servlet </a:t>
            </a:r>
            <a:r>
              <a:rPr lang="ko-KR" altLang="en-US" sz="1100" dirty="0" smtClean="0">
                <a:latin typeface="+mn-ea"/>
              </a:rPr>
              <a:t>프로젝트를 만들어 보면서 전체적인 구조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ko-KR" altLang="en-US" sz="1100" dirty="0" smtClean="0">
                <a:latin typeface="+mn-ea"/>
              </a:rPr>
              <a:t>흐름</a:t>
            </a:r>
            <a:r>
              <a:rPr lang="en-US" altLang="ko-KR" sz="1100" dirty="0" smtClean="0">
                <a:latin typeface="+mn-ea"/>
              </a:rPr>
              <a:t>)</a:t>
            </a:r>
            <a:r>
              <a:rPr lang="ko-KR" altLang="en-US" sz="1100" dirty="0" smtClean="0">
                <a:latin typeface="+mn-ea"/>
              </a:rPr>
              <a:t>를 살펴보도록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jsp_5_1_ex1_servletex)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4495079" y="3419820"/>
            <a:ext cx="829839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96011" y="3289015"/>
            <a:ext cx="18503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err="1" smtClean="0">
                <a:latin typeface="+mn-ea"/>
              </a:rPr>
              <a:t>HttpServlet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클래스를 상속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160774" y="2792362"/>
            <a:ext cx="1750142" cy="627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Servlet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8160774" y="4094117"/>
            <a:ext cx="1750142" cy="627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GenericServlet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8160774" y="5395872"/>
            <a:ext cx="1750142" cy="627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HttpServlet</a:t>
            </a:r>
            <a:endParaRPr lang="ko-KR" altLang="en-US" dirty="0"/>
          </a:p>
        </p:txBody>
      </p:sp>
      <p:cxnSp>
        <p:nvCxnSpPr>
          <p:cNvPr id="14" name="직선 화살표 연결선 13"/>
          <p:cNvCxnSpPr/>
          <p:nvPr/>
        </p:nvCxnSpPr>
        <p:spPr>
          <a:xfrm flipV="1">
            <a:off x="9035845" y="3491633"/>
            <a:ext cx="0" cy="543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flipV="1">
            <a:off x="9035845" y="4773724"/>
            <a:ext cx="0" cy="543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910916" y="2975286"/>
            <a:ext cx="7669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>
                <a:latin typeface="+mn-ea"/>
              </a:rPr>
              <a:t>Interface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0916" y="4256473"/>
            <a:ext cx="7669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>
                <a:latin typeface="+mn-ea"/>
              </a:rPr>
              <a:t>abstract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008" y="1978735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 - Servlet</a:t>
            </a:r>
            <a:r>
              <a:rPr lang="ko-KR" altLang="en-US" sz="1100" dirty="0" smtClean="0">
                <a:latin typeface="+mn-ea"/>
              </a:rPr>
              <a:t>클래스는 </a:t>
            </a:r>
            <a:r>
              <a:rPr lang="en-US" altLang="ko-KR" sz="1100" dirty="0" err="1" smtClean="0">
                <a:latin typeface="+mn-ea"/>
              </a:rPr>
              <a:t>HttpServlet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클래스를 상속 받음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cxnSp>
        <p:nvCxnSpPr>
          <p:cNvPr id="36" name="직선 연결선 35"/>
          <p:cNvCxnSpPr/>
          <p:nvPr/>
        </p:nvCxnSpPr>
        <p:spPr>
          <a:xfrm>
            <a:off x="745832" y="2232216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03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483" y="2412395"/>
            <a:ext cx="8982075" cy="34861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5-1.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프로젝트 만들기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3671309" y="2633448"/>
            <a:ext cx="203938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5772237" y="2633448"/>
            <a:ext cx="222488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89978" y="1816940"/>
            <a:ext cx="11254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>
                <a:latin typeface="+mn-ea"/>
              </a:rPr>
              <a:t>요청처리객체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8312" y="1816940"/>
            <a:ext cx="11254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>
                <a:latin typeface="+mn-ea"/>
              </a:rPr>
              <a:t>응답처리객체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4652685" y="2078550"/>
            <a:ext cx="0" cy="34316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6861019" y="2078550"/>
            <a:ext cx="0" cy="34316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5468473" y="3341265"/>
            <a:ext cx="829839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69405" y="3210460"/>
            <a:ext cx="2430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 smtClean="0">
                <a:latin typeface="+mn-ea"/>
              </a:rPr>
              <a:t>웹브라우저에</a:t>
            </a:r>
            <a:r>
              <a:rPr lang="ko-KR" altLang="en-US" sz="1100" dirty="0" smtClean="0">
                <a:latin typeface="+mn-ea"/>
              </a:rPr>
              <a:t> 출력하기 위한 </a:t>
            </a:r>
            <a:r>
              <a:rPr lang="ko-KR" altLang="en-US" sz="1100" dirty="0" err="1" smtClean="0">
                <a:latin typeface="+mn-ea"/>
              </a:rPr>
              <a:t>스트림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30" name="직선 화살표 연결선 29"/>
          <p:cNvCxnSpPr/>
          <p:nvPr/>
        </p:nvCxnSpPr>
        <p:spPr>
          <a:xfrm flipH="1">
            <a:off x="5468473" y="3805915"/>
            <a:ext cx="829839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69405" y="3675110"/>
            <a:ext cx="49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>
                <a:latin typeface="+mn-ea"/>
              </a:rPr>
              <a:t>html</a:t>
            </a:r>
          </a:p>
        </p:txBody>
      </p:sp>
      <p:cxnSp>
        <p:nvCxnSpPr>
          <p:cNvPr id="32" name="직선 화살표 연결선 31"/>
          <p:cNvCxnSpPr/>
          <p:nvPr/>
        </p:nvCxnSpPr>
        <p:spPr>
          <a:xfrm>
            <a:off x="1858298" y="2741497"/>
            <a:ext cx="37399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6415" y="2610692"/>
            <a:ext cx="1031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smtClean="0">
                <a:latin typeface="+mn-ea"/>
              </a:rPr>
              <a:t>Console </a:t>
            </a:r>
            <a:r>
              <a:rPr lang="ko-KR" altLang="en-US" sz="1100" dirty="0" smtClean="0">
                <a:latin typeface="+mn-ea"/>
              </a:rPr>
              <a:t>출력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7008" y="1496953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 - </a:t>
            </a:r>
            <a:r>
              <a:rPr lang="ko-KR" altLang="en-US" sz="1100" dirty="0" smtClean="0">
                <a:latin typeface="+mn-ea"/>
              </a:rPr>
              <a:t>요청처리객체 및 응답처리객체를 </a:t>
            </a:r>
            <a:r>
              <a:rPr lang="ko-KR" altLang="en-US" sz="1100" dirty="0" err="1" smtClean="0">
                <a:latin typeface="+mn-ea"/>
              </a:rPr>
              <a:t>톰캣에서</a:t>
            </a:r>
            <a:r>
              <a:rPr lang="ko-KR" altLang="en-US" sz="1100" dirty="0" smtClean="0">
                <a:latin typeface="+mn-ea"/>
              </a:rPr>
              <a:t> 받음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cxnSp>
        <p:nvCxnSpPr>
          <p:cNvPr id="37" name="직선 연결선 36"/>
          <p:cNvCxnSpPr/>
          <p:nvPr/>
        </p:nvCxnSpPr>
        <p:spPr>
          <a:xfrm>
            <a:off x="745832" y="1750434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089978" y="2975642"/>
            <a:ext cx="241110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(“</a:t>
            </a:r>
            <a:r>
              <a:rPr lang="en-US" altLang="ko-KR" sz="1400" dirty="0" smtClean="0">
                <a:solidFill>
                  <a:srgbClr val="0000FF"/>
                </a:solidFill>
              </a:rPr>
              <a:t>text/html; charset=utf-8</a:t>
            </a:r>
            <a:r>
              <a:rPr lang="en-US" altLang="ko-KR" sz="1400" dirty="0" smtClean="0"/>
              <a:t>”);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4323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5-1.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프로젝트 만들기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77008" y="1496953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 - GET</a:t>
            </a:r>
            <a:r>
              <a:rPr lang="ko-KR" altLang="en-US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&amp; POST </a:t>
            </a:r>
            <a:r>
              <a:rPr lang="ko-KR" altLang="en-US" sz="1100" dirty="0" smtClean="0">
                <a:latin typeface="+mn-ea"/>
              </a:rPr>
              <a:t>방식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37" name="직선 연결선 36"/>
          <p:cNvCxnSpPr/>
          <p:nvPr/>
        </p:nvCxnSpPr>
        <p:spPr>
          <a:xfrm>
            <a:off x="745832" y="1750434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314" y="1974850"/>
            <a:ext cx="8130886" cy="4381500"/>
          </a:xfrm>
          <a:prstGeom prst="rect">
            <a:avLst/>
          </a:prstGeom>
        </p:spPr>
      </p:pic>
      <p:cxnSp>
        <p:nvCxnSpPr>
          <p:cNvPr id="21" name="직선 연결선 20"/>
          <p:cNvCxnSpPr/>
          <p:nvPr/>
        </p:nvCxnSpPr>
        <p:spPr>
          <a:xfrm>
            <a:off x="2973219" y="2151668"/>
            <a:ext cx="435181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2973219" y="5981332"/>
            <a:ext cx="443047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07043" y="3439890"/>
            <a:ext cx="3913239" cy="43088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GET</a:t>
            </a:r>
            <a:r>
              <a:rPr lang="ko-KR" altLang="en-US" sz="1100" b="1" dirty="0" smtClean="0">
                <a:latin typeface="+mn-ea"/>
              </a:rPr>
              <a:t> 방식</a:t>
            </a:r>
            <a:r>
              <a:rPr lang="en-US" altLang="ko-KR" sz="1100" b="1" dirty="0">
                <a:latin typeface="+mn-ea"/>
              </a:rPr>
              <a:t> </a:t>
            </a:r>
            <a:r>
              <a:rPr lang="en-US" altLang="ko-KR" sz="1100" b="1" dirty="0" smtClean="0">
                <a:latin typeface="+mn-ea"/>
              </a:rPr>
              <a:t>: </a:t>
            </a:r>
          </a:p>
          <a:p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URL</a:t>
            </a:r>
            <a:r>
              <a:rPr lang="ko-KR" altLang="en-US" sz="1100" dirty="0" smtClean="0">
                <a:latin typeface="+mn-ea"/>
              </a:rPr>
              <a:t>값으로 정보가 전송되어 보안에 약함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cxnSp>
        <p:nvCxnSpPr>
          <p:cNvPr id="35" name="직선 화살표 연결선 34"/>
          <p:cNvCxnSpPr/>
          <p:nvPr/>
        </p:nvCxnSpPr>
        <p:spPr>
          <a:xfrm flipH="1" flipV="1">
            <a:off x="5250426" y="2151668"/>
            <a:ext cx="1956618" cy="148626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 flipH="1">
            <a:off x="5250426" y="4125540"/>
            <a:ext cx="1956618" cy="159797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207043" y="3913862"/>
            <a:ext cx="3913239" cy="43088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POST </a:t>
            </a:r>
            <a:r>
              <a:rPr lang="ko-KR" altLang="en-US" sz="1100" b="1" dirty="0" smtClean="0">
                <a:latin typeface="+mn-ea"/>
              </a:rPr>
              <a:t>방식 </a:t>
            </a:r>
            <a:r>
              <a:rPr lang="en-US" altLang="ko-KR" sz="1100" b="1" dirty="0" smtClean="0">
                <a:latin typeface="+mn-ea"/>
              </a:rPr>
              <a:t>: </a:t>
            </a:r>
          </a:p>
          <a:p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header</a:t>
            </a:r>
            <a:r>
              <a:rPr lang="ko-KR" altLang="en-US" sz="1100" dirty="0" smtClean="0">
                <a:latin typeface="+mn-ea"/>
              </a:rPr>
              <a:t>를 이용해 정보가 전송되어 보안에 강함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2476" y="2735342"/>
            <a:ext cx="11798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doGet</a:t>
            </a:r>
            <a:r>
              <a:rPr lang="en-US" altLang="ko-KR" sz="1100" dirty="0" smtClean="0">
                <a:latin typeface="+mn-ea"/>
              </a:rPr>
              <a:t>() </a:t>
            </a:r>
            <a:r>
              <a:rPr lang="ko-KR" altLang="en-US" sz="1100" dirty="0" smtClean="0">
                <a:latin typeface="+mn-ea"/>
              </a:rPr>
              <a:t>호출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02476" y="4832708"/>
            <a:ext cx="11012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doPost</a:t>
            </a:r>
            <a:r>
              <a:rPr lang="en-US" altLang="ko-KR" sz="1100" dirty="0" smtClean="0">
                <a:latin typeface="+mn-ea"/>
              </a:rPr>
              <a:t>() </a:t>
            </a:r>
            <a:r>
              <a:rPr lang="ko-KR" altLang="en-US" sz="1100" dirty="0" smtClean="0">
                <a:latin typeface="+mn-ea"/>
              </a:rPr>
              <a:t>호출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163662" y="2894801"/>
            <a:ext cx="2359741" cy="2616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Form</a:t>
            </a:r>
            <a:r>
              <a:rPr lang="ko-KR" altLang="en-US" sz="1100" b="1" dirty="0" smtClean="0">
                <a:latin typeface="+mn-ea"/>
              </a:rPr>
              <a:t>태그 </a:t>
            </a:r>
            <a:r>
              <a:rPr lang="en-US" altLang="ko-KR" sz="1100" b="1" dirty="0" smtClean="0">
                <a:latin typeface="+mn-ea"/>
              </a:rPr>
              <a:t>method </a:t>
            </a:r>
            <a:r>
              <a:rPr lang="ko-KR" altLang="en-US" sz="1100" b="1" dirty="0" smtClean="0">
                <a:latin typeface="+mn-ea"/>
              </a:rPr>
              <a:t>속성값 </a:t>
            </a:r>
            <a:r>
              <a:rPr lang="en-US" altLang="ko-KR" sz="1100" b="1" dirty="0" smtClean="0">
                <a:latin typeface="+mn-ea"/>
              </a:rPr>
              <a:t>= get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163662" y="4623967"/>
            <a:ext cx="2359741" cy="2616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Form</a:t>
            </a:r>
            <a:r>
              <a:rPr lang="ko-KR" altLang="en-US" sz="1100" b="1" dirty="0" smtClean="0">
                <a:latin typeface="+mn-ea"/>
              </a:rPr>
              <a:t>태그 </a:t>
            </a:r>
            <a:r>
              <a:rPr lang="en-US" altLang="ko-KR" sz="1100" b="1" dirty="0" smtClean="0">
                <a:latin typeface="+mn-ea"/>
              </a:rPr>
              <a:t>method </a:t>
            </a:r>
            <a:r>
              <a:rPr lang="ko-KR" altLang="en-US" sz="1100" b="1" dirty="0" smtClean="0">
                <a:latin typeface="+mn-ea"/>
              </a:rPr>
              <a:t>속성값 </a:t>
            </a:r>
            <a:r>
              <a:rPr lang="en-US" altLang="ko-KR" sz="1100" b="1" dirty="0" smtClean="0">
                <a:latin typeface="+mn-ea"/>
              </a:rPr>
              <a:t>= post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44" name="직선 화살표 연결선 43"/>
          <p:cNvCxnSpPr/>
          <p:nvPr/>
        </p:nvCxnSpPr>
        <p:spPr>
          <a:xfrm flipH="1">
            <a:off x="10141974" y="3156411"/>
            <a:ext cx="226899" cy="28347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43" idx="0"/>
          </p:cNvCxnSpPr>
          <p:nvPr/>
        </p:nvCxnSpPr>
        <p:spPr>
          <a:xfrm flipH="1" flipV="1">
            <a:off x="10141975" y="4352667"/>
            <a:ext cx="201558" cy="2713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60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/>
        </p:nvSpPr>
        <p:spPr>
          <a:xfrm>
            <a:off x="2347546" y="3991832"/>
            <a:ext cx="7060223" cy="1980577"/>
          </a:xfrm>
          <a:prstGeom prst="roundRect">
            <a:avLst>
              <a:gd name="adj" fmla="val 73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5-2.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err="1" smtClean="0">
                <a:latin typeface="+mn-ea"/>
              </a:rPr>
              <a:t>doGet</a:t>
            </a:r>
            <a:r>
              <a:rPr lang="en-US" altLang="ko-KR" sz="1600" b="1" dirty="0" smtClean="0">
                <a:latin typeface="+mn-ea"/>
              </a:rPr>
              <a:t>()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- html</a:t>
            </a:r>
            <a:r>
              <a:rPr lang="ko-KR" altLang="en-US" sz="1100" dirty="0" smtClean="0">
                <a:latin typeface="+mn-ea"/>
              </a:rPr>
              <a:t>내 </a:t>
            </a:r>
            <a:r>
              <a:rPr lang="en-US" altLang="ko-KR" sz="1100" dirty="0" smtClean="0">
                <a:latin typeface="+mn-ea"/>
              </a:rPr>
              <a:t>form</a:t>
            </a:r>
            <a:r>
              <a:rPr lang="ko-KR" altLang="en-US" sz="1100" dirty="0" smtClean="0">
                <a:latin typeface="+mn-ea"/>
              </a:rPr>
              <a:t>태그의 </a:t>
            </a:r>
            <a:r>
              <a:rPr lang="en-US" altLang="ko-KR" sz="1100" dirty="0" smtClean="0">
                <a:latin typeface="+mn-ea"/>
              </a:rPr>
              <a:t>method</a:t>
            </a:r>
            <a:r>
              <a:rPr lang="ko-KR" altLang="en-US" sz="1100" dirty="0" smtClean="0">
                <a:latin typeface="+mn-ea"/>
              </a:rPr>
              <a:t>속성이 </a:t>
            </a:r>
            <a:r>
              <a:rPr lang="en-US" altLang="ko-KR" sz="1100" dirty="0" smtClean="0">
                <a:latin typeface="+mn-ea"/>
              </a:rPr>
              <a:t>get</a:t>
            </a:r>
            <a:r>
              <a:rPr lang="ko-KR" altLang="en-US" sz="1100" dirty="0" smtClean="0">
                <a:latin typeface="+mn-ea"/>
              </a:rPr>
              <a:t>일 경우 호출 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- </a:t>
            </a:r>
            <a:r>
              <a:rPr lang="ko-KR" altLang="en-US" sz="1100" dirty="0" err="1" smtClean="0">
                <a:latin typeface="+mn-ea"/>
              </a:rPr>
              <a:t>웹브라우저의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ko-KR" altLang="en-US" sz="1100" dirty="0" err="1" smtClean="0">
                <a:latin typeface="+mn-ea"/>
              </a:rPr>
              <a:t>주소창을</a:t>
            </a:r>
            <a:r>
              <a:rPr lang="ko-KR" altLang="en-US" sz="1100" dirty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이용하여 </a:t>
            </a:r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을 요청한 경우에도 호출 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008" y="1901401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doGet</a:t>
            </a:r>
            <a:r>
              <a:rPr lang="ko-KR" altLang="en-US" sz="1100" dirty="0" err="1" smtClean="0">
                <a:latin typeface="+mn-ea"/>
              </a:rPr>
              <a:t>메소드는</a:t>
            </a:r>
            <a:r>
              <a:rPr lang="ko-KR" altLang="en-US" sz="1100" dirty="0" smtClean="0">
                <a:latin typeface="+mn-ea"/>
              </a:rPr>
              <a:t> 매개변수로 </a:t>
            </a:r>
            <a:r>
              <a:rPr lang="en-US" altLang="ko-KR" sz="1100" dirty="0" err="1" smtClean="0">
                <a:latin typeface="+mn-ea"/>
              </a:rPr>
              <a:t>HttpServletRequest</a:t>
            </a:r>
            <a:r>
              <a:rPr lang="ko-KR" altLang="en-US" sz="1100" dirty="0" smtClean="0">
                <a:latin typeface="+mn-ea"/>
              </a:rPr>
              <a:t>와 </a:t>
            </a:r>
            <a:r>
              <a:rPr lang="en-US" altLang="ko-KR" sz="1100" dirty="0" err="1" smtClean="0">
                <a:latin typeface="+mn-ea"/>
              </a:rPr>
              <a:t>HttpServletResponse</a:t>
            </a:r>
            <a:r>
              <a:rPr lang="ko-KR" altLang="en-US" sz="1100" dirty="0" smtClean="0">
                <a:latin typeface="+mn-ea"/>
              </a:rPr>
              <a:t>를 받습니다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745832" y="2154882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2762296" y="4399879"/>
            <a:ext cx="6223441" cy="627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 smtClean="0">
                <a:latin typeface="+mn-ea"/>
              </a:rPr>
              <a:t>HttpServletRequest</a:t>
            </a:r>
            <a:r>
              <a:rPr lang="en-US" altLang="ko-KR" dirty="0" smtClean="0">
                <a:latin typeface="+mn-ea"/>
              </a:rPr>
              <a:t> &gt; </a:t>
            </a:r>
            <a:r>
              <a:rPr lang="ko-KR" altLang="en-US" dirty="0" smtClean="0">
                <a:latin typeface="+mn-ea"/>
              </a:rPr>
              <a:t>클라이언트의 요청 처리 객체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2762295" y="5061079"/>
            <a:ext cx="6223441" cy="627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latin typeface="+mn-ea"/>
              </a:rPr>
              <a:t>HttpServletResponse</a:t>
            </a:r>
            <a:r>
              <a:rPr lang="en-US" altLang="ko-KR" dirty="0" smtClean="0">
                <a:latin typeface="+mn-ea"/>
              </a:rPr>
              <a:t> &gt; </a:t>
            </a:r>
            <a:r>
              <a:rPr lang="ko-KR" altLang="en-US" dirty="0" smtClean="0">
                <a:latin typeface="+mn-ea"/>
              </a:rPr>
              <a:t>클라이언트에게 응답 처리 객체</a:t>
            </a:r>
            <a:endParaRPr lang="ko-KR" altLang="en-US" dirty="0"/>
          </a:p>
        </p:txBody>
      </p:sp>
      <p:sp>
        <p:nvSpPr>
          <p:cNvPr id="27" name="직사각형 26"/>
          <p:cNvSpPr/>
          <p:nvPr/>
        </p:nvSpPr>
        <p:spPr>
          <a:xfrm>
            <a:off x="5094431" y="2516619"/>
            <a:ext cx="1559168" cy="627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+mn-ea"/>
              </a:rPr>
              <a:t>웹브라우저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285706" y="3421319"/>
            <a:ext cx="525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>
                <a:latin typeface="+mn-ea"/>
              </a:rPr>
              <a:t>요청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5742929" y="3235569"/>
            <a:ext cx="0" cy="66860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94431" y="4021362"/>
            <a:ext cx="1559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err="1" smtClean="0">
                <a:solidFill>
                  <a:schemeClr val="bg1"/>
                </a:solidFill>
                <a:latin typeface="+mn-ea"/>
              </a:rPr>
              <a:t>doGet</a:t>
            </a:r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37161" y="3421319"/>
            <a:ext cx="525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>
                <a:latin typeface="+mn-ea"/>
              </a:rPr>
              <a:t>응답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48" name="직선 화살표 연결선 47"/>
          <p:cNvCxnSpPr/>
          <p:nvPr/>
        </p:nvCxnSpPr>
        <p:spPr>
          <a:xfrm flipV="1">
            <a:off x="6002278" y="3219380"/>
            <a:ext cx="0" cy="66548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24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5-2.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err="1" smtClean="0">
                <a:latin typeface="+mn-ea"/>
              </a:rPr>
              <a:t>doGet</a:t>
            </a:r>
            <a:r>
              <a:rPr lang="en-US" altLang="ko-KR" sz="1600" b="1" dirty="0" smtClean="0">
                <a:latin typeface="+mn-ea"/>
              </a:rPr>
              <a:t>()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7008" y="1496953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HttpServletResponse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객체의 </a:t>
            </a:r>
            <a:r>
              <a:rPr lang="en-US" altLang="ko-KR" sz="1100" dirty="0" err="1" smtClean="0">
                <a:latin typeface="+mn-ea"/>
              </a:rPr>
              <a:t>setContentType</a:t>
            </a:r>
            <a:r>
              <a:rPr lang="en-US" altLang="ko-KR" sz="1100" dirty="0" smtClean="0">
                <a:latin typeface="+mn-ea"/>
              </a:rPr>
              <a:t>() </a:t>
            </a:r>
            <a:r>
              <a:rPr lang="ko-KR" altLang="en-US" sz="1100" dirty="0" err="1" smtClean="0">
                <a:latin typeface="+mn-ea"/>
              </a:rPr>
              <a:t>메소드</a:t>
            </a:r>
            <a:r>
              <a:rPr lang="ko-KR" altLang="en-US" sz="1100" dirty="0" smtClean="0">
                <a:latin typeface="+mn-ea"/>
              </a:rPr>
              <a:t> 호출하여 응답방식 결정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cxnSp>
        <p:nvCxnSpPr>
          <p:cNvPr id="23" name="직선 연결선 22"/>
          <p:cNvCxnSpPr/>
          <p:nvPr/>
        </p:nvCxnSpPr>
        <p:spPr>
          <a:xfrm>
            <a:off x="745832" y="1750434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036" y="1957390"/>
            <a:ext cx="9010650" cy="1571625"/>
          </a:xfrm>
          <a:prstGeom prst="rect">
            <a:avLst/>
          </a:prstGeom>
        </p:spPr>
      </p:pic>
      <p:cxnSp>
        <p:nvCxnSpPr>
          <p:cNvPr id="18" name="직선 연결선 17"/>
          <p:cNvCxnSpPr/>
          <p:nvPr/>
        </p:nvCxnSpPr>
        <p:spPr>
          <a:xfrm>
            <a:off x="1728209" y="2809297"/>
            <a:ext cx="385490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7008" y="4108267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>
                <a:latin typeface="+mn-ea"/>
              </a:rPr>
              <a:t>HttpServletResponse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dirty="0">
                <a:latin typeface="+mn-ea"/>
              </a:rPr>
              <a:t>객체의 </a:t>
            </a:r>
            <a:r>
              <a:rPr lang="en-US" altLang="ko-KR" sz="1100" dirty="0" err="1" smtClean="0">
                <a:latin typeface="+mn-ea"/>
              </a:rPr>
              <a:t>getWriter</a:t>
            </a:r>
            <a:r>
              <a:rPr lang="en-US" altLang="ko-KR" sz="1100" dirty="0" smtClean="0">
                <a:latin typeface="+mn-ea"/>
              </a:rPr>
              <a:t>() </a:t>
            </a:r>
            <a:r>
              <a:rPr lang="ko-KR" altLang="en-US" sz="1100" dirty="0" err="1" smtClean="0">
                <a:latin typeface="+mn-ea"/>
              </a:rPr>
              <a:t>메소드를</a:t>
            </a:r>
            <a:r>
              <a:rPr lang="ko-KR" altLang="en-US" sz="1100" dirty="0" smtClean="0">
                <a:latin typeface="+mn-ea"/>
              </a:rPr>
              <a:t> 이용하여 출력 </a:t>
            </a:r>
            <a:r>
              <a:rPr lang="ko-KR" altLang="en-US" sz="1100" dirty="0" err="1" smtClean="0">
                <a:latin typeface="+mn-ea"/>
              </a:rPr>
              <a:t>스트림을</a:t>
            </a:r>
            <a:r>
              <a:rPr lang="ko-KR" altLang="en-US" sz="1100" dirty="0" smtClean="0">
                <a:latin typeface="+mn-ea"/>
              </a:rPr>
              <a:t> 얻습니다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cxnSp>
        <p:nvCxnSpPr>
          <p:cNvPr id="28" name="직선 연결선 27"/>
          <p:cNvCxnSpPr/>
          <p:nvPr/>
        </p:nvCxnSpPr>
        <p:spPr>
          <a:xfrm>
            <a:off x="745832" y="4361748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그림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036" y="4612659"/>
            <a:ext cx="9010650" cy="1571625"/>
          </a:xfrm>
          <a:prstGeom prst="rect">
            <a:avLst/>
          </a:prstGeom>
        </p:spPr>
      </p:pic>
      <p:cxnSp>
        <p:nvCxnSpPr>
          <p:cNvPr id="32" name="직선 연결선 31"/>
          <p:cNvCxnSpPr/>
          <p:nvPr/>
        </p:nvCxnSpPr>
        <p:spPr>
          <a:xfrm>
            <a:off x="1728209" y="5649203"/>
            <a:ext cx="295809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263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31" y="2012044"/>
            <a:ext cx="4029075" cy="244792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5-2.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err="1" smtClean="0">
                <a:latin typeface="+mn-ea"/>
              </a:rPr>
              <a:t>doGet</a:t>
            </a:r>
            <a:r>
              <a:rPr lang="en-US" altLang="ko-KR" sz="1600" b="1" dirty="0" smtClean="0">
                <a:latin typeface="+mn-ea"/>
              </a:rPr>
              <a:t>()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7008" y="1496953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latin typeface="+mn-ea"/>
              </a:rPr>
              <a:t>출력스트림의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en-US" altLang="ko-KR" sz="1100" dirty="0" err="1" smtClean="0">
                <a:latin typeface="+mn-ea"/>
              </a:rPr>
              <a:t>println</a:t>
            </a:r>
            <a:r>
              <a:rPr lang="en-US" altLang="ko-KR" sz="1100" dirty="0" smtClean="0">
                <a:latin typeface="+mn-ea"/>
              </a:rPr>
              <a:t>() </a:t>
            </a:r>
            <a:r>
              <a:rPr lang="ko-KR" altLang="en-US" sz="1100" dirty="0" err="1" smtClean="0">
                <a:latin typeface="+mn-ea"/>
              </a:rPr>
              <a:t>메소드를</a:t>
            </a:r>
            <a:r>
              <a:rPr lang="ko-KR" altLang="en-US" sz="1100" dirty="0" smtClean="0">
                <a:latin typeface="+mn-ea"/>
              </a:rPr>
              <a:t> 이용하여 출력하면</a:t>
            </a:r>
            <a:r>
              <a:rPr lang="en-US" altLang="ko-KR" sz="1100" dirty="0" smtClean="0">
                <a:latin typeface="+mn-ea"/>
              </a:rPr>
              <a:t>,  </a:t>
            </a:r>
            <a:r>
              <a:rPr lang="ko-KR" altLang="en-US" sz="1100" dirty="0" err="1" smtClean="0">
                <a:latin typeface="+mn-ea"/>
              </a:rPr>
              <a:t>웹브라우저에</a:t>
            </a:r>
            <a:r>
              <a:rPr lang="ko-KR" altLang="en-US" sz="1100" dirty="0" smtClean="0">
                <a:latin typeface="+mn-ea"/>
              </a:rPr>
              <a:t> 출력 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cxnSp>
        <p:nvCxnSpPr>
          <p:cNvPr id="23" name="직선 연결선 22"/>
          <p:cNvCxnSpPr/>
          <p:nvPr/>
        </p:nvCxnSpPr>
        <p:spPr>
          <a:xfrm>
            <a:off x="745832" y="1750434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1030531" y="2569350"/>
            <a:ext cx="3277700" cy="152986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907" y="2042686"/>
            <a:ext cx="4733925" cy="1076325"/>
          </a:xfrm>
          <a:prstGeom prst="rect">
            <a:avLst/>
          </a:prstGeom>
        </p:spPr>
      </p:pic>
      <p:cxnSp>
        <p:nvCxnSpPr>
          <p:cNvPr id="14" name="직선 화살표 연결선 13"/>
          <p:cNvCxnSpPr/>
          <p:nvPr/>
        </p:nvCxnSpPr>
        <p:spPr>
          <a:xfrm flipV="1">
            <a:off x="4424516" y="2654710"/>
            <a:ext cx="1415845" cy="65876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5511" y="4755665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마지막에 출력객체 닫습니다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cxnSp>
        <p:nvCxnSpPr>
          <p:cNvPr id="24" name="직선 연결선 23"/>
          <p:cNvCxnSpPr/>
          <p:nvPr/>
        </p:nvCxnSpPr>
        <p:spPr>
          <a:xfrm>
            <a:off x="674335" y="5009146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531" y="5245867"/>
            <a:ext cx="12954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1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7-3.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한글처리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7008" y="1116906"/>
            <a:ext cx="106767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Tomcat </a:t>
            </a:r>
            <a:r>
              <a:rPr lang="ko-KR" altLang="en-US" sz="1100" dirty="0" smtClean="0">
                <a:latin typeface="+mn-ea"/>
              </a:rPr>
              <a:t>서버의 기본 문자 처리 방식은 </a:t>
            </a:r>
            <a:r>
              <a:rPr lang="en-US" altLang="ko-KR" sz="1100" dirty="0" smtClean="0">
                <a:latin typeface="+mn-ea"/>
              </a:rPr>
              <a:t>IOS-8859-1 </a:t>
            </a:r>
            <a:r>
              <a:rPr lang="ko-KR" altLang="en-US" sz="1100" dirty="0" smtClean="0">
                <a:latin typeface="+mn-ea"/>
              </a:rPr>
              <a:t>방식 입니다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따라서 개발자가 별도의 한글 </a:t>
            </a:r>
            <a:r>
              <a:rPr lang="ko-KR" altLang="en-US" sz="1100" dirty="0" err="1" smtClean="0">
                <a:latin typeface="+mn-ea"/>
              </a:rPr>
              <a:t>인코딩을</a:t>
            </a:r>
            <a:r>
              <a:rPr lang="ko-KR" altLang="en-US" sz="1100" dirty="0" smtClean="0">
                <a:latin typeface="+mn-ea"/>
              </a:rPr>
              <a:t> 하지 않으면 한들이 깨져 보이는 현상이 있습니다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Get</a:t>
            </a:r>
            <a:r>
              <a:rPr lang="ko-KR" altLang="en-US" sz="1100" dirty="0" smtClean="0">
                <a:latin typeface="+mn-ea"/>
              </a:rPr>
              <a:t>방식과 </a:t>
            </a:r>
            <a:r>
              <a:rPr lang="en-US" altLang="ko-KR" sz="1100" dirty="0" smtClean="0">
                <a:latin typeface="+mn-ea"/>
              </a:rPr>
              <a:t>Post</a:t>
            </a:r>
            <a:r>
              <a:rPr lang="ko-KR" altLang="en-US" sz="1100" dirty="0" smtClean="0">
                <a:latin typeface="+mn-ea"/>
              </a:rPr>
              <a:t>방식에 따라서 한글처리 방식에 차이가 있습니다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(jsp_7_3_ex1_encodingex)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787767" y="2438567"/>
            <a:ext cx="3681048" cy="1430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Get</a:t>
            </a:r>
            <a:r>
              <a:rPr lang="ko-KR" altLang="en-US" dirty="0" smtClean="0">
                <a:latin typeface="+mn-ea"/>
              </a:rPr>
              <a:t>방식 요청</a:t>
            </a:r>
            <a:endParaRPr lang="en-US" altLang="ko-KR" dirty="0" smtClean="0">
              <a:latin typeface="+mn-ea"/>
            </a:endParaRPr>
          </a:p>
          <a:p>
            <a:pPr algn="ctr"/>
            <a:endParaRPr lang="en-US" altLang="ko-KR" sz="1200" dirty="0" smtClean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&lt;server.xml </a:t>
            </a:r>
            <a:r>
              <a:rPr lang="ko-KR" altLang="en-US" sz="1200" dirty="0" smtClean="0">
                <a:latin typeface="+mn-ea"/>
              </a:rPr>
              <a:t>수정</a:t>
            </a:r>
            <a:r>
              <a:rPr lang="en-US" altLang="ko-KR" sz="1200" dirty="0" smtClean="0">
                <a:latin typeface="+mn-ea"/>
              </a:rPr>
              <a:t>&gt;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474067" y="2438567"/>
            <a:ext cx="3681048" cy="1430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Post</a:t>
            </a:r>
            <a:r>
              <a:rPr lang="ko-KR" altLang="en-US" dirty="0" smtClean="0">
                <a:latin typeface="+mn-ea"/>
              </a:rPr>
              <a:t>방식 요청</a:t>
            </a:r>
            <a:endParaRPr lang="en-US" altLang="ko-KR" dirty="0" smtClean="0">
              <a:latin typeface="+mn-ea"/>
            </a:endParaRPr>
          </a:p>
          <a:p>
            <a:pPr algn="ctr"/>
            <a:endParaRPr lang="en-US" altLang="ko-KR" sz="1200" dirty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&lt;</a:t>
            </a:r>
            <a:r>
              <a:rPr lang="en-US" altLang="ko-KR" sz="1200" dirty="0" err="1" smtClean="0">
                <a:latin typeface="+mn-ea"/>
              </a:rPr>
              <a:t>request.setCharacterEncoding</a:t>
            </a:r>
            <a:r>
              <a:rPr lang="en-US" altLang="ko-KR" sz="1200" dirty="0" smtClean="0">
                <a:latin typeface="+mn-ea"/>
              </a:rPr>
              <a:t>() </a:t>
            </a:r>
            <a:r>
              <a:rPr lang="ko-KR" altLang="en-US" sz="1200" dirty="0" err="1" smtClean="0">
                <a:latin typeface="+mn-ea"/>
              </a:rPr>
              <a:t>메소드</a:t>
            </a:r>
            <a:r>
              <a:rPr lang="ko-KR" altLang="en-US" sz="1200" dirty="0" smtClean="0">
                <a:latin typeface="+mn-ea"/>
              </a:rPr>
              <a:t> 이용</a:t>
            </a:r>
            <a:r>
              <a:rPr lang="en-US" altLang="ko-KR" sz="1200" dirty="0" smtClean="0">
                <a:latin typeface="+mn-ea"/>
              </a:rPr>
              <a:t>&gt;</a:t>
            </a:r>
            <a:endParaRPr lang="ko-KR" altLang="en-US" sz="12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291" y="4233497"/>
            <a:ext cx="3810000" cy="342900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2656740" y="4211244"/>
            <a:ext cx="1739414" cy="3651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067" y="4000134"/>
            <a:ext cx="3686175" cy="1152525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6721717" y="4769922"/>
            <a:ext cx="3028952" cy="3651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27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5-3.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err="1" smtClean="0">
                <a:latin typeface="+mn-ea"/>
              </a:rPr>
              <a:t>doPost</a:t>
            </a:r>
            <a:r>
              <a:rPr lang="en-US" altLang="ko-KR" sz="1600" b="1" dirty="0" smtClean="0">
                <a:latin typeface="+mn-ea"/>
              </a:rPr>
              <a:t>()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- html</a:t>
            </a:r>
            <a:r>
              <a:rPr lang="ko-KR" altLang="en-US" sz="1100" dirty="0" smtClean="0">
                <a:latin typeface="+mn-ea"/>
              </a:rPr>
              <a:t>내 </a:t>
            </a:r>
            <a:r>
              <a:rPr lang="en-US" altLang="ko-KR" sz="1100" dirty="0" smtClean="0">
                <a:latin typeface="+mn-ea"/>
              </a:rPr>
              <a:t>form</a:t>
            </a:r>
            <a:r>
              <a:rPr lang="ko-KR" altLang="en-US" sz="1100" dirty="0" smtClean="0">
                <a:latin typeface="+mn-ea"/>
              </a:rPr>
              <a:t>태그의 </a:t>
            </a:r>
            <a:r>
              <a:rPr lang="en-US" altLang="ko-KR" sz="1100" dirty="0" smtClean="0">
                <a:latin typeface="+mn-ea"/>
              </a:rPr>
              <a:t>method</a:t>
            </a:r>
            <a:r>
              <a:rPr lang="ko-KR" altLang="en-US" sz="1100" dirty="0" smtClean="0">
                <a:latin typeface="+mn-ea"/>
              </a:rPr>
              <a:t>속성이 </a:t>
            </a:r>
            <a:r>
              <a:rPr lang="en-US" altLang="ko-KR" sz="1100" dirty="0" smtClean="0">
                <a:latin typeface="+mn-ea"/>
              </a:rPr>
              <a:t>post</a:t>
            </a:r>
            <a:r>
              <a:rPr lang="ko-KR" altLang="en-US" sz="1100" dirty="0" smtClean="0">
                <a:latin typeface="+mn-ea"/>
              </a:rPr>
              <a:t>일 경우 호출 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(jsp_5_1_ex1_servletex)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872" y="1984614"/>
            <a:ext cx="4675909" cy="261347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41638" y="4680944"/>
            <a:ext cx="11503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smtClean="0">
                <a:latin typeface="+mn-ea"/>
              </a:rPr>
              <a:t>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6244" y="4680944"/>
            <a:ext cx="11503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smtClean="0">
                <a:latin typeface="+mn-ea"/>
              </a:rPr>
              <a:t>Servlet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404" y="2026781"/>
            <a:ext cx="5384380" cy="2322211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2993921" y="3510116"/>
            <a:ext cx="1086465" cy="21631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6912077" y="1984614"/>
            <a:ext cx="639098" cy="2178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/>
          <p:cNvCxnSpPr/>
          <p:nvPr/>
        </p:nvCxnSpPr>
        <p:spPr>
          <a:xfrm flipV="1">
            <a:off x="4178710" y="2202426"/>
            <a:ext cx="2733367" cy="139618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33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5-4.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err="1" smtClean="0">
                <a:latin typeface="+mn-ea"/>
              </a:rPr>
              <a:t>컨텍스트</a:t>
            </a:r>
            <a:r>
              <a:rPr lang="ko-KR" altLang="en-US" sz="1600" b="1" dirty="0" smtClean="0">
                <a:latin typeface="+mn-ea"/>
              </a:rPr>
              <a:t> 패스</a:t>
            </a:r>
            <a:r>
              <a:rPr lang="en-US" altLang="ko-KR" sz="1600" b="1" dirty="0" smtClean="0">
                <a:latin typeface="+mn-ea"/>
              </a:rPr>
              <a:t>(Context Path)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WAS(Web Application Server)</a:t>
            </a:r>
            <a:r>
              <a:rPr lang="ko-KR" altLang="en-US" sz="1100" dirty="0" smtClean="0">
                <a:latin typeface="+mn-ea"/>
              </a:rPr>
              <a:t>에서 </a:t>
            </a:r>
            <a:r>
              <a:rPr lang="ko-KR" altLang="en-US" sz="1100" dirty="0" err="1" smtClean="0">
                <a:latin typeface="+mn-ea"/>
              </a:rPr>
              <a:t>웹어플리케이션을</a:t>
            </a:r>
            <a:r>
              <a:rPr lang="ko-KR" altLang="en-US" sz="1100" dirty="0" smtClean="0">
                <a:latin typeface="+mn-ea"/>
              </a:rPr>
              <a:t> 구분하기 위한 </a:t>
            </a:r>
            <a:r>
              <a:rPr lang="en-US" altLang="ko-KR" sz="1100" dirty="0" smtClean="0">
                <a:latin typeface="+mn-ea"/>
              </a:rPr>
              <a:t>path </a:t>
            </a:r>
            <a:r>
              <a:rPr lang="ko-KR" altLang="en-US" sz="1100" dirty="0" smtClean="0">
                <a:latin typeface="+mn-ea"/>
              </a:rPr>
              <a:t>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err="1" smtClean="0">
                <a:latin typeface="+mn-ea"/>
              </a:rPr>
              <a:t>이클립스에서</a:t>
            </a:r>
            <a:r>
              <a:rPr lang="ko-KR" altLang="en-US" sz="1100" dirty="0" smtClean="0">
                <a:latin typeface="+mn-ea"/>
              </a:rPr>
              <a:t> 프로젝트를 생성하면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자동으로 </a:t>
            </a:r>
            <a:r>
              <a:rPr lang="en-US" altLang="ko-KR" sz="1100" dirty="0" smtClean="0">
                <a:latin typeface="+mn-ea"/>
              </a:rPr>
              <a:t>server.xml</a:t>
            </a:r>
            <a:r>
              <a:rPr lang="ko-KR" altLang="en-US" sz="1100" dirty="0" smtClean="0">
                <a:latin typeface="+mn-ea"/>
              </a:rPr>
              <a:t>에 추가 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50" y="1958960"/>
            <a:ext cx="2200275" cy="15430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929" y="1958960"/>
            <a:ext cx="8356871" cy="3986222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1244054" y="2851355"/>
            <a:ext cx="1086465" cy="21631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3382570" y="5579806"/>
            <a:ext cx="7187107" cy="2212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69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2320</TotalTime>
  <Words>365</Words>
  <Application>Microsoft Office PowerPoint</Application>
  <PresentationFormat>와이드스크린</PresentationFormat>
  <Paragraphs>79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user</cp:lastModifiedBy>
  <cp:revision>567</cp:revision>
  <dcterms:created xsi:type="dcterms:W3CDTF">2014-12-01T08:37:15Z</dcterms:created>
  <dcterms:modified xsi:type="dcterms:W3CDTF">2020-03-30T04:20:55Z</dcterms:modified>
</cp:coreProperties>
</file>