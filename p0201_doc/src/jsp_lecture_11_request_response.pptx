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63" r:id="rId2"/>
    <p:sldId id="285" r:id="rId3"/>
    <p:sldId id="280" r:id="rId4"/>
    <p:sldId id="288" r:id="rId5"/>
    <p:sldId id="283" r:id="rId6"/>
    <p:sldId id="289" r:id="rId7"/>
    <p:sldId id="281" r:id="rId8"/>
    <p:sldId id="286" r:id="rId9"/>
    <p:sldId id="287" r:id="rId10"/>
    <p:sldId id="282" r:id="rId11"/>
    <p:sldId id="284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808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732" y="1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A1ADC-3FB7-40DA-B2DE-355D9B030C78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E344A0-AA20-403B-B262-2ACEA066A2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6920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FE9EB-5882-4F14-9D7A-E43319FAAE5D}" type="datetime1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6641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9BB34-6711-40F2-9C7B-47A61743D4AD}" type="datetime1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6079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E0FF5-5FAF-43AE-9E0C-CC3EA1B81862}" type="datetime1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2311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9AB40-AB99-4455-AC5A-01B404C2C00C}" type="datetime1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2800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C0ECE-794B-4B99-8E02-3BB1152032F2}" type="datetime1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0113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5503B-EE7A-4049-8A0E-70C0A8C6708E}" type="datetime1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8047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CB6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 userDrawn="1"/>
        </p:nvSpPr>
        <p:spPr>
          <a:xfrm>
            <a:off x="-1" y="0"/>
            <a:ext cx="12192001" cy="6381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4024" y="0"/>
            <a:ext cx="1307976" cy="547715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946950">
            <a:off x="912862" y="1501027"/>
            <a:ext cx="906179" cy="864096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</p:pic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4977">
            <a:off x="1431126" y="3918880"/>
            <a:ext cx="1831067" cy="1746032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</p:pic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4977">
            <a:off x="5372299" y="2151620"/>
            <a:ext cx="1131884" cy="107932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</p:pic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4977">
            <a:off x="9650526" y="745965"/>
            <a:ext cx="1131884" cy="107932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</p:pic>
      <p:pic>
        <p:nvPicPr>
          <p:cNvPr id="10" name="그림 9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146778">
            <a:off x="5290847" y="-173034"/>
            <a:ext cx="7554916" cy="7204068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</p:pic>
    </p:spTree>
    <p:extLst>
      <p:ext uri="{BB962C8B-B14F-4D97-AF65-F5344CB8AC3E}">
        <p14:creationId xmlns:p14="http://schemas.microsoft.com/office/powerpoint/2010/main" val="21712575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G:\이재훈책임님\티스타즈PPT_2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clrChange>
              <a:clrFrom>
                <a:srgbClr val="FFFFFE"/>
              </a:clrFrom>
              <a:clrTo>
                <a:srgbClr val="FFFFFE">
                  <a:alpha val="0"/>
                </a:srgbClr>
              </a:clrTo>
            </a:clrChange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986" t="22046" r="10485" b="9758"/>
          <a:stretch/>
        </p:blipFill>
        <p:spPr bwMode="auto">
          <a:xfrm>
            <a:off x="6395633" y="1301858"/>
            <a:ext cx="5796367" cy="5556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 userDrawn="1"/>
        </p:nvSpPr>
        <p:spPr>
          <a:xfrm>
            <a:off x="7950926" y="176272"/>
            <a:ext cx="36295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60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11</a:t>
            </a:r>
            <a:r>
              <a:rPr lang="ko-KR" altLang="en-US" sz="160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강</a:t>
            </a:r>
            <a:r>
              <a:rPr lang="en-US" altLang="ko-KR" sz="160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.</a:t>
            </a:r>
            <a:r>
              <a:rPr lang="en-US" altLang="ko-KR" sz="1600" kern="1200" baseline="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 JSP </a:t>
            </a:r>
            <a:r>
              <a:rPr lang="ko-KR" altLang="en-US" sz="1600" kern="1200" baseline="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본격적으로 살펴보기</a:t>
            </a:r>
            <a:r>
              <a:rPr lang="en-US" altLang="ko-KR" sz="1600" kern="1200" baseline="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-III</a:t>
            </a:r>
            <a:endParaRPr lang="ko-KR" altLang="en-US" sz="1600" dirty="0">
              <a:latin typeface="+mj-ea"/>
              <a:ea typeface="+mj-ea"/>
            </a:endParaRPr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66"/>
            <a:ext cx="1307976" cy="547715"/>
          </a:xfrm>
          <a:prstGeom prst="rect">
            <a:avLst/>
          </a:prstGeom>
        </p:spPr>
      </p:pic>
      <p:sp>
        <p:nvSpPr>
          <p:cNvPr id="9" name="이등변 삼각형 8"/>
          <p:cNvSpPr/>
          <p:nvPr userDrawn="1"/>
        </p:nvSpPr>
        <p:spPr>
          <a:xfrm rot="16200000">
            <a:off x="11611880" y="-31439"/>
            <a:ext cx="548681" cy="611559"/>
          </a:xfrm>
          <a:prstGeom prst="triangle">
            <a:avLst>
              <a:gd name="adj" fmla="val 100000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9E6BA691-BC9B-4A68-9744-1B809170C141}" type="datetime1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12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13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3270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D5985-9155-4A4F-A545-EFF2E5BDFE10}" type="datetime1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52552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E5BE4-290A-4A67-9142-8569AAC90C2F}" type="datetime1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6531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D7AA9-974F-41EE-AA93-9A7D5FC26AF0}" type="datetime1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09547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778F7-13A7-47A7-A538-4854C83EAB76}" type="datetime1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6674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078468-8E36-4528-8629-5ECE6BEC95B9}" type="datetime1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6103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62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9708" y="3500063"/>
            <a:ext cx="44447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spc="-150" dirty="0">
                <a:solidFill>
                  <a:srgbClr val="0070C0"/>
                </a:solidFill>
                <a:latin typeface="+mj-ea"/>
                <a:ea typeface="+mj-ea"/>
              </a:rPr>
              <a:t>11</a:t>
            </a:r>
            <a:r>
              <a:rPr lang="ko-KR" altLang="en-US" sz="2400" spc="-150" dirty="0">
                <a:solidFill>
                  <a:srgbClr val="0070C0"/>
                </a:solidFill>
                <a:latin typeface="+mj-ea"/>
                <a:ea typeface="+mj-ea"/>
              </a:rPr>
              <a:t>강</a:t>
            </a:r>
            <a:r>
              <a:rPr lang="en-US" altLang="ko-KR" sz="2400" spc="-150" dirty="0">
                <a:solidFill>
                  <a:srgbClr val="0070C0"/>
                </a:solidFill>
                <a:latin typeface="+mj-ea"/>
                <a:ea typeface="+mj-ea"/>
              </a:rPr>
              <a:t>. JSP </a:t>
            </a:r>
            <a:r>
              <a:rPr lang="ko-KR" altLang="en-US" sz="2400" spc="-150" dirty="0">
                <a:solidFill>
                  <a:srgbClr val="0070C0"/>
                </a:solidFill>
                <a:latin typeface="+mj-ea"/>
                <a:ea typeface="+mj-ea"/>
              </a:rPr>
              <a:t>본격적으로 살펴보기</a:t>
            </a:r>
            <a:r>
              <a:rPr lang="en-US" altLang="ko-KR" sz="2400" spc="-150" dirty="0">
                <a:solidFill>
                  <a:srgbClr val="0070C0"/>
                </a:solidFill>
                <a:latin typeface="+mj-ea"/>
                <a:ea typeface="+mj-ea"/>
              </a:rPr>
              <a:t>-III</a:t>
            </a:r>
            <a:endParaRPr lang="ko-KR" altLang="en-US" sz="2400" spc="-150" dirty="0">
              <a:solidFill>
                <a:srgbClr val="0070C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9808570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>
                <a:solidFill>
                  <a:schemeClr val="tx1"/>
                </a:solidFill>
                <a:effectLst/>
                <a:latin typeface="+mn-ea"/>
                <a:ea typeface="+mn-ea"/>
              </a:rPr>
              <a:t>1.</a:t>
            </a:r>
            <a:r>
              <a:rPr lang="en-US" altLang="ko-KR" sz="1600" b="1" kern="1200" baseline="0" dirty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en-US" altLang="ko-KR" sz="1600" b="1" dirty="0">
                <a:latin typeface="+mn-ea"/>
              </a:rPr>
              <a:t>JSP </a:t>
            </a:r>
            <a:r>
              <a:rPr lang="ko-KR" altLang="en-US" sz="1600" b="1" dirty="0">
                <a:latin typeface="+mn-ea"/>
              </a:rPr>
              <a:t>내부 객체</a:t>
            </a:r>
            <a:endParaRPr lang="ko-KR" altLang="en-US" sz="1600" b="1" dirty="0">
              <a:latin typeface="+mn-ea"/>
              <a:ea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2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77008" y="1116906"/>
            <a:ext cx="1067679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latin typeface="+mn-ea"/>
              </a:rPr>
              <a:t>개발자가 객체를 생성하지 않고 바로 사용할 수 있는 객체가 내부객체 입니다</a:t>
            </a:r>
            <a:r>
              <a:rPr lang="en-US" altLang="ko-KR" sz="1100" dirty="0">
                <a:latin typeface="+mn-ea"/>
              </a:rPr>
              <a:t>.</a:t>
            </a:r>
          </a:p>
          <a:p>
            <a:r>
              <a:rPr lang="en-US" altLang="ko-KR" sz="1100" dirty="0">
                <a:latin typeface="+mn-ea"/>
              </a:rPr>
              <a:t>JSP</a:t>
            </a:r>
            <a:r>
              <a:rPr lang="ko-KR" altLang="en-US" sz="1100" dirty="0">
                <a:latin typeface="+mn-ea"/>
              </a:rPr>
              <a:t>에서 제공되는 내부객체는 </a:t>
            </a:r>
            <a:r>
              <a:rPr lang="en-US" altLang="ko-KR" sz="1100" dirty="0">
                <a:latin typeface="+mn-ea"/>
              </a:rPr>
              <a:t>JSP</a:t>
            </a:r>
            <a:r>
              <a:rPr lang="ko-KR" altLang="en-US" sz="1100" dirty="0">
                <a:latin typeface="+mn-ea"/>
              </a:rPr>
              <a:t>컨테이너에 의해 </a:t>
            </a:r>
            <a:r>
              <a:rPr lang="en-US" altLang="ko-KR" sz="1100" dirty="0">
                <a:latin typeface="+mn-ea"/>
              </a:rPr>
              <a:t>Servlet</a:t>
            </a:r>
            <a:r>
              <a:rPr lang="ko-KR" altLang="en-US" sz="1100" dirty="0">
                <a:latin typeface="+mn-ea"/>
              </a:rPr>
              <a:t>으로 변화될 때 자동으로 객체가 생성 됩니다</a:t>
            </a:r>
            <a:r>
              <a:rPr lang="en-US" altLang="ko-KR" sz="1100" dirty="0">
                <a:latin typeface="+mn-ea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7008" y="2416853"/>
            <a:ext cx="106767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+mn-ea"/>
              </a:rPr>
              <a:t>입출력 객체 </a:t>
            </a:r>
            <a:r>
              <a:rPr lang="en-US" altLang="ko-KR" dirty="0">
                <a:latin typeface="+mn-ea"/>
              </a:rPr>
              <a:t>: request, response, out</a:t>
            </a:r>
          </a:p>
          <a:p>
            <a:r>
              <a:rPr lang="ko-KR" altLang="en-US" dirty="0" err="1">
                <a:latin typeface="+mn-ea"/>
              </a:rPr>
              <a:t>서블릿</a:t>
            </a:r>
            <a:r>
              <a:rPr lang="ko-KR" altLang="en-US" dirty="0">
                <a:latin typeface="+mn-ea"/>
              </a:rPr>
              <a:t> 객체 </a:t>
            </a:r>
            <a:r>
              <a:rPr lang="en-US" altLang="ko-KR" dirty="0">
                <a:latin typeface="+mn-ea"/>
              </a:rPr>
              <a:t>: page, </a:t>
            </a:r>
            <a:r>
              <a:rPr lang="en-US" altLang="ko-KR" dirty="0" err="1">
                <a:latin typeface="+mn-ea"/>
              </a:rPr>
              <a:t>config</a:t>
            </a:r>
            <a:endParaRPr lang="en-US" altLang="ko-KR" dirty="0">
              <a:latin typeface="+mn-ea"/>
            </a:endParaRPr>
          </a:p>
          <a:p>
            <a:r>
              <a:rPr lang="ko-KR" altLang="en-US" dirty="0">
                <a:latin typeface="+mn-ea"/>
              </a:rPr>
              <a:t>세션 객체 </a:t>
            </a:r>
            <a:r>
              <a:rPr lang="en-US" altLang="ko-KR" dirty="0">
                <a:latin typeface="+mn-ea"/>
              </a:rPr>
              <a:t>: session</a:t>
            </a:r>
          </a:p>
          <a:p>
            <a:r>
              <a:rPr lang="ko-KR" altLang="en-US" dirty="0">
                <a:latin typeface="+mn-ea"/>
              </a:rPr>
              <a:t>예외 객체 </a:t>
            </a:r>
            <a:r>
              <a:rPr lang="en-US" altLang="ko-KR" dirty="0">
                <a:latin typeface="+mn-ea"/>
              </a:rPr>
              <a:t>: exception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7008" y="2001559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latin typeface="+mn-ea"/>
              </a:rPr>
              <a:t>내부 객체 종류</a:t>
            </a:r>
            <a:endParaRPr lang="en-US" altLang="ko-KR" sz="1100" dirty="0">
              <a:latin typeface="+mn-ea"/>
            </a:endParaRPr>
          </a:p>
        </p:txBody>
      </p:sp>
      <p:cxnSp>
        <p:nvCxnSpPr>
          <p:cNvPr id="8" name="직선 연결선 7"/>
          <p:cNvCxnSpPr/>
          <p:nvPr/>
        </p:nvCxnSpPr>
        <p:spPr>
          <a:xfrm>
            <a:off x="745832" y="2255040"/>
            <a:ext cx="9932000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52745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>
                <a:solidFill>
                  <a:schemeClr val="tx1"/>
                </a:solidFill>
                <a:effectLst/>
                <a:latin typeface="+mn-ea"/>
                <a:ea typeface="+mn-ea"/>
              </a:rPr>
              <a:t>2.</a:t>
            </a:r>
            <a:r>
              <a:rPr lang="en-US" altLang="ko-KR" sz="1600" b="1" kern="1200" baseline="0" dirty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en-US" altLang="ko-KR" sz="1600" b="1" dirty="0">
                <a:latin typeface="+mn-ea"/>
              </a:rPr>
              <a:t>request </a:t>
            </a:r>
            <a:r>
              <a:rPr lang="ko-KR" altLang="en-US" sz="1600" b="1" dirty="0">
                <a:latin typeface="+mn-ea"/>
              </a:rPr>
              <a:t>객체의 이해</a:t>
            </a:r>
            <a:endParaRPr lang="ko-KR" altLang="en-US" sz="1600" b="1" dirty="0">
              <a:latin typeface="+mn-ea"/>
              <a:ea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3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77008" y="1159636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err="1">
                <a:latin typeface="+mn-ea"/>
              </a:rPr>
              <a:t>웹브라우저를</a:t>
            </a:r>
            <a:r>
              <a:rPr lang="ko-KR" altLang="en-US" sz="1100" dirty="0">
                <a:latin typeface="+mn-ea"/>
              </a:rPr>
              <a:t> 통해 서버에 어떤 </a:t>
            </a:r>
            <a:r>
              <a:rPr lang="ko-KR" altLang="en-US" sz="1100">
                <a:latin typeface="+mn-ea"/>
              </a:rPr>
              <a:t>정보를 요청하는 것을 </a:t>
            </a:r>
            <a:r>
              <a:rPr lang="en-US" altLang="ko-KR" sz="1100" dirty="0">
                <a:latin typeface="+mn-ea"/>
              </a:rPr>
              <a:t>request</a:t>
            </a:r>
            <a:r>
              <a:rPr lang="ko-KR" altLang="en-US" sz="1100" dirty="0">
                <a:latin typeface="+mn-ea"/>
              </a:rPr>
              <a:t>라고 합니다</a:t>
            </a:r>
            <a:r>
              <a:rPr lang="en-US" altLang="ko-KR" sz="1100" dirty="0">
                <a:latin typeface="+mn-ea"/>
              </a:rPr>
              <a:t>. </a:t>
            </a:r>
            <a:r>
              <a:rPr lang="ko-KR" altLang="en-US" sz="1100" dirty="0">
                <a:latin typeface="+mn-ea"/>
              </a:rPr>
              <a:t>그리고 이러한 요청 정보는 </a:t>
            </a:r>
            <a:r>
              <a:rPr lang="en-US" altLang="ko-KR" sz="1100" dirty="0">
                <a:latin typeface="+mn-ea"/>
              </a:rPr>
              <a:t>request</a:t>
            </a:r>
            <a:r>
              <a:rPr lang="ko-KR" altLang="en-US" sz="1100" dirty="0">
                <a:latin typeface="+mn-ea"/>
              </a:rPr>
              <a:t>객체가 관리 합니다</a:t>
            </a:r>
            <a:r>
              <a:rPr lang="en-US" altLang="ko-KR" sz="1100" dirty="0">
                <a:latin typeface="+mn-ea"/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7008" y="4122123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latin typeface="+mn-ea"/>
              </a:rPr>
              <a:t>Request</a:t>
            </a:r>
            <a:r>
              <a:rPr lang="ko-KR" altLang="en-US" sz="1100" dirty="0">
                <a:latin typeface="+mn-ea"/>
              </a:rPr>
              <a:t>객체 관련 </a:t>
            </a:r>
            <a:r>
              <a:rPr lang="ko-KR" altLang="en-US" sz="1100" dirty="0" err="1">
                <a:latin typeface="+mn-ea"/>
              </a:rPr>
              <a:t>메소드</a:t>
            </a:r>
            <a:r>
              <a:rPr lang="en-US" altLang="ko-KR" sz="1100" dirty="0">
                <a:latin typeface="+mn-ea"/>
              </a:rPr>
              <a:t>((jsp_11_1_ex1_requestobj)</a:t>
            </a:r>
          </a:p>
        </p:txBody>
      </p:sp>
      <p:cxnSp>
        <p:nvCxnSpPr>
          <p:cNvPr id="9" name="직선 연결선 8"/>
          <p:cNvCxnSpPr/>
          <p:nvPr/>
        </p:nvCxnSpPr>
        <p:spPr>
          <a:xfrm>
            <a:off x="730798" y="4388905"/>
            <a:ext cx="10089604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30798" y="4394078"/>
            <a:ext cx="10089604" cy="1954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err="1">
                <a:latin typeface="+mn-ea"/>
              </a:rPr>
              <a:t>getContextPath</a:t>
            </a:r>
            <a:r>
              <a:rPr lang="en-US" altLang="ko-KR" sz="1100" dirty="0">
                <a:latin typeface="+mn-ea"/>
              </a:rPr>
              <a:t>() : </a:t>
            </a:r>
            <a:r>
              <a:rPr lang="ko-KR" altLang="en-US" sz="1100" dirty="0">
                <a:latin typeface="+mn-ea"/>
              </a:rPr>
              <a:t>웹어플리케이션의 컨텍스트 패스를 얻습니다</a:t>
            </a:r>
            <a:r>
              <a:rPr lang="en-US" altLang="ko-KR" sz="1100" dirty="0">
                <a:latin typeface="+mn-ea"/>
              </a:rPr>
              <a:t>.</a:t>
            </a:r>
          </a:p>
          <a:p>
            <a:r>
              <a:rPr lang="en-US" altLang="ko-KR" sz="1100" dirty="0" err="1">
                <a:latin typeface="+mn-ea"/>
              </a:rPr>
              <a:t>getServerName</a:t>
            </a:r>
            <a:r>
              <a:rPr lang="en-US" altLang="ko-KR" sz="1100" dirty="0">
                <a:latin typeface="+mn-ea"/>
              </a:rPr>
              <a:t>() : </a:t>
            </a:r>
            <a:r>
              <a:rPr lang="ko-KR" altLang="en-US" sz="1100" dirty="0">
                <a:latin typeface="+mn-ea"/>
              </a:rPr>
              <a:t>서버의 이름을 얻습니다</a:t>
            </a:r>
            <a:r>
              <a:rPr lang="en-US" altLang="ko-KR" sz="1100" dirty="0">
                <a:latin typeface="+mn-ea"/>
              </a:rPr>
              <a:t>.</a:t>
            </a:r>
          </a:p>
          <a:p>
            <a:r>
              <a:rPr lang="en-US" altLang="ko-KR" sz="1100" dirty="0" err="1">
                <a:latin typeface="+mn-ea"/>
              </a:rPr>
              <a:t>getServerPort</a:t>
            </a:r>
            <a:r>
              <a:rPr lang="en-US" altLang="ko-KR" sz="1100" dirty="0">
                <a:latin typeface="+mn-ea"/>
              </a:rPr>
              <a:t>() : </a:t>
            </a:r>
            <a:r>
              <a:rPr lang="ko-KR" altLang="en-US" sz="1100" dirty="0">
                <a:latin typeface="+mn-ea"/>
              </a:rPr>
              <a:t>포트번호를 얻습니다</a:t>
            </a:r>
            <a:r>
              <a:rPr lang="en-US" altLang="ko-KR" sz="1100" dirty="0">
                <a:latin typeface="+mn-ea"/>
              </a:rPr>
              <a:t>.</a:t>
            </a:r>
          </a:p>
          <a:p>
            <a:r>
              <a:rPr lang="en-US" altLang="ko-KR" sz="1100" dirty="0" err="1">
                <a:latin typeface="+mn-ea"/>
              </a:rPr>
              <a:t>getMethod</a:t>
            </a:r>
            <a:r>
              <a:rPr lang="en-US" altLang="ko-KR" sz="1100" dirty="0">
                <a:latin typeface="+mn-ea"/>
              </a:rPr>
              <a:t>() : get</a:t>
            </a:r>
            <a:r>
              <a:rPr lang="ko-KR" altLang="en-US" sz="1100" dirty="0">
                <a:latin typeface="+mn-ea"/>
              </a:rPr>
              <a:t>방식과 </a:t>
            </a:r>
            <a:r>
              <a:rPr lang="en-US" altLang="ko-KR" sz="1100" dirty="0">
                <a:latin typeface="+mn-ea"/>
              </a:rPr>
              <a:t>post</a:t>
            </a:r>
            <a:r>
              <a:rPr lang="ko-KR" altLang="en-US" sz="1100" dirty="0">
                <a:latin typeface="+mn-ea"/>
              </a:rPr>
              <a:t>방식을 구분할 수 있습니다</a:t>
            </a:r>
            <a:r>
              <a:rPr lang="en-US" altLang="ko-KR" sz="1100" dirty="0">
                <a:latin typeface="+mn-ea"/>
              </a:rPr>
              <a:t>.</a:t>
            </a:r>
          </a:p>
          <a:p>
            <a:r>
              <a:rPr lang="en-US" altLang="ko-KR" sz="1100" dirty="0" err="1">
                <a:latin typeface="+mn-ea"/>
              </a:rPr>
              <a:t>getSession</a:t>
            </a:r>
            <a:r>
              <a:rPr lang="en-US" altLang="ko-KR" sz="1100" dirty="0">
                <a:latin typeface="+mn-ea"/>
              </a:rPr>
              <a:t>() : </a:t>
            </a:r>
            <a:r>
              <a:rPr lang="ko-KR" altLang="en-US" sz="1100" dirty="0">
                <a:latin typeface="+mn-ea"/>
              </a:rPr>
              <a:t>세션 객체를 얻습니다</a:t>
            </a:r>
            <a:r>
              <a:rPr lang="en-US" altLang="ko-KR" sz="1100" dirty="0">
                <a:latin typeface="+mn-ea"/>
              </a:rPr>
              <a:t>.</a:t>
            </a:r>
          </a:p>
          <a:p>
            <a:r>
              <a:rPr lang="en-US" altLang="ko-KR" sz="1100" dirty="0" err="1">
                <a:latin typeface="+mn-ea"/>
              </a:rPr>
              <a:t>getProtocol</a:t>
            </a:r>
            <a:r>
              <a:rPr lang="en-US" altLang="ko-KR" sz="1100" dirty="0">
                <a:latin typeface="+mn-ea"/>
              </a:rPr>
              <a:t>() : </a:t>
            </a:r>
            <a:r>
              <a:rPr lang="ko-KR" altLang="en-US" sz="1100" dirty="0">
                <a:latin typeface="+mn-ea"/>
              </a:rPr>
              <a:t>해당 프로토콜을 얻습니다</a:t>
            </a:r>
            <a:r>
              <a:rPr lang="en-US" altLang="ko-KR" sz="1100" dirty="0">
                <a:latin typeface="+mn-ea"/>
              </a:rPr>
              <a:t>.</a:t>
            </a:r>
          </a:p>
          <a:p>
            <a:r>
              <a:rPr lang="en-US" altLang="ko-KR" sz="1100" dirty="0" err="1">
                <a:latin typeface="+mn-ea"/>
              </a:rPr>
              <a:t>getRequestURL</a:t>
            </a:r>
            <a:r>
              <a:rPr lang="en-US" altLang="ko-KR" sz="1100" dirty="0">
                <a:latin typeface="+mn-ea"/>
              </a:rPr>
              <a:t>() : </a:t>
            </a:r>
            <a:r>
              <a:rPr lang="ko-KR" altLang="en-US" sz="1100" dirty="0">
                <a:latin typeface="+mn-ea"/>
              </a:rPr>
              <a:t>요청 </a:t>
            </a:r>
            <a:r>
              <a:rPr lang="en-US" altLang="ko-KR" sz="1100" dirty="0">
                <a:latin typeface="+mn-ea"/>
              </a:rPr>
              <a:t>URL</a:t>
            </a:r>
            <a:r>
              <a:rPr lang="ko-KR" altLang="en-US" sz="1100" dirty="0">
                <a:latin typeface="+mn-ea"/>
              </a:rPr>
              <a:t>를 얻습니다</a:t>
            </a:r>
            <a:r>
              <a:rPr lang="en-US" altLang="ko-KR" sz="1100" dirty="0">
                <a:latin typeface="+mn-ea"/>
              </a:rPr>
              <a:t>.</a:t>
            </a:r>
          </a:p>
          <a:p>
            <a:r>
              <a:rPr lang="en-US" altLang="ko-KR" sz="1100" dirty="0" err="1">
                <a:latin typeface="+mn-ea"/>
              </a:rPr>
              <a:t>getRequestURI</a:t>
            </a:r>
            <a:r>
              <a:rPr lang="en-US" altLang="ko-KR" sz="1100" dirty="0">
                <a:latin typeface="+mn-ea"/>
              </a:rPr>
              <a:t>() : </a:t>
            </a:r>
            <a:r>
              <a:rPr lang="ko-KR" altLang="en-US" sz="1100" dirty="0">
                <a:latin typeface="+mn-ea"/>
              </a:rPr>
              <a:t>요청 </a:t>
            </a:r>
            <a:r>
              <a:rPr lang="en-US" altLang="ko-KR" sz="1100" dirty="0">
                <a:latin typeface="+mn-ea"/>
              </a:rPr>
              <a:t>URI</a:t>
            </a:r>
            <a:r>
              <a:rPr lang="ko-KR" altLang="en-US" sz="1100" dirty="0">
                <a:latin typeface="+mn-ea"/>
              </a:rPr>
              <a:t>를 얻습니다</a:t>
            </a:r>
            <a:r>
              <a:rPr lang="en-US" altLang="ko-KR" sz="1100" dirty="0">
                <a:latin typeface="+mn-ea"/>
              </a:rPr>
              <a:t>.</a:t>
            </a:r>
          </a:p>
          <a:p>
            <a:r>
              <a:rPr lang="en-US" altLang="ko-KR" sz="1100" dirty="0" err="1">
                <a:latin typeface="+mn-ea"/>
              </a:rPr>
              <a:t>getQueryString</a:t>
            </a:r>
            <a:r>
              <a:rPr lang="en-US" altLang="ko-KR" sz="1100" dirty="0">
                <a:latin typeface="+mn-ea"/>
              </a:rPr>
              <a:t>() : </a:t>
            </a:r>
            <a:r>
              <a:rPr lang="ko-KR" altLang="en-US" sz="1100" dirty="0">
                <a:latin typeface="+mn-ea"/>
              </a:rPr>
              <a:t>쿼리스트링을 얻습니다</a:t>
            </a:r>
            <a:r>
              <a:rPr lang="en-US" altLang="ko-KR" sz="1100" dirty="0">
                <a:latin typeface="+mn-ea"/>
              </a:rPr>
              <a:t>.</a:t>
            </a:r>
          </a:p>
          <a:p>
            <a:endParaRPr lang="en-US" altLang="ko-KR" sz="1100" dirty="0">
              <a:latin typeface="+mn-ea"/>
            </a:endParaRPr>
          </a:p>
          <a:p>
            <a:r>
              <a:rPr lang="en-US" altLang="ko-KR" sz="1100" dirty="0" err="1">
                <a:latin typeface="+mn-ea"/>
              </a:rPr>
              <a:t>getRemoteAddr</a:t>
            </a:r>
            <a:r>
              <a:rPr lang="en-US" altLang="ko-KR" sz="1100" dirty="0">
                <a:latin typeface="+mn-ea"/>
              </a:rPr>
              <a:t>() : </a:t>
            </a:r>
            <a:r>
              <a:rPr lang="ko-KR" altLang="en-US" sz="1100" dirty="0" err="1">
                <a:latin typeface="+mn-ea"/>
              </a:rPr>
              <a:t>웹서버에</a:t>
            </a:r>
            <a:r>
              <a:rPr lang="ko-KR" altLang="en-US" sz="1100" dirty="0">
                <a:latin typeface="+mn-ea"/>
              </a:rPr>
              <a:t> 연결한 클라이언트 </a:t>
            </a:r>
            <a:r>
              <a:rPr lang="en-US" altLang="ko-KR" sz="1100" dirty="0" err="1">
                <a:latin typeface="+mn-ea"/>
              </a:rPr>
              <a:t>ip</a:t>
            </a:r>
            <a:r>
              <a:rPr lang="ko-KR" altLang="en-US" sz="1100" dirty="0">
                <a:latin typeface="+mn-ea"/>
              </a:rPr>
              <a:t>주소를 얻습니다</a:t>
            </a:r>
            <a:r>
              <a:rPr lang="en-US" altLang="ko-KR" sz="1100" dirty="0">
                <a:latin typeface="+mn-ea"/>
              </a:rPr>
              <a:t>.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1958109" y="1905249"/>
            <a:ext cx="2613891" cy="17179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웹브라우저</a:t>
            </a:r>
            <a:endParaRPr lang="en-US" altLang="ko-KR" dirty="0"/>
          </a:p>
          <a:p>
            <a:pPr algn="ctr"/>
            <a:r>
              <a:rPr lang="en-US" altLang="ko-KR" dirty="0"/>
              <a:t>(</a:t>
            </a:r>
            <a:r>
              <a:rPr lang="ko-KR" altLang="en-US" dirty="0"/>
              <a:t>클라이언트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3" name="직사각형 12"/>
          <p:cNvSpPr/>
          <p:nvPr/>
        </p:nvSpPr>
        <p:spPr>
          <a:xfrm>
            <a:off x="7208982" y="1905249"/>
            <a:ext cx="2613891" cy="17179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서버</a:t>
            </a:r>
          </a:p>
        </p:txBody>
      </p:sp>
      <p:cxnSp>
        <p:nvCxnSpPr>
          <p:cNvPr id="11" name="직선 화살표 연결선 10"/>
          <p:cNvCxnSpPr/>
          <p:nvPr/>
        </p:nvCxnSpPr>
        <p:spPr>
          <a:xfrm>
            <a:off x="4913745" y="2276833"/>
            <a:ext cx="19119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185050" y="2302302"/>
            <a:ext cx="11811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>
                <a:latin typeface="+mn-ea"/>
              </a:rPr>
              <a:t>Request</a:t>
            </a:r>
          </a:p>
        </p:txBody>
      </p:sp>
      <p:cxnSp>
        <p:nvCxnSpPr>
          <p:cNvPr id="17" name="직선 화살표 연결선 16"/>
          <p:cNvCxnSpPr/>
          <p:nvPr/>
        </p:nvCxnSpPr>
        <p:spPr>
          <a:xfrm flipH="1">
            <a:off x="4913745" y="3235708"/>
            <a:ext cx="19119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185050" y="3235708"/>
            <a:ext cx="11811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>
                <a:latin typeface="+mn-ea"/>
              </a:rPr>
              <a:t>Response</a:t>
            </a:r>
          </a:p>
        </p:txBody>
      </p:sp>
      <p:pic>
        <p:nvPicPr>
          <p:cNvPr id="21" name="그림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0977" y="4475488"/>
            <a:ext cx="4494140" cy="168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9629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atin typeface="+mn-ea"/>
              </a:rPr>
              <a:t>3. request </a:t>
            </a:r>
            <a:r>
              <a:rPr lang="ko-KR" altLang="en-US" sz="1600" b="1" dirty="0">
                <a:latin typeface="+mn-ea"/>
              </a:rPr>
              <a:t>객체 </a:t>
            </a:r>
            <a:r>
              <a:rPr lang="en-US" altLang="ko-KR" sz="1600" b="1" dirty="0">
                <a:latin typeface="+mn-ea"/>
              </a:rPr>
              <a:t>- </a:t>
            </a:r>
            <a:r>
              <a:rPr lang="ko-KR" altLang="en-US" sz="1600" b="1" dirty="0" err="1">
                <a:latin typeface="+mn-ea"/>
              </a:rPr>
              <a:t>메소드</a:t>
            </a:r>
            <a:endParaRPr lang="ko-KR" altLang="en-US" sz="1600" b="1" dirty="0">
              <a:latin typeface="+mn-ea"/>
              <a:ea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4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77008" y="1116906"/>
            <a:ext cx="1067679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latin typeface="+mn-ea"/>
              </a:rPr>
              <a:t>개발자가 객체를 생성하지 않고 바로 사용할 수 있는 객체가 내부객체 입니다</a:t>
            </a:r>
            <a:r>
              <a:rPr lang="en-US" altLang="ko-KR" sz="1100" dirty="0">
                <a:latin typeface="+mn-ea"/>
              </a:rPr>
              <a:t>.</a:t>
            </a:r>
          </a:p>
          <a:p>
            <a:r>
              <a:rPr lang="en-US" altLang="ko-KR" sz="1100" dirty="0">
                <a:latin typeface="+mn-ea"/>
              </a:rPr>
              <a:t>JSP</a:t>
            </a:r>
            <a:r>
              <a:rPr lang="ko-KR" altLang="en-US" sz="1100" dirty="0">
                <a:latin typeface="+mn-ea"/>
              </a:rPr>
              <a:t>에서 제공되는 내부객체는 </a:t>
            </a:r>
            <a:r>
              <a:rPr lang="en-US" altLang="ko-KR" sz="1100" dirty="0">
                <a:latin typeface="+mn-ea"/>
              </a:rPr>
              <a:t>JSP</a:t>
            </a:r>
            <a:r>
              <a:rPr lang="ko-KR" altLang="en-US" sz="1100" dirty="0">
                <a:latin typeface="+mn-ea"/>
              </a:rPr>
              <a:t>컨테이너에 의해 </a:t>
            </a:r>
            <a:r>
              <a:rPr lang="en-US" altLang="ko-KR" sz="1100" dirty="0">
                <a:latin typeface="+mn-ea"/>
              </a:rPr>
              <a:t>Servlet</a:t>
            </a:r>
            <a:r>
              <a:rPr lang="ko-KR" altLang="en-US" sz="1100" dirty="0">
                <a:latin typeface="+mn-ea"/>
              </a:rPr>
              <a:t>으로 변화될 때 자동으로 객체가 생성 됩니다</a:t>
            </a:r>
            <a:r>
              <a:rPr lang="en-US" altLang="ko-KR" sz="1100" dirty="0">
                <a:latin typeface="+mn-ea"/>
              </a:rPr>
              <a:t>.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5716727"/>
              </p:ext>
            </p:extLst>
          </p:nvPr>
        </p:nvGraphicFramePr>
        <p:xfrm>
          <a:off x="829733" y="2187574"/>
          <a:ext cx="8729134" cy="4351338"/>
        </p:xfrm>
        <a:graphic>
          <a:graphicData uri="http://schemas.openxmlformats.org/drawingml/2006/table">
            <a:tbl>
              <a:tblPr/>
              <a:tblGrid>
                <a:gridCol w="1970962">
                  <a:extLst>
                    <a:ext uri="{9D8B030D-6E8A-4147-A177-3AD203B41FA5}">
                      <a16:colId xmlns:a16="http://schemas.microsoft.com/office/drawing/2014/main" val="2258869605"/>
                    </a:ext>
                  </a:extLst>
                </a:gridCol>
                <a:gridCol w="6758172">
                  <a:extLst>
                    <a:ext uri="{9D8B030D-6E8A-4147-A177-3AD203B41FA5}">
                      <a16:colId xmlns:a16="http://schemas.microsoft.com/office/drawing/2014/main" val="2599316441"/>
                    </a:ext>
                  </a:extLst>
                </a:gridCol>
              </a:tblGrid>
              <a:tr h="422460">
                <a:tc>
                  <a:txBody>
                    <a:bodyPr/>
                    <a:lstStyle/>
                    <a:p>
                      <a:pPr algn="l"/>
                      <a:r>
                        <a:rPr lang="en-US" sz="1050" dirty="0" err="1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getRemoteAddr</a:t>
                      </a:r>
                      <a:r>
                        <a:rPr lang="en-US" sz="1050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()</a:t>
                      </a:r>
                      <a:endParaRPr lang="en-US" sz="1050" dirty="0">
                        <a:solidFill>
                          <a:srgbClr val="666666"/>
                        </a:solidFill>
                        <a:effectLst/>
                        <a:latin typeface="Helvetica Neue"/>
                      </a:endParaRPr>
                    </a:p>
                  </a:txBody>
                  <a:tcPr marL="42246" marR="42246" marT="21123" marB="2112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50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  클라이언트의 </a:t>
                      </a:r>
                      <a:r>
                        <a:rPr lang="en-US" altLang="ko-KR" sz="1050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IP</a:t>
                      </a:r>
                      <a:r>
                        <a:rPr lang="ko-KR" altLang="en-US" sz="1050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주소 </a:t>
                      </a:r>
                      <a:r>
                        <a:rPr lang="en-US" altLang="ko-KR" sz="1050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/ </a:t>
                      </a:r>
                      <a:r>
                        <a:rPr lang="ko-KR" altLang="en-US" sz="1050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리턴 타입 </a:t>
                      </a:r>
                      <a:r>
                        <a:rPr lang="en-US" altLang="ko-KR" sz="1050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: String</a:t>
                      </a:r>
                      <a:endParaRPr lang="ko-KR" altLang="en-US" sz="1050" dirty="0">
                        <a:solidFill>
                          <a:srgbClr val="666666"/>
                        </a:solidFill>
                        <a:effectLst/>
                        <a:latin typeface="Helvetica Neue"/>
                      </a:endParaRPr>
                    </a:p>
                  </a:txBody>
                  <a:tcPr marL="42246" marR="42246" marT="21123" marB="21123" anchor="ctr">
                    <a:lnL w="12700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3431111"/>
                  </a:ext>
                </a:extLst>
              </a:tr>
              <a:tr h="422460">
                <a:tc>
                  <a:txBody>
                    <a:bodyPr/>
                    <a:lstStyle/>
                    <a:p>
                      <a:pPr algn="l"/>
                      <a:r>
                        <a:rPr lang="en-US" sz="1050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 </a:t>
                      </a:r>
                      <a:r>
                        <a:rPr lang="en-US" sz="1050" dirty="0" err="1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getContentLength</a:t>
                      </a:r>
                      <a:r>
                        <a:rPr lang="en-US" sz="1050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()</a:t>
                      </a:r>
                      <a:endParaRPr lang="en-US" sz="1050" dirty="0">
                        <a:solidFill>
                          <a:srgbClr val="666666"/>
                        </a:solidFill>
                        <a:effectLst/>
                        <a:latin typeface="Helvetica Neue"/>
                      </a:endParaRPr>
                    </a:p>
                  </a:txBody>
                  <a:tcPr marL="42246" marR="42246" marT="21123" marB="21123" anchor="ctr">
                    <a:lnL w="9525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50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  클라이언트 요청 정보의 길이</a:t>
                      </a:r>
                      <a:r>
                        <a:rPr lang="en-US" altLang="ko-KR" sz="1050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. </a:t>
                      </a:r>
                      <a:r>
                        <a:rPr lang="ko-KR" altLang="en-US" sz="1050" dirty="0" err="1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알수</a:t>
                      </a:r>
                      <a:r>
                        <a:rPr lang="ko-KR" altLang="en-US" sz="1050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 없는 경우 </a:t>
                      </a:r>
                      <a:r>
                        <a:rPr lang="en-US" altLang="ko-KR" sz="1050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-1 </a:t>
                      </a:r>
                      <a:r>
                        <a:rPr lang="ko-KR" altLang="en-US" sz="1050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리턴 </a:t>
                      </a:r>
                      <a:r>
                        <a:rPr lang="en-US" altLang="ko-KR" sz="1050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/ </a:t>
                      </a:r>
                      <a:r>
                        <a:rPr lang="ko-KR" altLang="en-US" sz="1050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리턴 타입 </a:t>
                      </a:r>
                      <a:r>
                        <a:rPr lang="en-US" altLang="ko-KR" sz="1050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: long</a:t>
                      </a:r>
                      <a:endParaRPr lang="ko-KR" altLang="en-US" sz="1050" dirty="0">
                        <a:solidFill>
                          <a:srgbClr val="666666"/>
                        </a:solidFill>
                        <a:effectLst/>
                        <a:latin typeface="Helvetica Neue"/>
                      </a:endParaRPr>
                    </a:p>
                  </a:txBody>
                  <a:tcPr marL="42246" marR="42246" marT="21123" marB="21123" anchor="ctr">
                    <a:lnL w="12700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0761410"/>
                  </a:ext>
                </a:extLst>
              </a:tr>
              <a:tr h="549198">
                <a:tc>
                  <a:txBody>
                    <a:bodyPr/>
                    <a:lstStyle/>
                    <a:p>
                      <a:pPr algn="l"/>
                      <a:r>
                        <a:rPr lang="en-US" sz="1050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 </a:t>
                      </a:r>
                      <a:r>
                        <a:rPr lang="en-US" sz="1050" dirty="0" err="1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getCharacterEncoding</a:t>
                      </a:r>
                      <a:r>
                        <a:rPr lang="en-US" sz="1050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()</a:t>
                      </a:r>
                      <a:endParaRPr lang="en-US" sz="1050" dirty="0">
                        <a:solidFill>
                          <a:srgbClr val="666666"/>
                        </a:solidFill>
                        <a:effectLst/>
                        <a:latin typeface="Helvetica Neue"/>
                      </a:endParaRPr>
                    </a:p>
                  </a:txBody>
                  <a:tcPr marL="42246" marR="42246" marT="21123" marB="21123" anchor="ctr">
                    <a:lnL w="9525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50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  클라이언트가 요청정보를 전송할 때 사용한 캐릭터의 </a:t>
                      </a:r>
                      <a:r>
                        <a:rPr lang="ko-KR" altLang="en-US" sz="1050" dirty="0" err="1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인코딩</a:t>
                      </a:r>
                      <a:r>
                        <a:rPr lang="ko-KR" altLang="en-US" sz="1050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 </a:t>
                      </a:r>
                      <a:r>
                        <a:rPr lang="en-US" altLang="ko-KR" sz="1050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/ </a:t>
                      </a:r>
                      <a:r>
                        <a:rPr lang="ko-KR" altLang="en-US" sz="1050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리턴 타입 </a:t>
                      </a:r>
                      <a:r>
                        <a:rPr lang="en-US" altLang="ko-KR" sz="1050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: String</a:t>
                      </a:r>
                      <a:endParaRPr lang="ko-KR" altLang="en-US" sz="1050" dirty="0">
                        <a:solidFill>
                          <a:srgbClr val="666666"/>
                        </a:solidFill>
                        <a:effectLst/>
                        <a:latin typeface="Helvetica Neue"/>
                      </a:endParaRPr>
                    </a:p>
                  </a:txBody>
                  <a:tcPr marL="42246" marR="42246" marT="21123" marB="21123" anchor="ctr">
                    <a:lnL w="12700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6458856"/>
                  </a:ext>
                </a:extLst>
              </a:tr>
              <a:tr h="422460">
                <a:tc>
                  <a:txBody>
                    <a:bodyPr/>
                    <a:lstStyle/>
                    <a:p>
                      <a:pPr algn="l"/>
                      <a:r>
                        <a:rPr lang="en-US" sz="1050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 </a:t>
                      </a:r>
                      <a:r>
                        <a:rPr lang="en-US" sz="1050" dirty="0" err="1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getContentType</a:t>
                      </a:r>
                      <a:r>
                        <a:rPr lang="en-US" sz="1050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()</a:t>
                      </a:r>
                      <a:endParaRPr lang="en-US" sz="1050" dirty="0">
                        <a:solidFill>
                          <a:srgbClr val="666666"/>
                        </a:solidFill>
                        <a:effectLst/>
                        <a:latin typeface="Helvetica Neue"/>
                      </a:endParaRPr>
                    </a:p>
                  </a:txBody>
                  <a:tcPr marL="42246" marR="42246" marT="21123" marB="21123" anchor="ctr">
                    <a:lnL w="9525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50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  클라이언트가 사용한 </a:t>
                      </a:r>
                      <a:r>
                        <a:rPr lang="en-US" altLang="ko-KR" sz="1050" dirty="0" err="1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contentType</a:t>
                      </a:r>
                      <a:r>
                        <a:rPr lang="en-US" altLang="ko-KR" sz="1050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 / </a:t>
                      </a:r>
                      <a:r>
                        <a:rPr lang="ko-KR" altLang="en-US" sz="1050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리턴 타입 </a:t>
                      </a:r>
                      <a:r>
                        <a:rPr lang="en-US" altLang="ko-KR" sz="1050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: String</a:t>
                      </a:r>
                      <a:endParaRPr lang="ko-KR" altLang="en-US" sz="1050" dirty="0">
                        <a:solidFill>
                          <a:srgbClr val="666666"/>
                        </a:solidFill>
                        <a:effectLst/>
                        <a:latin typeface="Helvetica Neue"/>
                      </a:endParaRPr>
                    </a:p>
                  </a:txBody>
                  <a:tcPr marL="42246" marR="42246" marT="21123" marB="21123" anchor="ctr">
                    <a:lnL w="12700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8654057"/>
                  </a:ext>
                </a:extLst>
              </a:tr>
              <a:tr h="422460">
                <a:tc>
                  <a:txBody>
                    <a:bodyPr/>
                    <a:lstStyle/>
                    <a:p>
                      <a:pPr algn="l"/>
                      <a:r>
                        <a:rPr lang="en-US" sz="1050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 </a:t>
                      </a:r>
                      <a:r>
                        <a:rPr lang="en-US" sz="1050" dirty="0" err="1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getProtocol</a:t>
                      </a:r>
                      <a:r>
                        <a:rPr lang="en-US" sz="1050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()</a:t>
                      </a:r>
                      <a:endParaRPr lang="en-US" sz="1050" dirty="0">
                        <a:solidFill>
                          <a:srgbClr val="666666"/>
                        </a:solidFill>
                        <a:effectLst/>
                        <a:latin typeface="Helvetica Neue"/>
                      </a:endParaRPr>
                    </a:p>
                  </a:txBody>
                  <a:tcPr marL="42246" marR="42246" marT="21123" marB="21123" anchor="ctr">
                    <a:lnL w="9525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50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  클라이언트가 요청한 프로토콜 </a:t>
                      </a:r>
                      <a:r>
                        <a:rPr lang="en-US" altLang="ko-KR" sz="1050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/ </a:t>
                      </a:r>
                      <a:r>
                        <a:rPr lang="ko-KR" altLang="en-US" sz="1050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리턴 타입 </a:t>
                      </a:r>
                      <a:r>
                        <a:rPr lang="en-US" altLang="ko-KR" sz="1050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: String</a:t>
                      </a:r>
                      <a:endParaRPr lang="ko-KR" altLang="en-US" sz="1050" dirty="0">
                        <a:solidFill>
                          <a:srgbClr val="666666"/>
                        </a:solidFill>
                        <a:effectLst/>
                        <a:latin typeface="Helvetica Neue"/>
                      </a:endParaRPr>
                    </a:p>
                  </a:txBody>
                  <a:tcPr marL="42246" marR="42246" marT="21123" marB="21123" anchor="ctr">
                    <a:lnL w="12700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300371"/>
                  </a:ext>
                </a:extLst>
              </a:tr>
              <a:tr h="422460">
                <a:tc>
                  <a:txBody>
                    <a:bodyPr/>
                    <a:lstStyle/>
                    <a:p>
                      <a:pPr algn="l"/>
                      <a:r>
                        <a:rPr lang="en-US" sz="1050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 </a:t>
                      </a:r>
                      <a:r>
                        <a:rPr lang="en-US" sz="1050" dirty="0" err="1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getMethod</a:t>
                      </a:r>
                      <a:r>
                        <a:rPr lang="en-US" sz="1050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()</a:t>
                      </a:r>
                      <a:endParaRPr lang="en-US" sz="1050" dirty="0">
                        <a:solidFill>
                          <a:srgbClr val="666666"/>
                        </a:solidFill>
                        <a:effectLst/>
                        <a:latin typeface="Helvetica Neue"/>
                      </a:endParaRPr>
                    </a:p>
                  </a:txBody>
                  <a:tcPr marL="42246" marR="42246" marT="21123" marB="21123" anchor="ctr">
                    <a:lnL w="9525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50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  웹 브라우저가 정보를 전송할 때 사용한 방식 </a:t>
                      </a:r>
                      <a:r>
                        <a:rPr lang="en-US" altLang="ko-KR" sz="1050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/ </a:t>
                      </a:r>
                      <a:r>
                        <a:rPr lang="ko-KR" altLang="en-US" sz="1050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리턴 타입 </a:t>
                      </a:r>
                      <a:r>
                        <a:rPr lang="en-US" altLang="ko-KR" sz="1050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: String</a:t>
                      </a:r>
                      <a:endParaRPr lang="ko-KR" altLang="en-US" sz="1050" dirty="0">
                        <a:solidFill>
                          <a:srgbClr val="666666"/>
                        </a:solidFill>
                        <a:effectLst/>
                        <a:latin typeface="Helvetica Neue"/>
                      </a:endParaRPr>
                    </a:p>
                  </a:txBody>
                  <a:tcPr marL="42246" marR="42246" marT="21123" marB="21123" anchor="ctr">
                    <a:lnL w="12700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828858"/>
                  </a:ext>
                </a:extLst>
              </a:tr>
              <a:tr h="422460">
                <a:tc>
                  <a:txBody>
                    <a:bodyPr/>
                    <a:lstStyle/>
                    <a:p>
                      <a:pPr algn="l"/>
                      <a:r>
                        <a:rPr lang="en-US" sz="1050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 </a:t>
                      </a:r>
                      <a:r>
                        <a:rPr lang="en-US" sz="1050" dirty="0" err="1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getRequestURI</a:t>
                      </a:r>
                      <a:r>
                        <a:rPr lang="en-US" sz="1050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()</a:t>
                      </a:r>
                      <a:endParaRPr lang="en-US" sz="1050" dirty="0">
                        <a:solidFill>
                          <a:srgbClr val="666666"/>
                        </a:solidFill>
                        <a:effectLst/>
                        <a:latin typeface="Helvetica Neue"/>
                      </a:endParaRPr>
                    </a:p>
                  </a:txBody>
                  <a:tcPr marL="42246" marR="42246" marT="21123" marB="21123" anchor="ctr">
                    <a:lnL w="9525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50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  웹 브라우저가 요청한 </a:t>
                      </a:r>
                      <a:r>
                        <a:rPr lang="en-US" altLang="ko-KR" sz="1050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URL </a:t>
                      </a:r>
                      <a:r>
                        <a:rPr lang="ko-KR" altLang="en-US" sz="1050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경로 </a:t>
                      </a:r>
                      <a:r>
                        <a:rPr lang="en-US" altLang="ko-KR" sz="1050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/ </a:t>
                      </a:r>
                      <a:r>
                        <a:rPr lang="ko-KR" altLang="en-US" sz="1050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리턴 타입 </a:t>
                      </a:r>
                      <a:r>
                        <a:rPr lang="en-US" altLang="ko-KR" sz="1050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: String</a:t>
                      </a:r>
                      <a:endParaRPr lang="ko-KR" altLang="en-US" sz="1050" dirty="0">
                        <a:solidFill>
                          <a:srgbClr val="666666"/>
                        </a:solidFill>
                        <a:effectLst/>
                        <a:latin typeface="Helvetica Neue"/>
                      </a:endParaRPr>
                    </a:p>
                  </a:txBody>
                  <a:tcPr marL="42246" marR="42246" marT="21123" marB="21123" anchor="ctr">
                    <a:lnL w="12700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408852"/>
                  </a:ext>
                </a:extLst>
              </a:tr>
              <a:tr h="422460">
                <a:tc>
                  <a:txBody>
                    <a:bodyPr/>
                    <a:lstStyle/>
                    <a:p>
                      <a:pPr algn="l"/>
                      <a:r>
                        <a:rPr lang="en-US" sz="1050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 </a:t>
                      </a:r>
                      <a:r>
                        <a:rPr lang="en-US" sz="1050" dirty="0" err="1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getContextPath</a:t>
                      </a:r>
                      <a:r>
                        <a:rPr lang="en-US" sz="1050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()</a:t>
                      </a:r>
                      <a:endParaRPr lang="en-US" sz="1050" dirty="0">
                        <a:solidFill>
                          <a:srgbClr val="666666"/>
                        </a:solidFill>
                        <a:effectLst/>
                        <a:latin typeface="Helvetica Neue"/>
                      </a:endParaRPr>
                    </a:p>
                  </a:txBody>
                  <a:tcPr marL="42246" marR="42246" marT="21123" marB="21123" anchor="ctr">
                    <a:lnL w="9525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50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  </a:t>
                      </a:r>
                      <a:r>
                        <a:rPr lang="en-US" altLang="ko-KR" sz="1050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JSP </a:t>
                      </a:r>
                      <a:r>
                        <a:rPr lang="ko-KR" altLang="en-US" sz="1050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페이지가 속한 웹 어플리케이션의 </a:t>
                      </a:r>
                      <a:r>
                        <a:rPr lang="ko-KR" altLang="en-US" sz="1050" dirty="0" err="1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컨텍스트</a:t>
                      </a:r>
                      <a:r>
                        <a:rPr lang="ko-KR" altLang="en-US" sz="1050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 경로 </a:t>
                      </a:r>
                      <a:r>
                        <a:rPr lang="en-US" altLang="ko-KR" sz="1050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/ </a:t>
                      </a:r>
                      <a:r>
                        <a:rPr lang="ko-KR" altLang="en-US" sz="1050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리턴 타입 </a:t>
                      </a:r>
                      <a:r>
                        <a:rPr lang="en-US" altLang="ko-KR" sz="1050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: String</a:t>
                      </a:r>
                      <a:endParaRPr lang="ko-KR" altLang="en-US" sz="1050" dirty="0">
                        <a:solidFill>
                          <a:srgbClr val="666666"/>
                        </a:solidFill>
                        <a:effectLst/>
                        <a:latin typeface="Helvetica Neue"/>
                      </a:endParaRPr>
                    </a:p>
                  </a:txBody>
                  <a:tcPr marL="42246" marR="42246" marT="21123" marB="21123" anchor="ctr">
                    <a:lnL w="12700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0484362"/>
                  </a:ext>
                </a:extLst>
              </a:tr>
              <a:tr h="422460">
                <a:tc>
                  <a:txBody>
                    <a:bodyPr/>
                    <a:lstStyle/>
                    <a:p>
                      <a:pPr algn="l"/>
                      <a:r>
                        <a:rPr lang="en-US" sz="1050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 </a:t>
                      </a:r>
                      <a:r>
                        <a:rPr lang="en-US" sz="1050" dirty="0" err="1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getServerName</a:t>
                      </a:r>
                      <a:r>
                        <a:rPr lang="en-US" sz="1050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()</a:t>
                      </a:r>
                      <a:endParaRPr lang="en-US" sz="1050" dirty="0">
                        <a:solidFill>
                          <a:srgbClr val="666666"/>
                        </a:solidFill>
                        <a:effectLst/>
                        <a:latin typeface="Helvetica Neue"/>
                      </a:endParaRPr>
                    </a:p>
                  </a:txBody>
                  <a:tcPr marL="42246" marR="42246" marT="21123" marB="21123" anchor="ctr">
                    <a:lnL w="9525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50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  서버 이름 </a:t>
                      </a:r>
                      <a:r>
                        <a:rPr lang="en-US" altLang="ko-KR" sz="1050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/ </a:t>
                      </a:r>
                      <a:r>
                        <a:rPr lang="ko-KR" altLang="en-US" sz="1050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리턴 타입 </a:t>
                      </a:r>
                      <a:r>
                        <a:rPr lang="en-US" altLang="ko-KR" sz="1050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: String </a:t>
                      </a:r>
                      <a:endParaRPr lang="ko-KR" altLang="en-US" sz="1050" dirty="0">
                        <a:solidFill>
                          <a:srgbClr val="666666"/>
                        </a:solidFill>
                        <a:effectLst/>
                        <a:latin typeface="Helvetica Neue"/>
                      </a:endParaRPr>
                    </a:p>
                  </a:txBody>
                  <a:tcPr marL="42246" marR="42246" marT="21123" marB="21123" anchor="ctr">
                    <a:lnL w="12700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5805253"/>
                  </a:ext>
                </a:extLst>
              </a:tr>
              <a:tr h="422460">
                <a:tc>
                  <a:txBody>
                    <a:bodyPr/>
                    <a:lstStyle/>
                    <a:p>
                      <a:pPr algn="l"/>
                      <a:r>
                        <a:rPr lang="en-US" sz="1050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 </a:t>
                      </a:r>
                      <a:r>
                        <a:rPr lang="en-US" sz="1050" dirty="0" err="1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getServerPort</a:t>
                      </a:r>
                      <a:r>
                        <a:rPr lang="en-US" sz="1050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()</a:t>
                      </a:r>
                      <a:endParaRPr lang="en-US" sz="1050" dirty="0">
                        <a:solidFill>
                          <a:srgbClr val="666666"/>
                        </a:solidFill>
                        <a:effectLst/>
                        <a:latin typeface="Helvetica Neue"/>
                      </a:endParaRPr>
                    </a:p>
                  </a:txBody>
                  <a:tcPr marL="42246" marR="42246" marT="21123" marB="21123" anchor="ctr">
                    <a:lnL w="9525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50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  서버가 실행 중인 포트 번호 </a:t>
                      </a:r>
                      <a:r>
                        <a:rPr lang="en-US" altLang="ko-KR" sz="1050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/ </a:t>
                      </a:r>
                      <a:r>
                        <a:rPr lang="ko-KR" altLang="en-US" sz="1050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리턴 타입 </a:t>
                      </a:r>
                      <a:r>
                        <a:rPr lang="en-US" altLang="ko-KR" sz="1050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: </a:t>
                      </a:r>
                      <a:r>
                        <a:rPr lang="en-US" altLang="ko-KR" sz="1050" dirty="0" err="1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int</a:t>
                      </a:r>
                      <a:endParaRPr lang="ko-KR" altLang="en-US" sz="1050" dirty="0">
                        <a:solidFill>
                          <a:srgbClr val="666666"/>
                        </a:solidFill>
                        <a:effectLst/>
                        <a:latin typeface="Helvetica Neue"/>
                      </a:endParaRPr>
                    </a:p>
                  </a:txBody>
                  <a:tcPr marL="42246" marR="42246" marT="21123" marB="21123" anchor="ctr">
                    <a:lnL w="12700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7146475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77008" y="1736878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latin typeface="+mn-ea"/>
              </a:rPr>
              <a:t>클라이언트 </a:t>
            </a:r>
            <a:r>
              <a:rPr lang="en-US" altLang="ko-KR" sz="1100" dirty="0">
                <a:latin typeface="+mn-ea"/>
              </a:rPr>
              <a:t>/ </a:t>
            </a:r>
            <a:r>
              <a:rPr lang="ko-KR" altLang="en-US" sz="1100" dirty="0">
                <a:latin typeface="+mn-ea"/>
              </a:rPr>
              <a:t>서버 정보 메서드</a:t>
            </a:r>
            <a:endParaRPr lang="en-US" altLang="ko-KR" sz="1100" dirty="0">
              <a:latin typeface="+mn-ea"/>
            </a:endParaRPr>
          </a:p>
        </p:txBody>
      </p:sp>
      <p:cxnSp>
        <p:nvCxnSpPr>
          <p:cNvPr id="11" name="직선 연결선 10"/>
          <p:cNvCxnSpPr/>
          <p:nvPr/>
        </p:nvCxnSpPr>
        <p:spPr>
          <a:xfrm>
            <a:off x="745832" y="1990359"/>
            <a:ext cx="9932000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72898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970602" y="2168564"/>
            <a:ext cx="8914062" cy="69249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 err="1">
                <a:latin typeface="+mn-ea"/>
              </a:rPr>
              <a:t>getRemoteAddr</a:t>
            </a:r>
            <a:r>
              <a:rPr lang="en-US" altLang="ko-KR" sz="1400" dirty="0">
                <a:latin typeface="+mn-ea"/>
              </a:rPr>
              <a:t>() : </a:t>
            </a:r>
            <a:r>
              <a:rPr lang="ko-KR" altLang="en-US" sz="1400" dirty="0" err="1">
                <a:latin typeface="+mn-ea"/>
              </a:rPr>
              <a:t>웹서버에</a:t>
            </a:r>
            <a:r>
              <a:rPr lang="ko-KR" altLang="en-US" sz="1400" dirty="0">
                <a:latin typeface="+mn-ea"/>
              </a:rPr>
              <a:t> 연결한 클라이언트 </a:t>
            </a:r>
            <a:r>
              <a:rPr lang="en-US" altLang="ko-KR" sz="1400" dirty="0" err="1">
                <a:latin typeface="+mn-ea"/>
              </a:rPr>
              <a:t>ip</a:t>
            </a:r>
            <a:r>
              <a:rPr lang="ko-KR" altLang="en-US" sz="1400" dirty="0">
                <a:latin typeface="+mn-ea"/>
              </a:rPr>
              <a:t>주소를 얻습니다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r>
              <a:rPr lang="en-US" altLang="ko-KR" sz="1400" dirty="0">
                <a:latin typeface="+mn-ea"/>
              </a:rPr>
              <a:t>-&gt; </a:t>
            </a:r>
            <a:r>
              <a:rPr lang="ko-KR" altLang="en-US" sz="1400" dirty="0">
                <a:latin typeface="+mn-ea"/>
              </a:rPr>
              <a:t>실행 시 </a:t>
            </a:r>
            <a:r>
              <a:rPr lang="en-US" altLang="ko-KR" sz="1400" dirty="0">
                <a:latin typeface="+mn-ea"/>
              </a:rPr>
              <a:t>: 0:0:0:0:0:0:0:1 </a:t>
            </a:r>
            <a:r>
              <a:rPr lang="ko-KR" altLang="en-US" sz="1400" dirty="0">
                <a:latin typeface="+mn-ea"/>
              </a:rPr>
              <a:t>값을 반환</a:t>
            </a:r>
            <a:r>
              <a:rPr lang="en-US" altLang="ko-KR" sz="1400" dirty="0">
                <a:latin typeface="+mn-ea"/>
              </a:rPr>
              <a:t>. IPv6 </a:t>
            </a:r>
            <a:r>
              <a:rPr lang="ko-KR" altLang="en-US" sz="1400" dirty="0">
                <a:latin typeface="+mn-ea"/>
              </a:rPr>
              <a:t>의 형태의 값을 반환함</a:t>
            </a:r>
            <a:r>
              <a:rPr lang="en-US" altLang="ko-KR" sz="1400" dirty="0">
                <a:latin typeface="+mn-ea"/>
              </a:rPr>
              <a:t>.</a:t>
            </a:r>
            <a:br>
              <a:rPr lang="en-US" altLang="ko-KR" sz="1100" dirty="0"/>
            </a:br>
            <a:endParaRPr lang="en-US" altLang="ko-KR" sz="1100" dirty="0">
              <a:latin typeface="+mn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>
                <a:solidFill>
                  <a:schemeClr val="tx1"/>
                </a:solidFill>
                <a:effectLst/>
                <a:latin typeface="+mn-ea"/>
                <a:ea typeface="+mn-ea"/>
              </a:rPr>
              <a:t>* </a:t>
            </a:r>
            <a:r>
              <a:rPr lang="ko-KR" altLang="en-US" sz="1600" b="1" kern="1200" dirty="0">
                <a:solidFill>
                  <a:schemeClr val="tx1"/>
                </a:solidFill>
                <a:effectLst/>
                <a:latin typeface="+mn-ea"/>
                <a:ea typeface="+mn-ea"/>
              </a:rPr>
              <a:t>참조 </a:t>
            </a:r>
            <a:r>
              <a:rPr lang="en-US" altLang="ko-KR" sz="1600" b="1" kern="1200" dirty="0">
                <a:solidFill>
                  <a:schemeClr val="tx1"/>
                </a:solidFill>
                <a:effectLst/>
                <a:latin typeface="+mn-ea"/>
                <a:ea typeface="+mn-ea"/>
              </a:rPr>
              <a:t>: </a:t>
            </a:r>
            <a:r>
              <a:rPr lang="en-US" altLang="ko-KR" sz="1600" b="1" dirty="0" err="1">
                <a:latin typeface="+mn-ea"/>
              </a:rPr>
              <a:t>request.getRemoteAddr</a:t>
            </a:r>
            <a:r>
              <a:rPr lang="en-US" altLang="ko-KR" sz="1600" b="1" dirty="0">
                <a:latin typeface="+mn-ea"/>
              </a:rPr>
              <a:t>() ip4 </a:t>
            </a:r>
            <a:r>
              <a:rPr lang="ko-KR" altLang="en-US" sz="1600" b="1" dirty="0">
                <a:latin typeface="+mn-ea"/>
              </a:rPr>
              <a:t>주소로 변환 방법</a:t>
            </a:r>
            <a:endParaRPr lang="ko-KR" altLang="en-US" sz="1600" b="1" dirty="0">
              <a:latin typeface="+mn-ea"/>
              <a:ea typeface="+mn-ea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552C0588-1905-495F-AAC2-FFC36AAE238D}"/>
              </a:ext>
            </a:extLst>
          </p:cNvPr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/>
          <p:cNvSpPr/>
          <p:nvPr/>
        </p:nvSpPr>
        <p:spPr>
          <a:xfrm>
            <a:off x="970602" y="3659039"/>
            <a:ext cx="8914062" cy="2677656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latin typeface="+mn-ea"/>
              </a:rPr>
              <a:t>1) Eclipse </a:t>
            </a:r>
            <a:r>
              <a:rPr lang="ko-KR" altLang="en-US" sz="1400" dirty="0">
                <a:latin typeface="+mn-ea"/>
              </a:rPr>
              <a:t>에서 환경 변수 설정 다이얼로그 띄우기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latin typeface="+mn-ea"/>
              </a:rPr>
              <a:t>   Run &gt; Run </a:t>
            </a:r>
            <a:r>
              <a:rPr lang="en-US" altLang="ko-KR" sz="1400" dirty="0" err="1">
                <a:latin typeface="+mn-ea"/>
              </a:rPr>
              <a:t>Confiugrations</a:t>
            </a:r>
            <a:endParaRPr lang="en-US" altLang="ko-KR" sz="14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latin typeface="+mn-ea"/>
              </a:rPr>
              <a:t>        &gt; </a:t>
            </a:r>
            <a:r>
              <a:rPr lang="ko-KR" altLang="en-US" sz="1400" dirty="0">
                <a:latin typeface="+mn-ea"/>
              </a:rPr>
              <a:t>좌측 트리 메뉴에서 </a:t>
            </a:r>
            <a:r>
              <a:rPr lang="en-US" altLang="ko-KR" sz="1400" dirty="0">
                <a:latin typeface="+mn-ea"/>
              </a:rPr>
              <a:t>Apache Tomcat </a:t>
            </a:r>
            <a:r>
              <a:rPr lang="ko-KR" altLang="en-US" sz="1400" dirty="0">
                <a:latin typeface="+mn-ea"/>
              </a:rPr>
              <a:t>서버 선택</a:t>
            </a:r>
            <a:r>
              <a:rPr lang="en-US" altLang="ko-KR" sz="1400" dirty="0">
                <a:latin typeface="+mn-ea"/>
              </a:rPr>
              <a:t>(E.g. Tomcat v7.0 Server at localhost)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latin typeface="+mn-ea"/>
              </a:rPr>
              <a:t>        &gt; (x) = Arguments </a:t>
            </a:r>
            <a:r>
              <a:rPr lang="ko-KR" altLang="en-US" sz="1400" dirty="0">
                <a:latin typeface="+mn-ea"/>
              </a:rPr>
              <a:t>탭 메뉴 선택</a:t>
            </a:r>
          </a:p>
          <a:p>
            <a:pPr>
              <a:lnSpc>
                <a:spcPct val="150000"/>
              </a:lnSpc>
            </a:pPr>
            <a:r>
              <a:rPr lang="ko-KR" altLang="en-US" sz="1400" dirty="0">
                <a:latin typeface="+mn-ea"/>
              </a:rPr>
              <a:t>        </a:t>
            </a:r>
            <a:r>
              <a:rPr lang="en-US" altLang="ko-KR" sz="1400" dirty="0">
                <a:latin typeface="+mn-ea"/>
              </a:rPr>
              <a:t>&gt; VM Arguments (</a:t>
            </a:r>
            <a:r>
              <a:rPr lang="ko-KR" altLang="en-US" sz="1400" dirty="0">
                <a:latin typeface="+mn-ea"/>
              </a:rPr>
              <a:t>텍스트 박스 영역</a:t>
            </a:r>
            <a:r>
              <a:rPr lang="en-US" altLang="ko-KR" sz="1400" dirty="0">
                <a:latin typeface="+mn-ea"/>
              </a:rPr>
              <a:t>)</a:t>
            </a:r>
          </a:p>
          <a:p>
            <a:pPr>
              <a:lnSpc>
                <a:spcPct val="150000"/>
              </a:lnSpc>
            </a:pPr>
            <a:endParaRPr lang="en-US" altLang="ko-KR" sz="14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400" dirty="0">
                <a:latin typeface="+mn-ea"/>
              </a:rPr>
              <a:t>아래 문구 입력</a:t>
            </a:r>
            <a:endParaRPr lang="en-US" altLang="ko-KR" sz="14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/>
              <a:t>-Djava.net.preferIPv4Stack=true</a:t>
            </a:r>
            <a:endParaRPr lang="ko-KR" altLang="en-US" sz="1200" dirty="0"/>
          </a:p>
        </p:txBody>
      </p:sp>
      <p:sp>
        <p:nvSpPr>
          <p:cNvPr id="7" name="직사각형 6"/>
          <p:cNvSpPr/>
          <p:nvPr/>
        </p:nvSpPr>
        <p:spPr>
          <a:xfrm>
            <a:off x="677008" y="1679057"/>
            <a:ext cx="5273431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ko-KR" b="1" dirty="0">
                <a:latin typeface="+mn-ea"/>
              </a:rPr>
              <a:t>* </a:t>
            </a:r>
            <a:r>
              <a:rPr lang="en-US" altLang="ko-KR" b="1" dirty="0" err="1">
                <a:latin typeface="+mn-ea"/>
              </a:rPr>
              <a:t>Request.getRemoteAddr</a:t>
            </a:r>
            <a:r>
              <a:rPr lang="en-US" altLang="ko-KR" b="1" dirty="0">
                <a:latin typeface="+mn-ea"/>
              </a:rPr>
              <a:t>() </a:t>
            </a:r>
            <a:r>
              <a:rPr lang="ko-KR" altLang="en-US" b="1" dirty="0">
                <a:latin typeface="+mn-ea"/>
              </a:rPr>
              <a:t>는 디폴트 </a:t>
            </a:r>
            <a:r>
              <a:rPr lang="en-US" altLang="ko-KR" b="1" dirty="0">
                <a:latin typeface="+mn-ea"/>
              </a:rPr>
              <a:t>ip6 </a:t>
            </a:r>
            <a:r>
              <a:rPr lang="ko-KR" altLang="en-US" b="1" dirty="0">
                <a:latin typeface="+mn-ea"/>
              </a:rPr>
              <a:t>사용</a:t>
            </a:r>
            <a:endParaRPr lang="en-US" altLang="ko-KR" b="1" dirty="0">
              <a:latin typeface="+mn-ea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677008" y="3143910"/>
            <a:ext cx="3199915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ko-KR" b="1" dirty="0">
                <a:latin typeface="+mn-ea"/>
              </a:rPr>
              <a:t>*  ip4 </a:t>
            </a:r>
            <a:r>
              <a:rPr lang="ko-KR" altLang="en-US" b="1" dirty="0">
                <a:latin typeface="+mn-ea"/>
              </a:rPr>
              <a:t>형태로 반환 변경 방법</a:t>
            </a:r>
            <a:endParaRPr lang="en-US" altLang="ko-KR" b="1" dirty="0">
              <a:latin typeface="+mn-ea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8EFD47BF-FBF4-9761-F5E2-AEC9B6A7C1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5374" y="2608514"/>
            <a:ext cx="3612860" cy="3489281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5722956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atin typeface="+mn-ea"/>
              </a:rPr>
              <a:t>3. request </a:t>
            </a:r>
            <a:r>
              <a:rPr lang="ko-KR" altLang="en-US" sz="1600" b="1" dirty="0">
                <a:latin typeface="+mn-ea"/>
              </a:rPr>
              <a:t>객체 </a:t>
            </a:r>
            <a:r>
              <a:rPr lang="en-US" altLang="ko-KR" sz="1600" b="1" dirty="0">
                <a:latin typeface="+mn-ea"/>
              </a:rPr>
              <a:t>- </a:t>
            </a:r>
            <a:r>
              <a:rPr lang="ko-KR" altLang="en-US" sz="1600" b="1" dirty="0" err="1">
                <a:latin typeface="+mn-ea"/>
              </a:rPr>
              <a:t>메소드</a:t>
            </a:r>
            <a:endParaRPr lang="ko-KR" altLang="en-US" sz="1600" b="1" dirty="0">
              <a:latin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6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77008" y="1116906"/>
            <a:ext cx="1067679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latin typeface="+mn-ea"/>
              </a:rPr>
              <a:t>개발자가 객체를 생성하지 않고 바로 사용할 수 있는 객체가 내부객체 입니다</a:t>
            </a:r>
            <a:r>
              <a:rPr lang="en-US" altLang="ko-KR" sz="1100" dirty="0">
                <a:latin typeface="+mn-ea"/>
              </a:rPr>
              <a:t>.</a:t>
            </a:r>
          </a:p>
          <a:p>
            <a:r>
              <a:rPr lang="en-US" altLang="ko-KR" sz="1100" dirty="0">
                <a:latin typeface="+mn-ea"/>
              </a:rPr>
              <a:t>JSP</a:t>
            </a:r>
            <a:r>
              <a:rPr lang="ko-KR" altLang="en-US" sz="1100" dirty="0">
                <a:latin typeface="+mn-ea"/>
              </a:rPr>
              <a:t>에서 제공되는 내부객체는 </a:t>
            </a:r>
            <a:r>
              <a:rPr lang="en-US" altLang="ko-KR" sz="1100" dirty="0">
                <a:latin typeface="+mn-ea"/>
              </a:rPr>
              <a:t>JSP</a:t>
            </a:r>
            <a:r>
              <a:rPr lang="ko-KR" altLang="en-US" sz="1100" dirty="0">
                <a:latin typeface="+mn-ea"/>
              </a:rPr>
              <a:t>컨테이너에 의해 </a:t>
            </a:r>
            <a:r>
              <a:rPr lang="en-US" altLang="ko-KR" sz="1100" dirty="0">
                <a:latin typeface="+mn-ea"/>
              </a:rPr>
              <a:t>Servlet</a:t>
            </a:r>
            <a:r>
              <a:rPr lang="ko-KR" altLang="en-US" sz="1100" dirty="0">
                <a:latin typeface="+mn-ea"/>
              </a:rPr>
              <a:t>으로 변화될 때 자동으로 객체가 생성 됩니다</a:t>
            </a:r>
            <a:r>
              <a:rPr lang="en-US" altLang="ko-KR" sz="1100" dirty="0">
                <a:latin typeface="+mn-ea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7008" y="1736878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err="1">
                <a:latin typeface="+mn-ea"/>
              </a:rPr>
              <a:t>파라미터</a:t>
            </a:r>
            <a:r>
              <a:rPr lang="ko-KR" altLang="en-US" sz="1100" dirty="0">
                <a:latin typeface="+mn-ea"/>
              </a:rPr>
              <a:t> 메서드</a:t>
            </a:r>
            <a:endParaRPr lang="en-US" altLang="ko-KR" sz="1100" dirty="0">
              <a:latin typeface="+mn-ea"/>
            </a:endParaRPr>
          </a:p>
        </p:txBody>
      </p:sp>
      <p:cxnSp>
        <p:nvCxnSpPr>
          <p:cNvPr id="11" name="직선 연결선 10"/>
          <p:cNvCxnSpPr/>
          <p:nvPr/>
        </p:nvCxnSpPr>
        <p:spPr>
          <a:xfrm>
            <a:off x="745832" y="1990359"/>
            <a:ext cx="9932000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0659798"/>
              </p:ext>
            </p:extLst>
          </p:nvPr>
        </p:nvGraphicFramePr>
        <p:xfrm>
          <a:off x="745832" y="2134690"/>
          <a:ext cx="10277768" cy="2891240"/>
        </p:xfrm>
        <a:graphic>
          <a:graphicData uri="http://schemas.openxmlformats.org/drawingml/2006/table">
            <a:tbl>
              <a:tblPr/>
              <a:tblGrid>
                <a:gridCol w="3045925">
                  <a:extLst>
                    <a:ext uri="{9D8B030D-6E8A-4147-A177-3AD203B41FA5}">
                      <a16:colId xmlns:a16="http://schemas.microsoft.com/office/drawing/2014/main" val="778104097"/>
                    </a:ext>
                  </a:extLst>
                </a:gridCol>
                <a:gridCol w="7231843">
                  <a:extLst>
                    <a:ext uri="{9D8B030D-6E8A-4147-A177-3AD203B41FA5}">
                      <a16:colId xmlns:a16="http://schemas.microsoft.com/office/drawing/2014/main" val="4172123556"/>
                    </a:ext>
                  </a:extLst>
                </a:gridCol>
              </a:tblGrid>
              <a:tr h="654230">
                <a:tc>
                  <a:txBody>
                    <a:bodyPr/>
                    <a:lstStyle/>
                    <a:p>
                      <a:pPr algn="l"/>
                      <a:r>
                        <a:rPr lang="en-US" sz="1400" dirty="0" err="1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getParameter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(String name) </a:t>
                      </a:r>
                      <a:endParaRPr lang="en-US" sz="1400" dirty="0">
                        <a:solidFill>
                          <a:srgbClr val="666666"/>
                        </a:solidFill>
                        <a:effectLst/>
                        <a:latin typeface="Helvetica Neue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400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  이름이 </a:t>
                      </a:r>
                      <a:r>
                        <a:rPr lang="en-US" altLang="ko-KR" sz="1400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name</a:t>
                      </a:r>
                      <a:r>
                        <a:rPr lang="ko-KR" altLang="en-US" sz="1400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인 </a:t>
                      </a:r>
                      <a:r>
                        <a:rPr lang="ko-KR" altLang="en-US" sz="1400" dirty="0" err="1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파라미터의</a:t>
                      </a:r>
                      <a:r>
                        <a:rPr lang="ko-KR" altLang="en-US" sz="1400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 값</a:t>
                      </a:r>
                      <a:r>
                        <a:rPr lang="en-US" altLang="ko-KR" sz="1400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. </a:t>
                      </a:r>
                      <a:r>
                        <a:rPr lang="ko-KR" altLang="en-US" sz="1400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존재하지 않을 경우 </a:t>
                      </a:r>
                      <a:r>
                        <a:rPr lang="en-US" altLang="ko-KR" sz="1400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null / </a:t>
                      </a:r>
                      <a:r>
                        <a:rPr lang="ko-KR" altLang="en-US" sz="1400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리턴 타입 </a:t>
                      </a:r>
                      <a:r>
                        <a:rPr lang="en-US" altLang="ko-KR" sz="1400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: String</a:t>
                      </a:r>
                      <a:endParaRPr lang="ko-KR" altLang="en-US" sz="1400" dirty="0">
                        <a:solidFill>
                          <a:srgbClr val="666666"/>
                        </a:solidFill>
                        <a:effectLst/>
                        <a:latin typeface="Helvetica Neue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6730416"/>
                  </a:ext>
                </a:extLst>
              </a:tr>
              <a:tr h="80282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 </a:t>
                      </a:r>
                      <a:r>
                        <a:rPr lang="en-US" sz="1400" dirty="0" err="1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getParameterValues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(String name)</a:t>
                      </a:r>
                      <a:endParaRPr lang="en-US" sz="1400" dirty="0">
                        <a:solidFill>
                          <a:srgbClr val="666666"/>
                        </a:solidFill>
                        <a:effectLst/>
                        <a:latin typeface="Helvetica Neue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400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  이름이 </a:t>
                      </a:r>
                      <a:r>
                        <a:rPr lang="en-US" altLang="ko-KR" sz="1400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name</a:t>
                      </a:r>
                      <a:r>
                        <a:rPr lang="ko-KR" altLang="en-US" sz="1400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인 모든 </a:t>
                      </a:r>
                      <a:r>
                        <a:rPr lang="ko-KR" altLang="en-US" sz="1400" dirty="0" err="1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파라미터의</a:t>
                      </a:r>
                      <a:r>
                        <a:rPr lang="ko-KR" altLang="en-US" sz="1400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 값을 배열로 구한다</a:t>
                      </a:r>
                      <a:r>
                        <a:rPr lang="en-US" altLang="ko-KR" sz="1400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. </a:t>
                      </a:r>
                      <a:r>
                        <a:rPr lang="ko-KR" altLang="en-US" sz="1400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존재하지 않을 경우 </a:t>
                      </a:r>
                      <a:r>
                        <a:rPr lang="en-US" altLang="ko-KR" sz="1400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null </a:t>
                      </a:r>
                      <a:r>
                        <a:rPr lang="ko-KR" altLang="en-US" sz="1400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리턴</a:t>
                      </a:r>
                      <a:r>
                        <a:rPr lang="en-US" altLang="ko-KR" sz="1400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. </a:t>
                      </a:r>
                      <a:br>
                        <a:rPr lang="ko-KR" altLang="en-US" sz="1400" dirty="0">
                          <a:solidFill>
                            <a:srgbClr val="666666"/>
                          </a:solidFill>
                          <a:effectLst/>
                          <a:latin typeface="Helvetica Neue"/>
                        </a:rPr>
                      </a:br>
                      <a:r>
                        <a:rPr lang="ko-KR" altLang="en-US" sz="1400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  </a:t>
                      </a:r>
                      <a:r>
                        <a:rPr lang="en-US" altLang="ko-KR" sz="1400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/ </a:t>
                      </a:r>
                      <a:r>
                        <a:rPr lang="ko-KR" altLang="en-US" sz="1400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리턴 타입 </a:t>
                      </a:r>
                      <a:r>
                        <a:rPr lang="en-US" altLang="ko-KR" sz="1400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: String[]</a:t>
                      </a:r>
                      <a:endParaRPr lang="ko-KR" altLang="en-US" sz="1400" dirty="0">
                        <a:solidFill>
                          <a:srgbClr val="666666"/>
                        </a:solidFill>
                        <a:effectLst/>
                        <a:latin typeface="Helvetica Neue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6648072"/>
                  </a:ext>
                </a:extLst>
              </a:tr>
              <a:tr h="733859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 </a:t>
                      </a:r>
                      <a:r>
                        <a:rPr lang="en-US" sz="1400" dirty="0" err="1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getParameterNames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()</a:t>
                      </a:r>
                      <a:endParaRPr lang="en-US" sz="1400" dirty="0">
                        <a:solidFill>
                          <a:srgbClr val="666666"/>
                        </a:solidFill>
                        <a:effectLst/>
                        <a:latin typeface="Helvetica Neue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400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  웹 브라우저가 전송한 </a:t>
                      </a:r>
                      <a:r>
                        <a:rPr lang="ko-KR" altLang="en-US" sz="1400" dirty="0" err="1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파라미터의</a:t>
                      </a:r>
                      <a:r>
                        <a:rPr lang="ko-KR" altLang="en-US" sz="1400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 이름 </a:t>
                      </a:r>
                      <a:r>
                        <a:rPr lang="en-US" altLang="ko-KR" sz="1400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/ </a:t>
                      </a:r>
                      <a:r>
                        <a:rPr lang="ko-KR" altLang="en-US" sz="1400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리턴 타입 </a:t>
                      </a:r>
                      <a:r>
                        <a:rPr lang="en-US" altLang="ko-KR" sz="1400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: </a:t>
                      </a:r>
                      <a:r>
                        <a:rPr lang="en-US" altLang="ko-KR" sz="1400" dirty="0" err="1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java.util.Enumeration</a:t>
                      </a:r>
                      <a:br>
                        <a:rPr lang="ko-KR" altLang="en-US" sz="1400" dirty="0">
                          <a:solidFill>
                            <a:srgbClr val="666666"/>
                          </a:solidFill>
                          <a:effectLst/>
                          <a:latin typeface="Helvetica Neue"/>
                        </a:rPr>
                      </a:br>
                      <a:endParaRPr lang="ko-KR" altLang="en-US" sz="1400" dirty="0">
                        <a:solidFill>
                          <a:srgbClr val="666666"/>
                        </a:solidFill>
                        <a:effectLst/>
                        <a:latin typeface="Helvetica Neue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0709699"/>
                  </a:ext>
                </a:extLst>
              </a:tr>
              <a:tr h="700331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 </a:t>
                      </a:r>
                      <a:r>
                        <a:rPr lang="en-US" sz="1400" dirty="0" err="1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getParameterMap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()</a:t>
                      </a:r>
                      <a:endParaRPr lang="en-US" sz="1400" dirty="0">
                        <a:solidFill>
                          <a:srgbClr val="666666"/>
                        </a:solidFill>
                        <a:effectLst/>
                        <a:latin typeface="Helvetica Neue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400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  웹 브라우저가 전송한 </a:t>
                      </a:r>
                      <a:r>
                        <a:rPr lang="ko-KR" altLang="en-US" sz="1400" dirty="0" err="1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파라미터의</a:t>
                      </a:r>
                      <a:r>
                        <a:rPr lang="ko-KR" altLang="en-US" sz="1400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 맵 </a:t>
                      </a:r>
                      <a:r>
                        <a:rPr lang="en-US" altLang="ko-KR" sz="1400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/ </a:t>
                      </a:r>
                      <a:r>
                        <a:rPr lang="ko-KR" altLang="en-US" sz="1400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리턴 타입 </a:t>
                      </a:r>
                      <a:r>
                        <a:rPr lang="en-US" altLang="ko-KR" sz="1400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: </a:t>
                      </a:r>
                      <a:r>
                        <a:rPr lang="en-US" altLang="ko-KR" sz="1400" dirty="0" err="1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java.util.Map</a:t>
                      </a:r>
                      <a:endParaRPr lang="ko-KR" altLang="en-US" sz="1400" dirty="0">
                        <a:solidFill>
                          <a:srgbClr val="666666"/>
                        </a:solidFill>
                        <a:effectLst/>
                        <a:latin typeface="Helvetica Neue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30897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04828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atin typeface="+mn-ea"/>
              </a:rPr>
              <a:t>3. request </a:t>
            </a:r>
            <a:r>
              <a:rPr lang="ko-KR" altLang="en-US" sz="1600" b="1" dirty="0">
                <a:latin typeface="+mn-ea"/>
              </a:rPr>
              <a:t>객체 </a:t>
            </a:r>
            <a:r>
              <a:rPr lang="en-US" altLang="ko-KR" sz="1600" b="1" dirty="0">
                <a:latin typeface="+mn-ea"/>
              </a:rPr>
              <a:t>- </a:t>
            </a:r>
            <a:r>
              <a:rPr lang="ko-KR" altLang="en-US" sz="1600" b="1" dirty="0" err="1">
                <a:latin typeface="+mn-ea"/>
              </a:rPr>
              <a:t>메소드</a:t>
            </a:r>
            <a:endParaRPr lang="ko-KR" altLang="en-US" sz="1600" b="1" dirty="0">
              <a:latin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7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77008" y="1415867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latin typeface="+mn-ea"/>
              </a:rPr>
              <a:t>Parameter </a:t>
            </a:r>
            <a:r>
              <a:rPr lang="ko-KR" altLang="en-US" sz="1100" dirty="0" err="1">
                <a:latin typeface="+mn-ea"/>
              </a:rPr>
              <a:t>메소드</a:t>
            </a:r>
            <a:r>
              <a:rPr lang="en-US" altLang="ko-KR" sz="1100" dirty="0">
                <a:latin typeface="+mn-ea"/>
              </a:rPr>
              <a:t>((jsp_11_1_ex1_requestobj)</a:t>
            </a:r>
          </a:p>
        </p:txBody>
      </p:sp>
      <p:cxnSp>
        <p:nvCxnSpPr>
          <p:cNvPr id="9" name="직선 연결선 8"/>
          <p:cNvCxnSpPr/>
          <p:nvPr/>
        </p:nvCxnSpPr>
        <p:spPr>
          <a:xfrm>
            <a:off x="730798" y="1682649"/>
            <a:ext cx="10089604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30798" y="1687822"/>
            <a:ext cx="1008960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latin typeface="+mn-ea"/>
              </a:rPr>
              <a:t>앞에서 살펴본 요청관련 </a:t>
            </a:r>
            <a:r>
              <a:rPr lang="ko-KR" altLang="en-US" sz="1100" dirty="0" err="1">
                <a:latin typeface="+mn-ea"/>
              </a:rPr>
              <a:t>메소드</a:t>
            </a:r>
            <a:r>
              <a:rPr lang="ko-KR" altLang="en-US" sz="1100" dirty="0">
                <a:latin typeface="+mn-ea"/>
              </a:rPr>
              <a:t> 보다 실제 많이 쓰이는 </a:t>
            </a:r>
            <a:r>
              <a:rPr lang="ko-KR" altLang="en-US" sz="1100" dirty="0" err="1">
                <a:latin typeface="+mn-ea"/>
              </a:rPr>
              <a:t>메소드는</a:t>
            </a:r>
            <a:r>
              <a:rPr lang="ko-KR" altLang="en-US" sz="1100" dirty="0">
                <a:latin typeface="+mn-ea"/>
              </a:rPr>
              <a:t> </a:t>
            </a:r>
            <a:r>
              <a:rPr lang="en-US" altLang="ko-KR" sz="1100" dirty="0">
                <a:latin typeface="+mn-ea"/>
              </a:rPr>
              <a:t>parameter</a:t>
            </a:r>
            <a:r>
              <a:rPr lang="ko-KR" altLang="en-US" sz="1100" dirty="0">
                <a:latin typeface="+mn-ea"/>
              </a:rPr>
              <a:t>와 관련된 </a:t>
            </a:r>
            <a:r>
              <a:rPr lang="ko-KR" altLang="en-US" sz="1100" dirty="0" err="1">
                <a:latin typeface="+mn-ea"/>
              </a:rPr>
              <a:t>메소드들</a:t>
            </a:r>
            <a:r>
              <a:rPr lang="ko-KR" altLang="en-US" sz="1100" dirty="0">
                <a:latin typeface="+mn-ea"/>
              </a:rPr>
              <a:t> 입니다</a:t>
            </a:r>
            <a:r>
              <a:rPr lang="en-US" altLang="ko-KR" sz="1100" dirty="0">
                <a:latin typeface="+mn-ea"/>
              </a:rPr>
              <a:t>.</a:t>
            </a:r>
          </a:p>
          <a:p>
            <a:r>
              <a:rPr lang="en-US" altLang="ko-KR" sz="1100" dirty="0" err="1">
                <a:latin typeface="+mn-ea"/>
              </a:rPr>
              <a:t>Jsp</a:t>
            </a:r>
            <a:r>
              <a:rPr lang="ko-KR" altLang="en-US" sz="1100" dirty="0">
                <a:latin typeface="+mn-ea"/>
              </a:rPr>
              <a:t>페이지를 제작하는 목적이 데이터 값을 전송하기 위해서 이므로</a:t>
            </a:r>
            <a:r>
              <a:rPr lang="en-US" altLang="ko-KR" sz="1100" dirty="0">
                <a:latin typeface="+mn-ea"/>
              </a:rPr>
              <a:t>, parameter </a:t>
            </a:r>
            <a:r>
              <a:rPr lang="ko-KR" altLang="en-US" sz="1100" dirty="0">
                <a:latin typeface="+mn-ea"/>
              </a:rPr>
              <a:t>관련 </a:t>
            </a:r>
            <a:r>
              <a:rPr lang="ko-KR" altLang="en-US" sz="1100" dirty="0" err="1">
                <a:latin typeface="+mn-ea"/>
              </a:rPr>
              <a:t>메소드은</a:t>
            </a:r>
            <a:r>
              <a:rPr lang="ko-KR" altLang="en-US" sz="1100" dirty="0">
                <a:latin typeface="+mn-ea"/>
              </a:rPr>
              <a:t> 중요 합니다</a:t>
            </a:r>
            <a:r>
              <a:rPr lang="en-US" altLang="ko-KR" sz="1100" dirty="0">
                <a:latin typeface="+mn-ea"/>
              </a:rPr>
              <a:t>.</a:t>
            </a:r>
          </a:p>
          <a:p>
            <a:endParaRPr lang="en-US" altLang="ko-KR" sz="1100" dirty="0">
              <a:latin typeface="+mn-ea"/>
            </a:endParaRPr>
          </a:p>
          <a:p>
            <a:r>
              <a:rPr lang="en-US" altLang="ko-KR" sz="1100" dirty="0" err="1">
                <a:latin typeface="+mn-ea"/>
              </a:rPr>
              <a:t>getParameter</a:t>
            </a:r>
            <a:r>
              <a:rPr lang="en-US" altLang="ko-KR" sz="1100" dirty="0">
                <a:latin typeface="+mn-ea"/>
              </a:rPr>
              <a:t>(String name) : name</a:t>
            </a:r>
            <a:r>
              <a:rPr lang="ko-KR" altLang="en-US" sz="1100" dirty="0">
                <a:latin typeface="+mn-ea"/>
              </a:rPr>
              <a:t>에 해당하는 </a:t>
            </a:r>
            <a:r>
              <a:rPr lang="ko-KR" altLang="en-US" sz="1100" dirty="0" err="1">
                <a:latin typeface="+mn-ea"/>
              </a:rPr>
              <a:t>파라미터</a:t>
            </a:r>
            <a:r>
              <a:rPr lang="ko-KR" altLang="en-US" sz="1100" dirty="0">
                <a:latin typeface="+mn-ea"/>
              </a:rPr>
              <a:t> 값을 구함</a:t>
            </a:r>
            <a:r>
              <a:rPr lang="en-US" altLang="ko-KR" sz="1100" dirty="0">
                <a:latin typeface="+mn-ea"/>
              </a:rPr>
              <a:t>.</a:t>
            </a:r>
          </a:p>
          <a:p>
            <a:r>
              <a:rPr lang="en-US" altLang="ko-KR" sz="1100" dirty="0" err="1">
                <a:latin typeface="+mn-ea"/>
              </a:rPr>
              <a:t>getParameterNames</a:t>
            </a:r>
            <a:r>
              <a:rPr lang="en-US" altLang="ko-KR" sz="1100" dirty="0">
                <a:latin typeface="+mn-ea"/>
              </a:rPr>
              <a:t>() : </a:t>
            </a:r>
            <a:r>
              <a:rPr lang="ko-KR" altLang="en-US" sz="1100" dirty="0">
                <a:latin typeface="+mn-ea"/>
              </a:rPr>
              <a:t>모든 </a:t>
            </a:r>
            <a:r>
              <a:rPr lang="ko-KR" altLang="en-US" sz="1100" dirty="0" err="1">
                <a:latin typeface="+mn-ea"/>
              </a:rPr>
              <a:t>파라미터</a:t>
            </a:r>
            <a:r>
              <a:rPr lang="ko-KR" altLang="en-US" sz="1100" dirty="0">
                <a:latin typeface="+mn-ea"/>
              </a:rPr>
              <a:t> 이름을 구함</a:t>
            </a:r>
            <a:r>
              <a:rPr lang="en-US" altLang="ko-KR" sz="1100" dirty="0">
                <a:latin typeface="+mn-ea"/>
              </a:rPr>
              <a:t>.</a:t>
            </a:r>
          </a:p>
          <a:p>
            <a:r>
              <a:rPr lang="en-US" altLang="ko-KR" sz="1100" dirty="0" err="1">
                <a:latin typeface="+mn-ea"/>
              </a:rPr>
              <a:t>getParameterValues</a:t>
            </a:r>
            <a:r>
              <a:rPr lang="en-US" altLang="ko-KR" sz="1100" dirty="0">
                <a:latin typeface="+mn-ea"/>
              </a:rPr>
              <a:t>(String name) : name</a:t>
            </a:r>
            <a:r>
              <a:rPr lang="ko-KR" altLang="en-US" sz="1100" dirty="0">
                <a:latin typeface="+mn-ea"/>
              </a:rPr>
              <a:t>에 해당하는 </a:t>
            </a:r>
            <a:r>
              <a:rPr lang="ko-KR" altLang="en-US" sz="1100" dirty="0" err="1">
                <a:latin typeface="+mn-ea"/>
              </a:rPr>
              <a:t>파라미터값들을</a:t>
            </a:r>
            <a:r>
              <a:rPr lang="ko-KR" altLang="en-US" sz="1100" dirty="0">
                <a:latin typeface="+mn-ea"/>
              </a:rPr>
              <a:t> 구함</a:t>
            </a:r>
            <a:r>
              <a:rPr lang="en-US" altLang="ko-KR" sz="1100" dirty="0">
                <a:latin typeface="+mn-ea"/>
              </a:rPr>
              <a:t>.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089" y="2914659"/>
            <a:ext cx="6645495" cy="3731371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3617" y="2914659"/>
            <a:ext cx="3630183" cy="1496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5534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atin typeface="+mn-ea"/>
              </a:rPr>
              <a:t>3. request </a:t>
            </a:r>
            <a:r>
              <a:rPr lang="ko-KR" altLang="en-US" sz="1600" b="1" dirty="0">
                <a:latin typeface="+mn-ea"/>
              </a:rPr>
              <a:t>객체 </a:t>
            </a:r>
            <a:r>
              <a:rPr lang="en-US" altLang="ko-KR" sz="1600" b="1" dirty="0">
                <a:latin typeface="+mn-ea"/>
              </a:rPr>
              <a:t>– </a:t>
            </a:r>
            <a:r>
              <a:rPr lang="ko-KR" altLang="en-US" sz="1600" b="1" dirty="0" err="1">
                <a:latin typeface="+mn-ea"/>
              </a:rPr>
              <a:t>메소드</a:t>
            </a:r>
            <a:r>
              <a:rPr lang="ko-KR" altLang="en-US" sz="1600" b="1" dirty="0">
                <a:latin typeface="+mn-ea"/>
              </a:rPr>
              <a:t> </a:t>
            </a:r>
            <a:r>
              <a:rPr lang="en-US" altLang="ko-KR" sz="1600" b="1" dirty="0">
                <a:latin typeface="+mn-ea"/>
              </a:rPr>
              <a:t>: </a:t>
            </a:r>
            <a:r>
              <a:rPr lang="en-US" altLang="ko-KR" sz="1600" b="1" dirty="0" err="1">
                <a:latin typeface="+mn-ea"/>
              </a:rPr>
              <a:t>getParameterNames</a:t>
            </a:r>
            <a:r>
              <a:rPr lang="en-US" altLang="ko-KR" sz="1600" b="1" dirty="0">
                <a:latin typeface="+mn-ea"/>
              </a:rPr>
              <a:t>()</a:t>
            </a:r>
            <a:endParaRPr lang="ko-KR" altLang="en-US" sz="1600" b="1" dirty="0">
              <a:latin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8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77008" y="1415867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latin typeface="+mn-ea"/>
              </a:rPr>
              <a:t>Parameter </a:t>
            </a:r>
            <a:r>
              <a:rPr lang="ko-KR" altLang="en-US" sz="1100" dirty="0" err="1">
                <a:latin typeface="+mn-ea"/>
              </a:rPr>
              <a:t>메소드</a:t>
            </a:r>
            <a:r>
              <a:rPr lang="en-US" altLang="ko-KR" sz="1100" dirty="0">
                <a:latin typeface="+mn-ea"/>
              </a:rPr>
              <a:t>((jsp_11_1_ex1_requestobj)</a:t>
            </a:r>
          </a:p>
        </p:txBody>
      </p:sp>
      <p:cxnSp>
        <p:nvCxnSpPr>
          <p:cNvPr id="9" name="직선 연결선 8"/>
          <p:cNvCxnSpPr/>
          <p:nvPr/>
        </p:nvCxnSpPr>
        <p:spPr>
          <a:xfrm>
            <a:off x="730798" y="1682649"/>
            <a:ext cx="10089604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30798" y="1687822"/>
            <a:ext cx="100896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err="1">
                <a:latin typeface="+mn-ea"/>
              </a:rPr>
              <a:t>getParameterNames</a:t>
            </a:r>
            <a:r>
              <a:rPr lang="en-US" altLang="ko-KR" sz="1400" dirty="0">
                <a:latin typeface="+mn-ea"/>
              </a:rPr>
              <a:t>() : </a:t>
            </a:r>
            <a:r>
              <a:rPr lang="ko-KR" altLang="en-US" sz="1400" dirty="0">
                <a:latin typeface="+mn-ea"/>
              </a:rPr>
              <a:t>모든 </a:t>
            </a:r>
            <a:r>
              <a:rPr lang="ko-KR" altLang="en-US" sz="1400" dirty="0" err="1">
                <a:latin typeface="+mn-ea"/>
              </a:rPr>
              <a:t>파라미터</a:t>
            </a:r>
            <a:r>
              <a:rPr lang="ko-KR" altLang="en-US" sz="1400" dirty="0">
                <a:latin typeface="+mn-ea"/>
              </a:rPr>
              <a:t> 이름을 구함</a:t>
            </a:r>
            <a:r>
              <a:rPr lang="en-US" altLang="ko-KR" sz="1400" dirty="0">
                <a:latin typeface="+mn-ea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7008" y="2282861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- Enumeration</a:t>
            </a:r>
            <a:r>
              <a:rPr lang="ko-KR" altLang="en-US" sz="1100" dirty="0"/>
              <a:t>은</a:t>
            </a:r>
            <a:r>
              <a:rPr lang="en-US" altLang="ko-KR" sz="1100" dirty="0"/>
              <a:t> Iterator</a:t>
            </a:r>
            <a:r>
              <a:rPr lang="ko-KR" altLang="en-US" sz="1100" dirty="0"/>
              <a:t>의 </a:t>
            </a:r>
            <a:r>
              <a:rPr lang="ko-KR" altLang="en-US" sz="1100" dirty="0" err="1"/>
              <a:t>구버젼</a:t>
            </a:r>
            <a:endParaRPr lang="en-US" altLang="ko-KR" sz="1100" dirty="0"/>
          </a:p>
        </p:txBody>
      </p:sp>
      <p:cxnSp>
        <p:nvCxnSpPr>
          <p:cNvPr id="13" name="직선 연결선 12"/>
          <p:cNvCxnSpPr/>
          <p:nvPr/>
        </p:nvCxnSpPr>
        <p:spPr>
          <a:xfrm>
            <a:off x="730798" y="2588411"/>
            <a:ext cx="10089604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30798" y="3176432"/>
            <a:ext cx="1008960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u="sng" dirty="0"/>
              <a:t>Enumeration </a:t>
            </a:r>
            <a:r>
              <a:rPr lang="en-US" altLang="ko-KR" u="sng" dirty="0" err="1"/>
              <a:t>enum</a:t>
            </a:r>
            <a:r>
              <a:rPr lang="en-US" altLang="ko-KR" u="sng" dirty="0"/>
              <a:t> = </a:t>
            </a:r>
            <a:r>
              <a:rPr lang="en-US" altLang="ko-KR" dirty="0" err="1"/>
              <a:t>request.getParameterNames</a:t>
            </a:r>
            <a:r>
              <a:rPr lang="en-US" altLang="ko-KR" dirty="0"/>
              <a:t>();</a:t>
            </a:r>
            <a:endParaRPr lang="en-US" altLang="ko-KR" u="sng" dirty="0"/>
          </a:p>
          <a:p>
            <a:r>
              <a:rPr lang="en-US" altLang="ko-KR" b="1" dirty="0"/>
              <a:t>while(</a:t>
            </a:r>
            <a:r>
              <a:rPr lang="en-US" altLang="ko-KR" b="1" dirty="0" err="1"/>
              <a:t>enum.hasMoreElements</a:t>
            </a:r>
            <a:r>
              <a:rPr lang="en-US" altLang="ko-KR" b="1" dirty="0"/>
              <a:t>()){</a:t>
            </a:r>
          </a:p>
          <a:p>
            <a:r>
              <a:rPr lang="en-US" altLang="ko-KR" dirty="0"/>
              <a:t>String </a:t>
            </a:r>
            <a:r>
              <a:rPr lang="en-US" altLang="ko-KR" dirty="0" err="1"/>
              <a:t>sName</a:t>
            </a:r>
            <a:r>
              <a:rPr lang="en-US" altLang="ko-KR" dirty="0"/>
              <a:t> = </a:t>
            </a:r>
            <a:r>
              <a:rPr lang="en-US" altLang="ko-KR" dirty="0" err="1"/>
              <a:t>enum.nextElement</a:t>
            </a:r>
            <a:r>
              <a:rPr lang="en-US" altLang="ko-KR" dirty="0"/>
              <a:t>().</a:t>
            </a:r>
            <a:r>
              <a:rPr lang="en-US" altLang="ko-KR" dirty="0" err="1"/>
              <a:t>toString</a:t>
            </a:r>
            <a:r>
              <a:rPr lang="en-US" altLang="ko-KR" dirty="0"/>
              <a:t>();</a:t>
            </a:r>
          </a:p>
          <a:p>
            <a:r>
              <a:rPr lang="en-US" altLang="ko-KR" dirty="0"/>
              <a:t>String[] </a:t>
            </a:r>
            <a:r>
              <a:rPr lang="en-US" altLang="ko-KR" dirty="0" err="1"/>
              <a:t>sValue</a:t>
            </a:r>
            <a:r>
              <a:rPr lang="en-US" altLang="ko-KR" dirty="0"/>
              <a:t> =  </a:t>
            </a:r>
            <a:r>
              <a:rPr lang="en-US" altLang="ko-KR" dirty="0" err="1"/>
              <a:t>request.getParameterValues</a:t>
            </a:r>
            <a:r>
              <a:rPr lang="en-US" altLang="ko-KR" dirty="0"/>
              <a:t>(</a:t>
            </a:r>
            <a:r>
              <a:rPr lang="en-US" altLang="ko-KR" dirty="0" err="1"/>
              <a:t>sName</a:t>
            </a:r>
            <a:r>
              <a:rPr lang="en-US" altLang="ko-KR" dirty="0"/>
              <a:t>).</a:t>
            </a:r>
            <a:r>
              <a:rPr lang="en-US" altLang="ko-KR" dirty="0" err="1"/>
              <a:t>toString</a:t>
            </a:r>
            <a:r>
              <a:rPr lang="en-US" altLang="ko-KR" dirty="0"/>
              <a:t>();</a:t>
            </a:r>
          </a:p>
          <a:p>
            <a:r>
              <a:rPr lang="en-US" altLang="ko-KR" dirty="0" err="1"/>
              <a:t>out.println</a:t>
            </a:r>
            <a:r>
              <a:rPr lang="en-US" altLang="ko-KR" dirty="0"/>
              <a:t>("</a:t>
            </a:r>
            <a:r>
              <a:rPr lang="en-US" altLang="ko-KR" dirty="0" err="1"/>
              <a:t>sName</a:t>
            </a:r>
            <a:r>
              <a:rPr lang="en-US" altLang="ko-KR" dirty="0"/>
              <a:t> : " + </a:t>
            </a:r>
            <a:r>
              <a:rPr lang="en-US" altLang="ko-KR" dirty="0" err="1"/>
              <a:t>sName</a:t>
            </a:r>
            <a:r>
              <a:rPr lang="en-US" altLang="ko-KR" dirty="0"/>
              <a:t> + "&lt;</a:t>
            </a:r>
            <a:r>
              <a:rPr lang="en-US" altLang="ko-KR" dirty="0" err="1"/>
              <a:t>br</a:t>
            </a:r>
            <a:r>
              <a:rPr lang="en-US" altLang="ko-KR" dirty="0"/>
              <a:t> /&gt;");</a:t>
            </a:r>
          </a:p>
          <a:p>
            <a:r>
              <a:rPr lang="en-US" altLang="ko-KR" dirty="0" err="1"/>
              <a:t>out.println</a:t>
            </a:r>
            <a:r>
              <a:rPr lang="en-US" altLang="ko-KR" dirty="0"/>
              <a:t>("</a:t>
            </a:r>
            <a:r>
              <a:rPr lang="en-US" altLang="ko-KR" dirty="0" err="1"/>
              <a:t>sValue</a:t>
            </a:r>
            <a:r>
              <a:rPr lang="en-US" altLang="ko-KR" dirty="0"/>
              <a:t> : " + </a:t>
            </a:r>
            <a:r>
              <a:rPr lang="en-US" altLang="ko-KR" dirty="0" err="1"/>
              <a:t>Arrays.toString</a:t>
            </a:r>
            <a:r>
              <a:rPr lang="en-US" altLang="ko-KR" dirty="0"/>
              <a:t>(</a:t>
            </a:r>
            <a:r>
              <a:rPr lang="en-US" altLang="ko-KR" dirty="0" err="1"/>
              <a:t>sValue</a:t>
            </a:r>
            <a:r>
              <a:rPr lang="en-US" altLang="ko-KR" dirty="0"/>
              <a:t>) + "&lt;</a:t>
            </a:r>
            <a:r>
              <a:rPr lang="en-US" altLang="ko-KR" dirty="0" err="1"/>
              <a:t>br</a:t>
            </a:r>
            <a:r>
              <a:rPr lang="en-US" altLang="ko-KR" dirty="0"/>
              <a:t> /&gt;");</a:t>
            </a:r>
          </a:p>
          <a:p>
            <a:r>
              <a:rPr lang="en-US" altLang="ko-KR" dirty="0"/>
              <a:t>}</a:t>
            </a:r>
            <a:endParaRPr lang="en-US" altLang="ko-KR" sz="1100" dirty="0">
              <a:latin typeface="+mn-ea"/>
            </a:endParaRPr>
          </a:p>
        </p:txBody>
      </p:sp>
      <p:pic>
        <p:nvPicPr>
          <p:cNvPr id="15" name="Picture 1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3291" y="5100638"/>
            <a:ext cx="6499225" cy="162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TextBox 15"/>
          <p:cNvSpPr txBox="1"/>
          <p:nvPr/>
        </p:nvSpPr>
        <p:spPr>
          <a:xfrm>
            <a:off x="730798" y="2709965"/>
            <a:ext cx="100896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 err="1">
                <a:latin typeface="+mn-ea"/>
              </a:rPr>
              <a:t>request.getParameterNames</a:t>
            </a:r>
            <a:r>
              <a:rPr lang="en-US" altLang="ko-KR" sz="2000" dirty="0">
                <a:latin typeface="+mn-ea"/>
              </a:rPr>
              <a:t>()</a:t>
            </a:r>
            <a:r>
              <a:rPr lang="ko-KR" altLang="en-US" sz="2000" dirty="0">
                <a:latin typeface="+mn-ea"/>
              </a:rPr>
              <a:t>는 </a:t>
            </a:r>
            <a:r>
              <a:rPr lang="en-US" altLang="ko-KR" sz="2000" dirty="0">
                <a:latin typeface="+mn-ea"/>
              </a:rPr>
              <a:t>Enumeration</a:t>
            </a:r>
            <a:r>
              <a:rPr lang="ko-KR" altLang="en-US" sz="2000" dirty="0">
                <a:latin typeface="+mn-ea"/>
              </a:rPr>
              <a:t>으로 </a:t>
            </a:r>
            <a:r>
              <a:rPr lang="ko-KR" altLang="en-US" sz="2000" dirty="0" err="1">
                <a:latin typeface="+mn-ea"/>
              </a:rPr>
              <a:t>리턴값</a:t>
            </a:r>
            <a:r>
              <a:rPr lang="ko-KR" altLang="en-US" sz="2000" dirty="0">
                <a:latin typeface="+mn-ea"/>
              </a:rPr>
              <a:t> 반환</a:t>
            </a:r>
            <a:r>
              <a:rPr lang="en-US" altLang="ko-KR" sz="2000" dirty="0"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3080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>
                <a:solidFill>
                  <a:schemeClr val="tx1"/>
                </a:solidFill>
                <a:effectLst/>
                <a:latin typeface="+mn-ea"/>
                <a:ea typeface="+mn-ea"/>
              </a:rPr>
              <a:t>* </a:t>
            </a:r>
            <a:r>
              <a:rPr lang="ko-KR" altLang="en-US" sz="1600" b="1" kern="1200" dirty="0">
                <a:solidFill>
                  <a:schemeClr val="tx1"/>
                </a:solidFill>
                <a:effectLst/>
                <a:latin typeface="+mn-ea"/>
                <a:ea typeface="+mn-ea"/>
              </a:rPr>
              <a:t>참조 </a:t>
            </a:r>
            <a:r>
              <a:rPr lang="en-US" altLang="ko-KR" sz="1600" b="1" dirty="0">
                <a:latin typeface="+mn-ea"/>
              </a:rPr>
              <a:t>: Enumeration (</a:t>
            </a:r>
            <a:r>
              <a:rPr lang="ko-KR" altLang="en-US" sz="1600" b="1" dirty="0" err="1">
                <a:latin typeface="+mn-ea"/>
              </a:rPr>
              <a:t>구버전</a:t>
            </a:r>
            <a:r>
              <a:rPr lang="en-US" altLang="ko-KR" sz="1600" b="1" dirty="0">
                <a:latin typeface="+mn-ea"/>
              </a:rPr>
              <a:t>) / Iterator (</a:t>
            </a:r>
            <a:r>
              <a:rPr lang="ko-KR" altLang="en-US" sz="1600" b="1" dirty="0" err="1">
                <a:latin typeface="+mn-ea"/>
              </a:rPr>
              <a:t>신버전</a:t>
            </a:r>
            <a:r>
              <a:rPr lang="en-US" altLang="ko-KR" sz="1600" b="1" dirty="0">
                <a:latin typeface="+mn-ea"/>
              </a:rPr>
              <a:t>)</a:t>
            </a:r>
            <a:endParaRPr lang="ko-KR" altLang="en-US" sz="1600" b="1" dirty="0">
              <a:latin typeface="+mn-ea"/>
              <a:ea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9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슬라이드 번호 개체 틀 2"/>
          <p:cNvSpPr txBox="1">
            <a:spLocks/>
          </p:cNvSpPr>
          <p:nvPr/>
        </p:nvSpPr>
        <p:spPr>
          <a:xfrm>
            <a:off x="7164186" y="618778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FC7ED37-DDEF-4DB7-963E-342CD9877B0B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cxnSp>
        <p:nvCxnSpPr>
          <p:cNvPr id="10" name="직선 연결선 9"/>
          <p:cNvCxnSpPr/>
          <p:nvPr/>
        </p:nvCxnSpPr>
        <p:spPr>
          <a:xfrm>
            <a:off x="677008" y="1418673"/>
            <a:ext cx="10089604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77008" y="1432158"/>
            <a:ext cx="1008960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ko-KR" altLang="en-US" sz="1100" dirty="0"/>
              <a:t>컬렉션에 저장된 요소들을 읽어오는 방법을 표준화한 것 </a:t>
            </a:r>
            <a:endParaRPr lang="en-US" altLang="ko-KR" sz="1100" dirty="0"/>
          </a:p>
          <a:p>
            <a:pPr marL="171450" indent="-171450">
              <a:buFontTx/>
              <a:buChar char="-"/>
            </a:pPr>
            <a:r>
              <a:rPr lang="ko-KR" altLang="en-US" sz="1100" dirty="0"/>
              <a:t>컬렉션에 </a:t>
            </a:r>
            <a:r>
              <a:rPr lang="en-US" altLang="ko-KR" sz="1100" dirty="0"/>
              <a:t>iterator()</a:t>
            </a:r>
            <a:r>
              <a:rPr lang="ko-KR" altLang="en-US" sz="1100" dirty="0"/>
              <a:t>를 호출해서 </a:t>
            </a:r>
            <a:r>
              <a:rPr lang="en-US" altLang="ko-KR" sz="1100" dirty="0"/>
              <a:t>Iterator</a:t>
            </a:r>
            <a:r>
              <a:rPr lang="ko-KR" altLang="en-US" sz="1100" dirty="0"/>
              <a:t>를 구현한 객체를 얻어서 사용</a:t>
            </a:r>
            <a:r>
              <a:rPr lang="en-US" altLang="ko-KR" sz="1100" dirty="0"/>
              <a:t>.</a:t>
            </a:r>
          </a:p>
        </p:txBody>
      </p:sp>
      <p:pic>
        <p:nvPicPr>
          <p:cNvPr id="13" name="Picture 2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2018" y="1973306"/>
            <a:ext cx="6535737" cy="2027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2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5396" y="4235686"/>
            <a:ext cx="7339013" cy="154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3409" y="4723048"/>
            <a:ext cx="3395662" cy="1212850"/>
          </a:xfrm>
          <a:prstGeom prst="rect">
            <a:avLst/>
          </a:prstGeom>
          <a:noFill/>
          <a:ln w="9525" algn="ctr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6" name="그룹 38"/>
          <p:cNvGrpSpPr>
            <a:grpSpLocks/>
          </p:cNvGrpSpPr>
          <p:nvPr/>
        </p:nvGrpSpPr>
        <p:grpSpPr bwMode="auto">
          <a:xfrm>
            <a:off x="2375859" y="5693011"/>
            <a:ext cx="4308475" cy="806450"/>
            <a:chOff x="774648" y="5838858"/>
            <a:chExt cx="4308534" cy="805998"/>
          </a:xfrm>
        </p:grpSpPr>
        <p:pic>
          <p:nvPicPr>
            <p:cNvPr id="17" name="Picture 23"/>
            <p:cNvPicPr>
              <a:picLocks noChangeAspect="1" noChangeArrowheads="1"/>
            </p:cNvPicPr>
            <p:nvPr/>
          </p:nvPicPr>
          <p:blipFill>
            <a:blip r:embed="rId5"/>
            <a:stretch>
              <a:fillRect/>
            </a:stretch>
          </p:blipFill>
          <p:spPr bwMode="auto">
            <a:xfrm>
              <a:off x="774648" y="5838858"/>
              <a:ext cx="4308534" cy="805998"/>
            </a:xfrm>
            <a:prstGeom prst="rect">
              <a:avLst/>
            </a:prstGeom>
            <a:ln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</p:pic>
        <p:sp>
          <p:nvSpPr>
            <p:cNvPr id="18" name="Rectangle 21"/>
            <p:cNvSpPr>
              <a:spLocks noChangeArrowheads="1"/>
            </p:cNvSpPr>
            <p:nvPr/>
          </p:nvSpPr>
          <p:spPr bwMode="auto">
            <a:xfrm>
              <a:off x="834669" y="6313527"/>
              <a:ext cx="4176000" cy="288000"/>
            </a:xfrm>
            <a:prstGeom prst="rect">
              <a:avLst/>
            </a:prstGeom>
            <a:noFill/>
            <a:ln w="12700" algn="ctr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견명조" pitchFamily="18" charset="-127"/>
                  <a:ea typeface="견명조" pitchFamily="18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견명조" pitchFamily="18" charset="-127"/>
                  <a:ea typeface="견명조" pitchFamily="18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견명조" pitchFamily="18" charset="-127"/>
                  <a:ea typeface="견명조" pitchFamily="18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견명조" pitchFamily="18" charset="-127"/>
                  <a:ea typeface="견명조" pitchFamily="18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견명조" pitchFamily="18" charset="-127"/>
                  <a:ea typeface="견명조" pitchFamily="18" charset="-127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견명조" pitchFamily="18" charset="-127"/>
                  <a:ea typeface="견명조" pitchFamily="18" charset="-127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견명조" pitchFamily="18" charset="-127"/>
                  <a:ea typeface="견명조" pitchFamily="18" charset="-127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견명조" pitchFamily="18" charset="-127"/>
                  <a:ea typeface="견명조" pitchFamily="18" charset="-127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견명조" pitchFamily="18" charset="-127"/>
                  <a:ea typeface="견명조" pitchFamily="18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</p:grpSp>
      <p:grpSp>
        <p:nvGrpSpPr>
          <p:cNvPr id="19" name="그룹 39"/>
          <p:cNvGrpSpPr>
            <a:grpSpLocks/>
          </p:cNvGrpSpPr>
          <p:nvPr/>
        </p:nvGrpSpPr>
        <p:grpSpPr bwMode="auto">
          <a:xfrm>
            <a:off x="6611309" y="6078773"/>
            <a:ext cx="3724275" cy="457200"/>
            <a:chOff x="5083182" y="6184944"/>
            <a:chExt cx="3724326" cy="457200"/>
          </a:xfrm>
        </p:grpSpPr>
        <p:pic>
          <p:nvPicPr>
            <p:cNvPr id="21" name="Picture 18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5530863" y="6184944"/>
              <a:ext cx="3276645" cy="457200"/>
            </a:xfrm>
            <a:prstGeom prst="rect">
              <a:avLst/>
            </a:prstGeom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</p:pic>
        <p:sp>
          <p:nvSpPr>
            <p:cNvPr id="22" name="오른쪽 화살표 28"/>
            <p:cNvSpPr>
              <a:spLocks noChangeArrowheads="1"/>
            </p:cNvSpPr>
            <p:nvPr/>
          </p:nvSpPr>
          <p:spPr bwMode="auto">
            <a:xfrm>
              <a:off x="5083182" y="6294483"/>
              <a:ext cx="511182" cy="219078"/>
            </a:xfrm>
            <a:prstGeom prst="rightArrow">
              <a:avLst>
                <a:gd name="adj1" fmla="val 50000"/>
                <a:gd name="adj2" fmla="val 50005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449263" indent="-449263" eaLnBrk="0" hangingPunct="0">
                <a:defRPr kumimoji="1">
                  <a:solidFill>
                    <a:schemeClr val="tx1"/>
                  </a:solidFill>
                  <a:latin typeface="견명조" pitchFamily="18" charset="-127"/>
                  <a:ea typeface="견명조" pitchFamily="18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견명조" pitchFamily="18" charset="-127"/>
                  <a:ea typeface="견명조" pitchFamily="18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견명조" pitchFamily="18" charset="-127"/>
                  <a:ea typeface="견명조" pitchFamily="18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견명조" pitchFamily="18" charset="-127"/>
                  <a:ea typeface="견명조" pitchFamily="18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견명조" pitchFamily="18" charset="-127"/>
                  <a:ea typeface="견명조" pitchFamily="18" charset="-127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견명조" pitchFamily="18" charset="-127"/>
                  <a:ea typeface="견명조" pitchFamily="18" charset="-127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견명조" pitchFamily="18" charset="-127"/>
                  <a:ea typeface="견명조" pitchFamily="18" charset="-127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견명조" pitchFamily="18" charset="-127"/>
                  <a:ea typeface="견명조" pitchFamily="18" charset="-127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견명조" pitchFamily="18" charset="-127"/>
                  <a:ea typeface="견명조" pitchFamily="18" charset="-127"/>
                </a:defRPr>
              </a:lvl9pPr>
            </a:lstStyle>
            <a:p>
              <a:pPr eaLnBrk="1" hangingPunct="1"/>
              <a:endParaRPr lang="ko-KR" altLang="en-US" sz="1400">
                <a:latin typeface="Courier New" panose="020703090202050204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14774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>
                <a:solidFill>
                  <a:schemeClr val="tx1"/>
                </a:solidFill>
                <a:effectLst/>
                <a:latin typeface="+mn-ea"/>
                <a:ea typeface="+mn-ea"/>
              </a:rPr>
              <a:t>4. response</a:t>
            </a:r>
            <a:r>
              <a:rPr lang="ko-KR" altLang="en-US" sz="1600" b="1" kern="1200" dirty="0">
                <a:solidFill>
                  <a:schemeClr val="tx1"/>
                </a:solidFill>
                <a:effectLst/>
                <a:latin typeface="+mn-ea"/>
                <a:ea typeface="+mn-ea"/>
              </a:rPr>
              <a:t>객체 </a:t>
            </a:r>
            <a:r>
              <a:rPr lang="en-US" altLang="ko-KR" sz="1600" b="1" kern="1200" dirty="0">
                <a:solidFill>
                  <a:schemeClr val="tx1"/>
                </a:solidFill>
                <a:effectLst/>
                <a:latin typeface="+mn-ea"/>
                <a:ea typeface="+mn-ea"/>
              </a:rPr>
              <a:t>- </a:t>
            </a:r>
            <a:r>
              <a:rPr lang="ko-KR" altLang="en-US" sz="1600" b="1" kern="1200" dirty="0" err="1">
                <a:solidFill>
                  <a:schemeClr val="tx1"/>
                </a:solidFill>
                <a:effectLst/>
                <a:latin typeface="+mn-ea"/>
                <a:ea typeface="+mn-ea"/>
              </a:rPr>
              <a:t>파라미터</a:t>
            </a:r>
            <a:r>
              <a:rPr lang="ko-KR" altLang="en-US" sz="1600" b="1" kern="1200" dirty="0">
                <a:solidFill>
                  <a:schemeClr val="tx1"/>
                </a:solidFill>
                <a:effectLst/>
                <a:latin typeface="+mn-ea"/>
                <a:ea typeface="+mn-ea"/>
              </a:rPr>
              <a:t> 값 전달</a:t>
            </a:r>
            <a:endParaRPr lang="ko-KR" altLang="en-US" sz="1600" b="1" dirty="0">
              <a:latin typeface="+mn-ea"/>
              <a:ea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10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77008" y="1116906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err="1">
                <a:latin typeface="+mn-ea"/>
              </a:rPr>
              <a:t>웹브라우저의</a:t>
            </a:r>
            <a:r>
              <a:rPr lang="ko-KR" altLang="en-US" sz="1100" dirty="0">
                <a:latin typeface="+mn-ea"/>
              </a:rPr>
              <a:t> 요청에 </a:t>
            </a:r>
            <a:r>
              <a:rPr lang="ko-KR" altLang="en-US" sz="1100" dirty="0" err="1">
                <a:latin typeface="+mn-ea"/>
              </a:rPr>
              <a:t>응답하는것을</a:t>
            </a:r>
            <a:r>
              <a:rPr lang="ko-KR" altLang="en-US" sz="1100" dirty="0">
                <a:latin typeface="+mn-ea"/>
              </a:rPr>
              <a:t> </a:t>
            </a:r>
            <a:r>
              <a:rPr lang="en-US" altLang="ko-KR" sz="1100" dirty="0">
                <a:latin typeface="+mn-ea"/>
              </a:rPr>
              <a:t>response</a:t>
            </a:r>
            <a:r>
              <a:rPr lang="ko-KR" altLang="en-US" sz="1100" dirty="0">
                <a:latin typeface="+mn-ea"/>
              </a:rPr>
              <a:t>라고 하며</a:t>
            </a:r>
            <a:r>
              <a:rPr lang="en-US" altLang="ko-KR" sz="1100" dirty="0">
                <a:latin typeface="+mn-ea"/>
              </a:rPr>
              <a:t>, </a:t>
            </a:r>
            <a:r>
              <a:rPr lang="ko-KR" altLang="en-US" sz="1100" dirty="0">
                <a:latin typeface="+mn-ea"/>
              </a:rPr>
              <a:t>이러한 응답</a:t>
            </a:r>
            <a:r>
              <a:rPr lang="en-US" altLang="ko-KR" sz="1100" dirty="0">
                <a:latin typeface="+mn-ea"/>
              </a:rPr>
              <a:t>(response)</a:t>
            </a:r>
            <a:r>
              <a:rPr lang="ko-KR" altLang="en-US" sz="1100" dirty="0">
                <a:latin typeface="+mn-ea"/>
              </a:rPr>
              <a:t>의</a:t>
            </a:r>
            <a:r>
              <a:rPr lang="en-US" altLang="ko-KR" sz="1100" dirty="0">
                <a:latin typeface="+mn-ea"/>
              </a:rPr>
              <a:t> </a:t>
            </a:r>
            <a:r>
              <a:rPr lang="ko-KR" altLang="en-US" sz="1100" dirty="0">
                <a:latin typeface="+mn-ea"/>
              </a:rPr>
              <a:t>정보를 가지고 있는 객체를 </a:t>
            </a:r>
            <a:r>
              <a:rPr lang="en-US" altLang="ko-KR" sz="1100" dirty="0">
                <a:latin typeface="+mn-ea"/>
              </a:rPr>
              <a:t>response</a:t>
            </a:r>
            <a:r>
              <a:rPr lang="ko-KR" altLang="en-US" sz="1100" dirty="0">
                <a:latin typeface="+mn-ea"/>
              </a:rPr>
              <a:t>객체 라고 합니다</a:t>
            </a:r>
            <a:r>
              <a:rPr lang="en-US" altLang="ko-KR" sz="1100" dirty="0">
                <a:latin typeface="+mn-ea"/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7008" y="4122123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latin typeface="+mn-ea"/>
              </a:rPr>
              <a:t>response </a:t>
            </a:r>
            <a:r>
              <a:rPr lang="ko-KR" altLang="en-US" sz="1100" dirty="0">
                <a:latin typeface="+mn-ea"/>
              </a:rPr>
              <a:t>객체 관련 </a:t>
            </a:r>
            <a:r>
              <a:rPr lang="ko-KR" altLang="en-US" sz="1100" dirty="0" err="1">
                <a:latin typeface="+mn-ea"/>
              </a:rPr>
              <a:t>메소드</a:t>
            </a:r>
            <a:r>
              <a:rPr lang="en-US" altLang="ko-KR" sz="1100" dirty="0">
                <a:latin typeface="+mn-ea"/>
              </a:rPr>
              <a:t>(jsp_11_2_ex1_responseobj)</a:t>
            </a:r>
          </a:p>
        </p:txBody>
      </p:sp>
      <p:cxnSp>
        <p:nvCxnSpPr>
          <p:cNvPr id="9" name="직선 연결선 8"/>
          <p:cNvCxnSpPr/>
          <p:nvPr/>
        </p:nvCxnSpPr>
        <p:spPr>
          <a:xfrm>
            <a:off x="730798" y="4388905"/>
            <a:ext cx="10089604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30798" y="4394078"/>
            <a:ext cx="1008960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err="1">
                <a:latin typeface="+mn-ea"/>
              </a:rPr>
              <a:t>getCharacterEncoding</a:t>
            </a:r>
            <a:r>
              <a:rPr lang="en-US" altLang="ko-KR" sz="1100" dirty="0">
                <a:latin typeface="+mn-ea"/>
              </a:rPr>
              <a:t>() : </a:t>
            </a:r>
            <a:r>
              <a:rPr lang="ko-KR" altLang="en-US" sz="1100" dirty="0" err="1">
                <a:latin typeface="+mn-ea"/>
              </a:rPr>
              <a:t>응답할때</a:t>
            </a:r>
            <a:r>
              <a:rPr lang="ko-KR" altLang="en-US" sz="1100" dirty="0">
                <a:latin typeface="+mn-ea"/>
              </a:rPr>
              <a:t> 문자의 </a:t>
            </a:r>
            <a:r>
              <a:rPr lang="ko-KR" altLang="en-US" sz="1100" dirty="0" err="1">
                <a:latin typeface="+mn-ea"/>
              </a:rPr>
              <a:t>인코딩</a:t>
            </a:r>
            <a:r>
              <a:rPr lang="ko-KR" altLang="en-US" sz="1100" dirty="0">
                <a:latin typeface="+mn-ea"/>
              </a:rPr>
              <a:t> 형태를 구합니다</a:t>
            </a:r>
            <a:r>
              <a:rPr lang="en-US" altLang="ko-KR" sz="1100" dirty="0">
                <a:latin typeface="+mn-ea"/>
              </a:rPr>
              <a:t>.</a:t>
            </a:r>
          </a:p>
          <a:p>
            <a:r>
              <a:rPr lang="en-US" altLang="ko-KR" sz="1100" dirty="0" err="1">
                <a:latin typeface="+mn-ea"/>
              </a:rPr>
              <a:t>addCookie</a:t>
            </a:r>
            <a:r>
              <a:rPr lang="en-US" altLang="ko-KR" sz="1100" dirty="0">
                <a:latin typeface="+mn-ea"/>
              </a:rPr>
              <a:t>(Cookie) : </a:t>
            </a:r>
            <a:r>
              <a:rPr lang="ko-KR" altLang="en-US" sz="1100" dirty="0">
                <a:latin typeface="+mn-ea"/>
              </a:rPr>
              <a:t>쿠키를 지정 합니다</a:t>
            </a:r>
            <a:r>
              <a:rPr lang="en-US" altLang="ko-KR" sz="1100" dirty="0">
                <a:latin typeface="+mn-ea"/>
              </a:rPr>
              <a:t>.</a:t>
            </a:r>
          </a:p>
          <a:p>
            <a:r>
              <a:rPr lang="en-US" altLang="ko-KR" sz="1100" dirty="0" err="1">
                <a:latin typeface="+mn-ea"/>
              </a:rPr>
              <a:t>sendRedirect</a:t>
            </a:r>
            <a:r>
              <a:rPr lang="en-US" altLang="ko-KR" sz="1100" dirty="0">
                <a:latin typeface="+mn-ea"/>
              </a:rPr>
              <a:t>(URL) : </a:t>
            </a:r>
            <a:r>
              <a:rPr lang="ko-KR" altLang="en-US" sz="1100" dirty="0">
                <a:latin typeface="+mn-ea"/>
              </a:rPr>
              <a:t>지정한 </a:t>
            </a:r>
            <a:r>
              <a:rPr lang="en-US" altLang="ko-KR" sz="1100" dirty="0">
                <a:latin typeface="+mn-ea"/>
              </a:rPr>
              <a:t>URL</a:t>
            </a:r>
            <a:r>
              <a:rPr lang="ko-KR" altLang="en-US" sz="1100">
                <a:latin typeface="+mn-ea"/>
              </a:rPr>
              <a:t>로 이동합니다</a:t>
            </a:r>
            <a:r>
              <a:rPr lang="en-US" altLang="ko-KR" sz="1100" dirty="0">
                <a:latin typeface="+mn-ea"/>
              </a:rPr>
              <a:t>.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1958109" y="1905249"/>
            <a:ext cx="2613891" cy="17179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웹브라우저</a:t>
            </a:r>
            <a:endParaRPr lang="en-US" altLang="ko-KR" dirty="0"/>
          </a:p>
          <a:p>
            <a:pPr algn="ctr"/>
            <a:r>
              <a:rPr lang="en-US" altLang="ko-KR" dirty="0"/>
              <a:t>(</a:t>
            </a:r>
            <a:r>
              <a:rPr lang="ko-KR" altLang="en-US" dirty="0"/>
              <a:t>클라이언트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3" name="직사각형 12"/>
          <p:cNvSpPr/>
          <p:nvPr/>
        </p:nvSpPr>
        <p:spPr>
          <a:xfrm>
            <a:off x="7208982" y="1905249"/>
            <a:ext cx="2613891" cy="17179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서버</a:t>
            </a:r>
          </a:p>
        </p:txBody>
      </p:sp>
      <p:cxnSp>
        <p:nvCxnSpPr>
          <p:cNvPr id="11" name="직선 화살표 연결선 10"/>
          <p:cNvCxnSpPr/>
          <p:nvPr/>
        </p:nvCxnSpPr>
        <p:spPr>
          <a:xfrm>
            <a:off x="4913745" y="2276833"/>
            <a:ext cx="19119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185050" y="2302302"/>
            <a:ext cx="11811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>
                <a:latin typeface="+mn-ea"/>
              </a:rPr>
              <a:t>Request</a:t>
            </a:r>
          </a:p>
        </p:txBody>
      </p:sp>
      <p:cxnSp>
        <p:nvCxnSpPr>
          <p:cNvPr id="17" name="직선 화살표 연결선 16"/>
          <p:cNvCxnSpPr/>
          <p:nvPr/>
        </p:nvCxnSpPr>
        <p:spPr>
          <a:xfrm flipH="1">
            <a:off x="4913745" y="3235708"/>
            <a:ext cx="19119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185050" y="3235708"/>
            <a:ext cx="11811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>
                <a:latin typeface="+mn-ea"/>
              </a:rPr>
              <a:t>Response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3548" y="4640824"/>
            <a:ext cx="3304896" cy="1899665"/>
          </a:xfrm>
          <a:prstGeom prst="rect">
            <a:avLst/>
          </a:prstGeom>
        </p:spPr>
      </p:pic>
      <p:sp>
        <p:nvSpPr>
          <p:cNvPr id="19" name="직사각형 18"/>
          <p:cNvSpPr/>
          <p:nvPr/>
        </p:nvSpPr>
        <p:spPr>
          <a:xfrm>
            <a:off x="840509" y="5605775"/>
            <a:ext cx="1565563" cy="4809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+mn-ea"/>
              </a:rPr>
              <a:t>requestex.html</a:t>
            </a:r>
            <a:endParaRPr lang="ko-KR" altLang="en-US" sz="12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2821709" y="5605774"/>
            <a:ext cx="1565563" cy="4809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latin typeface="+mn-ea"/>
              </a:rPr>
              <a:t>request_send.jsp</a:t>
            </a:r>
            <a:endParaRPr lang="ko-KR" altLang="en-US" sz="12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4913745" y="5129547"/>
            <a:ext cx="1565563" cy="4809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latin typeface="+mn-ea"/>
              </a:rPr>
              <a:t>pass.jsp</a:t>
            </a:r>
            <a:endParaRPr lang="ko-KR" altLang="en-US" sz="12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913745" y="6054533"/>
            <a:ext cx="1565563" cy="4809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latin typeface="+mn-ea"/>
              </a:rPr>
              <a:t>ng.jsp</a:t>
            </a:r>
            <a:endParaRPr lang="ko-KR" altLang="en-US" sz="1200" dirty="0">
              <a:latin typeface="+mn-ea"/>
            </a:endParaRPr>
          </a:p>
        </p:txBody>
      </p:sp>
      <p:cxnSp>
        <p:nvCxnSpPr>
          <p:cNvPr id="25" name="직선 화살표 연결선 24"/>
          <p:cNvCxnSpPr/>
          <p:nvPr/>
        </p:nvCxnSpPr>
        <p:spPr>
          <a:xfrm>
            <a:off x="2406072" y="5846268"/>
            <a:ext cx="41563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/>
          <p:cNvCxnSpPr/>
          <p:nvPr/>
        </p:nvCxnSpPr>
        <p:spPr>
          <a:xfrm flipV="1">
            <a:off x="4387272" y="5428018"/>
            <a:ext cx="406401" cy="4182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/>
          <p:cNvCxnSpPr>
            <a:stCxn id="22" idx="3"/>
          </p:cNvCxnSpPr>
          <p:nvPr/>
        </p:nvCxnSpPr>
        <p:spPr>
          <a:xfrm>
            <a:off x="4387272" y="5846269"/>
            <a:ext cx="406401" cy="3757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382654" y="5683318"/>
            <a:ext cx="12053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 err="1">
                <a:latin typeface="+mn-ea"/>
              </a:rPr>
              <a:t>sendRedirect</a:t>
            </a:r>
            <a:r>
              <a:rPr lang="en-US" altLang="ko-KR" sz="1100" dirty="0">
                <a:latin typeface="+mn-ea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9435901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>
                <a:solidFill>
                  <a:schemeClr val="tx1"/>
                </a:solidFill>
                <a:effectLst/>
                <a:latin typeface="+mn-ea"/>
                <a:ea typeface="+mn-ea"/>
              </a:rPr>
              <a:t>* </a:t>
            </a:r>
            <a:r>
              <a:rPr lang="ko-KR" altLang="en-US" sz="1600" b="1" kern="1200" dirty="0">
                <a:solidFill>
                  <a:schemeClr val="tx1"/>
                </a:solidFill>
                <a:effectLst/>
                <a:latin typeface="+mn-ea"/>
                <a:ea typeface="+mn-ea"/>
              </a:rPr>
              <a:t>참조 </a:t>
            </a:r>
            <a:r>
              <a:rPr lang="en-US" altLang="ko-KR" sz="1600" b="1" kern="1200" dirty="0">
                <a:solidFill>
                  <a:schemeClr val="tx1"/>
                </a:solidFill>
                <a:effectLst/>
                <a:latin typeface="+mn-ea"/>
                <a:ea typeface="+mn-ea"/>
              </a:rPr>
              <a:t>: </a:t>
            </a:r>
            <a:r>
              <a:rPr lang="en-US" altLang="ko-KR" sz="1600" b="1" dirty="0" err="1">
                <a:latin typeface="+mn-ea"/>
              </a:rPr>
              <a:t>response.sendRedirect</a:t>
            </a:r>
            <a:r>
              <a:rPr lang="en-US" altLang="ko-KR" sz="1600" b="1" dirty="0">
                <a:latin typeface="+mn-ea"/>
              </a:rPr>
              <a:t>(URL) </a:t>
            </a:r>
            <a:r>
              <a:rPr lang="ko-KR" altLang="en-US" sz="1600" b="1" dirty="0" err="1">
                <a:latin typeface="+mn-ea"/>
              </a:rPr>
              <a:t>파라미터</a:t>
            </a:r>
            <a:r>
              <a:rPr lang="ko-KR" altLang="en-US" sz="1600" b="1" dirty="0">
                <a:latin typeface="+mn-ea"/>
              </a:rPr>
              <a:t> 값으로 한글 깨짐 처리</a:t>
            </a:r>
            <a:endParaRPr lang="ko-KR" altLang="en-US" sz="1600" b="1" dirty="0">
              <a:latin typeface="+mn-ea"/>
              <a:ea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11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77008" y="1116906"/>
            <a:ext cx="106767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latin typeface="+mn-ea"/>
              </a:rPr>
              <a:t>Get </a:t>
            </a:r>
            <a:r>
              <a:rPr lang="ko-KR" altLang="en-US" sz="1100" dirty="0">
                <a:latin typeface="+mn-ea"/>
              </a:rPr>
              <a:t>방식으로 </a:t>
            </a:r>
            <a:r>
              <a:rPr lang="en-US" altLang="ko-KR" sz="1100" dirty="0" err="1">
                <a:latin typeface="+mn-ea"/>
              </a:rPr>
              <a:t>response.sendRedirect</a:t>
            </a:r>
            <a:r>
              <a:rPr lang="en-US" altLang="ko-KR" sz="1100" dirty="0">
                <a:latin typeface="+mn-ea"/>
              </a:rPr>
              <a:t>(</a:t>
            </a:r>
            <a:r>
              <a:rPr lang="en-US" altLang="ko-KR" sz="1100" dirty="0" err="1">
                <a:latin typeface="+mn-ea"/>
              </a:rPr>
              <a:t>url</a:t>
            </a:r>
            <a:r>
              <a:rPr lang="en-US" altLang="ko-KR" sz="1100" dirty="0">
                <a:latin typeface="+mn-ea"/>
              </a:rPr>
              <a:t>) </a:t>
            </a:r>
            <a:r>
              <a:rPr lang="ko-KR" altLang="en-US" sz="1100" dirty="0">
                <a:latin typeface="+mn-ea"/>
              </a:rPr>
              <a:t>한글 </a:t>
            </a:r>
            <a:r>
              <a:rPr lang="ko-KR" altLang="en-US" sz="1100" dirty="0" err="1">
                <a:latin typeface="+mn-ea"/>
              </a:rPr>
              <a:t>파라미터로</a:t>
            </a:r>
            <a:r>
              <a:rPr lang="ko-KR" altLang="en-US" sz="1100" dirty="0">
                <a:latin typeface="+mn-ea"/>
              </a:rPr>
              <a:t> 값을 넘기면 </a:t>
            </a:r>
            <a:r>
              <a:rPr lang="ko-KR" altLang="en-US" sz="1100" dirty="0" err="1">
                <a:latin typeface="+mn-ea"/>
              </a:rPr>
              <a:t>한글깨짐</a:t>
            </a:r>
            <a:r>
              <a:rPr lang="ko-KR" altLang="en-US" sz="1100" dirty="0">
                <a:latin typeface="+mn-ea"/>
              </a:rPr>
              <a:t> 현상 발생</a:t>
            </a:r>
            <a:endParaRPr lang="en-US" altLang="ko-KR" sz="1100" dirty="0">
              <a:latin typeface="+mn-ea"/>
            </a:endParaRPr>
          </a:p>
          <a:p>
            <a:endParaRPr lang="en-US" altLang="ko-KR" sz="1100" dirty="0">
              <a:latin typeface="+mn-ea"/>
            </a:endParaRPr>
          </a:p>
          <a:p>
            <a:r>
              <a:rPr lang="en-US" altLang="ko-KR" dirty="0"/>
              <a:t>String name =</a:t>
            </a:r>
            <a:r>
              <a:rPr lang="en-US" altLang="ko-KR" dirty="0" err="1"/>
              <a:t>URLEncoder.encode</a:t>
            </a:r>
            <a:r>
              <a:rPr lang="en-US" altLang="ko-KR" dirty="0"/>
              <a:t>(</a:t>
            </a:r>
            <a:r>
              <a:rPr lang="en-US" altLang="ko-KR" dirty="0" err="1"/>
              <a:t>request.getParameter</a:t>
            </a:r>
            <a:r>
              <a:rPr lang="en-US" altLang="ko-KR" dirty="0"/>
              <a:t>("name"),"utf-8");</a:t>
            </a:r>
            <a:endParaRPr lang="en-US" altLang="ko-KR" sz="1100" dirty="0">
              <a:latin typeface="+mn-ea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77008" y="2238556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err="1">
                <a:latin typeface="+mn-ea"/>
              </a:rPr>
              <a:t>한글처리</a:t>
            </a:r>
            <a:r>
              <a:rPr lang="ko-KR" altLang="en-US" sz="1100" dirty="0">
                <a:latin typeface="+mn-ea"/>
              </a:rPr>
              <a:t>  </a:t>
            </a:r>
            <a:r>
              <a:rPr lang="en-US" altLang="ko-KR" sz="1100" dirty="0">
                <a:latin typeface="+mn-ea"/>
              </a:rPr>
              <a:t>( </a:t>
            </a:r>
            <a:r>
              <a:rPr lang="ko-KR" altLang="en-US" sz="1100" dirty="0">
                <a:latin typeface="+mn-ea"/>
              </a:rPr>
              <a:t>페이지 </a:t>
            </a:r>
            <a:r>
              <a:rPr lang="en-US" altLang="ko-KR" sz="1100" dirty="0">
                <a:latin typeface="+mn-ea"/>
              </a:rPr>
              <a:t>95</a:t>
            </a:r>
            <a:r>
              <a:rPr lang="ko-KR" altLang="en-US" sz="1100" dirty="0">
                <a:latin typeface="+mn-ea"/>
              </a:rPr>
              <a:t>페이지 참조 </a:t>
            </a:r>
            <a:r>
              <a:rPr lang="en-US" altLang="ko-KR" sz="1100" dirty="0">
                <a:latin typeface="+mn-ea"/>
              </a:rPr>
              <a:t>)</a:t>
            </a:r>
          </a:p>
        </p:txBody>
      </p:sp>
      <p:cxnSp>
        <p:nvCxnSpPr>
          <p:cNvPr id="9" name="직선 연결선 8"/>
          <p:cNvCxnSpPr/>
          <p:nvPr/>
        </p:nvCxnSpPr>
        <p:spPr>
          <a:xfrm>
            <a:off x="730798" y="2593970"/>
            <a:ext cx="10089604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206263" y="2687775"/>
            <a:ext cx="1008960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&lt;%</a:t>
            </a:r>
          </a:p>
          <a:p>
            <a:r>
              <a:rPr lang="en-US" altLang="ko-KR" dirty="0"/>
              <a:t>    // </a:t>
            </a:r>
            <a:r>
              <a:rPr lang="en-US" altLang="ko-KR" dirty="0" err="1"/>
              <a:t>URLEncoder.encode</a:t>
            </a:r>
            <a:r>
              <a:rPr lang="en-US" altLang="ko-KR" dirty="0"/>
              <a:t> -&gt; </a:t>
            </a:r>
            <a:r>
              <a:rPr lang="ko-KR" altLang="en-US" dirty="0" err="1"/>
              <a:t>한글처리</a:t>
            </a:r>
            <a:endParaRPr lang="ko-KR" altLang="en-US" dirty="0"/>
          </a:p>
          <a:p>
            <a:r>
              <a:rPr lang="en-US" altLang="ko-KR" dirty="0"/>
              <a:t>    String name =</a:t>
            </a:r>
            <a:r>
              <a:rPr lang="en-US" altLang="ko-KR" dirty="0" err="1"/>
              <a:t>URLEncoder.encode</a:t>
            </a:r>
            <a:r>
              <a:rPr lang="en-US" altLang="ko-KR" dirty="0"/>
              <a:t>(</a:t>
            </a:r>
            <a:r>
              <a:rPr lang="en-US" altLang="ko-KR" dirty="0" err="1"/>
              <a:t>request.getParameter</a:t>
            </a:r>
            <a:r>
              <a:rPr lang="en-US" altLang="ko-KR" dirty="0"/>
              <a:t>("name"),"utf-8");</a:t>
            </a:r>
          </a:p>
          <a:p>
            <a:r>
              <a:rPr lang="en-US" altLang="ko-KR" dirty="0"/>
              <a:t>    String </a:t>
            </a:r>
            <a:r>
              <a:rPr lang="en-US" altLang="ko-KR" dirty="0" err="1"/>
              <a:t>str</a:t>
            </a:r>
            <a:r>
              <a:rPr lang="en-US" altLang="ko-KR" dirty="0"/>
              <a:t> = </a:t>
            </a:r>
            <a:r>
              <a:rPr lang="en-US" altLang="ko-KR" dirty="0" err="1"/>
              <a:t>request.getParameter</a:t>
            </a:r>
            <a:r>
              <a:rPr lang="en-US" altLang="ko-KR" dirty="0"/>
              <a:t>("age");</a:t>
            </a:r>
          </a:p>
          <a:p>
            <a:r>
              <a:rPr lang="en-US" altLang="ko-KR" dirty="0"/>
              <a:t>age = </a:t>
            </a:r>
            <a:r>
              <a:rPr lang="en-US" altLang="ko-KR" dirty="0" err="1"/>
              <a:t>Integer.parseInt</a:t>
            </a:r>
            <a:r>
              <a:rPr lang="en-US" altLang="ko-KR" dirty="0"/>
              <a:t>(</a:t>
            </a:r>
            <a:r>
              <a:rPr lang="en-US" altLang="ko-KR" dirty="0" err="1"/>
              <a:t>str</a:t>
            </a:r>
            <a:r>
              <a:rPr lang="en-US" altLang="ko-KR" dirty="0"/>
              <a:t>);</a:t>
            </a:r>
          </a:p>
          <a:p>
            <a:endParaRPr lang="ko-KR" altLang="en-US" dirty="0"/>
          </a:p>
          <a:p>
            <a:r>
              <a:rPr lang="en-US" altLang="ko-KR" b="1" dirty="0"/>
              <a:t>if( age &gt;= 20){</a:t>
            </a:r>
          </a:p>
          <a:p>
            <a:r>
              <a:rPr lang="en-US" altLang="ko-KR" dirty="0" err="1"/>
              <a:t>response.sendRedirect</a:t>
            </a:r>
            <a:r>
              <a:rPr lang="en-US" altLang="ko-KR" dirty="0"/>
              <a:t>("</a:t>
            </a:r>
            <a:r>
              <a:rPr lang="en-US" altLang="ko-KR" dirty="0" err="1"/>
              <a:t>pass.jsp?age</a:t>
            </a:r>
            <a:r>
              <a:rPr lang="en-US" altLang="ko-KR" dirty="0"/>
              <a:t>=" + age+"&amp;name="+name);</a:t>
            </a:r>
          </a:p>
          <a:p>
            <a:r>
              <a:rPr lang="en-US" altLang="ko-KR" dirty="0"/>
              <a:t>} </a:t>
            </a:r>
            <a:r>
              <a:rPr lang="en-US" altLang="ko-KR" b="1" dirty="0"/>
              <a:t>else {</a:t>
            </a:r>
          </a:p>
          <a:p>
            <a:r>
              <a:rPr lang="en-US" altLang="ko-KR" dirty="0" err="1"/>
              <a:t>response.sendRedirect</a:t>
            </a:r>
            <a:r>
              <a:rPr lang="en-US" altLang="ko-KR" dirty="0"/>
              <a:t>("</a:t>
            </a:r>
            <a:r>
              <a:rPr lang="en-US" altLang="ko-KR" dirty="0" err="1"/>
              <a:t>ng.jsp?age</a:t>
            </a:r>
            <a:r>
              <a:rPr lang="en-US" altLang="ko-KR" dirty="0"/>
              <a:t>=" + age+"&amp;name="+name);</a:t>
            </a:r>
          </a:p>
          <a:p>
            <a:r>
              <a:rPr lang="en-US" altLang="ko-KR" dirty="0"/>
              <a:t>}</a:t>
            </a:r>
          </a:p>
          <a:p>
            <a:r>
              <a:rPr lang="en-US" altLang="ko-KR" dirty="0"/>
              <a:t>%&gt;</a:t>
            </a:r>
            <a:endParaRPr lang="en-US" altLang="ko-KR" sz="11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305900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3820</TotalTime>
  <Words>1074</Words>
  <Application>Microsoft Office PowerPoint</Application>
  <PresentationFormat>와이드스크린</PresentationFormat>
  <Paragraphs>144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6" baseType="lpstr">
      <vt:lpstr>Helvetica Neue</vt:lpstr>
      <vt:lpstr>맑은 고딕</vt:lpstr>
      <vt:lpstr>Arial</vt:lpstr>
      <vt:lpstr>Courier New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ho</dc:creator>
  <cp:lastModifiedBy>KOSMO</cp:lastModifiedBy>
  <cp:revision>809</cp:revision>
  <dcterms:created xsi:type="dcterms:W3CDTF">2014-12-01T08:37:15Z</dcterms:created>
  <dcterms:modified xsi:type="dcterms:W3CDTF">2026-02-02T09:26:31Z</dcterms:modified>
</cp:coreProperties>
</file>