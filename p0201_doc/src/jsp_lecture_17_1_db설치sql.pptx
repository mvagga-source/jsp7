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81" r:id="rId3"/>
    <p:sldId id="282" r:id="rId4"/>
    <p:sldId id="286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A1ADC-3FB7-40DA-B2DE-355D9B030C78}" type="datetimeFigureOut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344A0-AA20-403B-B262-2ACEA066A2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92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FE9EB-5882-4F14-9D7A-E43319FAAE5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64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9BB34-6711-40F2-9C7B-47A61743D4AD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0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0FF5-5FAF-43AE-9E0C-CC3EA1B8186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2311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9AB40-AB99-4455-AC5A-01B404C2C00C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280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C0ECE-794B-4B99-8E02-3BB1152032F2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11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5503B-EE7A-4049-8A0E-70C0A8C6708E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04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CB6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-1" y="0"/>
            <a:ext cx="12192001" cy="638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4" y="0"/>
            <a:ext cx="1307976" cy="54771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6950">
            <a:off x="912862" y="1501027"/>
            <a:ext cx="906179" cy="86409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1431126" y="3918880"/>
            <a:ext cx="1831067" cy="1746032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5372299" y="2151620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734977">
            <a:off x="9650526" y="745965"/>
            <a:ext cx="1131884" cy="107932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46778">
            <a:off x="5290847" y="-173034"/>
            <a:ext cx="7554916" cy="7204068"/>
          </a:xfrm>
          <a:prstGeom prst="rect">
            <a:avLst/>
          </a:prstGeom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pic>
    </p:spTree>
    <p:extLst>
      <p:ext uri="{BB962C8B-B14F-4D97-AF65-F5344CB8AC3E}">
        <p14:creationId xmlns:p14="http://schemas.microsoft.com/office/powerpoint/2010/main" val="21712575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G:\이재훈책임님\티스타즈PPT_2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86" t="22046" r="10485" b="9758"/>
          <a:stretch/>
        </p:blipFill>
        <p:spPr bwMode="auto">
          <a:xfrm>
            <a:off x="6395633" y="1301858"/>
            <a:ext cx="5796367" cy="555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 userDrawn="1"/>
        </p:nvSpPr>
        <p:spPr>
          <a:xfrm>
            <a:off x="7950926" y="176272"/>
            <a:ext cx="3629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17</a:t>
            </a:r>
            <a:r>
              <a:rPr lang="ko-KR" altLang="en-US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강</a:t>
            </a:r>
            <a:r>
              <a:rPr lang="en-US" altLang="ko-KR" sz="1600" kern="120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.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 </a:t>
            </a:r>
            <a:r>
              <a:rPr lang="ko-KR" altLang="en-US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데이터 베이스</a:t>
            </a:r>
            <a:r>
              <a:rPr lang="en-US" altLang="ko-KR" sz="1600" kern="1200" baseline="0" dirty="0" smtClean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rPr>
              <a:t>-I</a:t>
            </a:r>
            <a:endParaRPr lang="ko-KR" altLang="en-US" sz="1600" dirty="0">
              <a:latin typeface="+mj-ea"/>
              <a:ea typeface="+mj-ea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6"/>
            <a:ext cx="1307976" cy="547715"/>
          </a:xfrm>
          <a:prstGeom prst="rect">
            <a:avLst/>
          </a:prstGeom>
        </p:spPr>
      </p:pic>
      <p:sp>
        <p:nvSpPr>
          <p:cNvPr id="9" name="이등변 삼각형 8"/>
          <p:cNvSpPr/>
          <p:nvPr userDrawn="1"/>
        </p:nvSpPr>
        <p:spPr>
          <a:xfrm rot="16200000">
            <a:off x="11611880" y="-31439"/>
            <a:ext cx="548681" cy="611559"/>
          </a:xfrm>
          <a:prstGeom prst="triangle">
            <a:avLst>
              <a:gd name="adj" fmla="val 10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E6BA691-BC9B-4A68-9744-1B809170C141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12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70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D5985-9155-4A4F-A545-EFF2E5BDFE1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25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E5BE4-290A-4A67-9142-8569AAC90C2F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531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7AA9-974F-41EE-AA93-9A7D5FC26AF0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54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778F7-13A7-47A7-A538-4854C83EAB76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67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78468-8E36-4528-8629-5ECE6BEC95B9}" type="datetime1">
              <a:rPr lang="ko-KR" altLang="en-US" smtClean="0"/>
              <a:t>2023-07-27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7ED37-DDEF-4DB7-963E-342CD9877B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103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2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racle.com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9708" y="3500063"/>
            <a:ext cx="4444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17</a:t>
            </a:r>
            <a:r>
              <a:rPr lang="ko-KR" altLang="en-US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강</a:t>
            </a:r>
            <a:r>
              <a:rPr lang="en-US" altLang="ko-KR" sz="2000" spc="-150" dirty="0" smtClean="0">
                <a:solidFill>
                  <a:srgbClr val="0070C0"/>
                </a:solidFill>
                <a:latin typeface="+mj-ea"/>
                <a:ea typeface="+mj-ea"/>
              </a:rPr>
              <a:t>. </a:t>
            </a:r>
            <a:r>
              <a:rPr lang="ko-KR" altLang="en-US" sz="2000" spc="-150" dirty="0">
                <a:solidFill>
                  <a:srgbClr val="0070C0"/>
                </a:solidFill>
                <a:latin typeface="+mj-ea"/>
                <a:ea typeface="+mj-ea"/>
              </a:rPr>
              <a:t>데이터 베이스 </a:t>
            </a:r>
            <a:r>
              <a:rPr lang="en-US" altLang="ko-KR" sz="2000" spc="-150" dirty="0">
                <a:solidFill>
                  <a:srgbClr val="0070C0"/>
                </a:solidFill>
                <a:latin typeface="+mj-ea"/>
                <a:ea typeface="+mj-ea"/>
              </a:rPr>
              <a:t>- I</a:t>
            </a:r>
            <a:endParaRPr lang="ko-KR" altLang="en-US" sz="2000" spc="-150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8085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1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데이터 베이스의 </a:t>
            </a:r>
            <a:r>
              <a:rPr lang="ko-KR" altLang="en-US" sz="1600" b="1" dirty="0" smtClean="0">
                <a:latin typeface="+mn-ea"/>
              </a:rPr>
              <a:t>개요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우리는 아침에 일어나서 저녁에 잠자리에 들 때까지 많은 데이터를 이용해서 생활합니다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/>
              <a:t>지하철 배차시간</a:t>
            </a:r>
            <a:r>
              <a:rPr lang="en-US" altLang="ko-KR" sz="1100" dirty="0"/>
              <a:t>, </a:t>
            </a:r>
            <a:r>
              <a:rPr lang="ko-KR" altLang="en-US" sz="1100" dirty="0"/>
              <a:t>회사 출퇴근 기록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스마트폰의</a:t>
            </a:r>
            <a:r>
              <a:rPr lang="ko-KR" altLang="en-US" sz="1100" dirty="0"/>
              <a:t> 달력</a:t>
            </a:r>
            <a:r>
              <a:rPr lang="en-US" altLang="ko-KR" sz="1100" dirty="0"/>
              <a:t>, </a:t>
            </a:r>
            <a:r>
              <a:rPr lang="ko-KR" altLang="en-US" sz="1100" dirty="0"/>
              <a:t>전화번호 북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메시지함</a:t>
            </a:r>
            <a:r>
              <a:rPr lang="en-US" altLang="ko-KR" sz="1100" dirty="0"/>
              <a:t>, </a:t>
            </a:r>
            <a:r>
              <a:rPr lang="ko-KR" altLang="en-US" sz="1100" dirty="0"/>
              <a:t>등등</a:t>
            </a:r>
            <a:r>
              <a:rPr lang="en-US" altLang="ko-KR" sz="1100" dirty="0"/>
              <a:t>…. </a:t>
            </a:r>
            <a:r>
              <a:rPr lang="ko-KR" altLang="en-US" sz="1100" dirty="0"/>
              <a:t>수없이 다양하고 많은 데이터를 이용해서 생활하고 있습니다</a:t>
            </a:r>
            <a:r>
              <a:rPr lang="en-US" altLang="ko-KR" sz="1100" dirty="0"/>
              <a:t>. </a:t>
            </a:r>
            <a:r>
              <a:rPr lang="ko-KR" altLang="en-US" sz="1100" dirty="0"/>
              <a:t>심지어는 취침 중에도 </a:t>
            </a:r>
            <a:r>
              <a:rPr lang="ko-KR" altLang="en-US" sz="1100" dirty="0" err="1"/>
              <a:t>알람</a:t>
            </a:r>
            <a:r>
              <a:rPr lang="ko-KR" altLang="en-US" sz="1100" dirty="0"/>
              <a:t> 데이터에 의존해서 생활합니다</a:t>
            </a:r>
            <a:r>
              <a:rPr lang="en-US" altLang="ko-KR" sz="1100" dirty="0" smtClean="0"/>
              <a:t>.</a:t>
            </a:r>
          </a:p>
          <a:p>
            <a:r>
              <a:rPr lang="ko-KR" altLang="en-US" sz="1100" dirty="0"/>
              <a:t>이러한 많은 데이터를 관리하기 위한 </a:t>
            </a:r>
            <a:r>
              <a:rPr lang="ko-KR" altLang="en-US" sz="1100" dirty="0" smtClean="0"/>
              <a:t>수단으로 </a:t>
            </a:r>
            <a:r>
              <a:rPr lang="ko-KR" altLang="en-US" sz="1100" dirty="0"/>
              <a:t>데이터 베이스가 있습니다</a:t>
            </a:r>
            <a:r>
              <a:rPr lang="en-US" altLang="ko-KR" sz="1100" dirty="0"/>
              <a:t>. </a:t>
            </a:r>
            <a:r>
              <a:rPr lang="ko-KR" altLang="en-US" sz="1100" dirty="0"/>
              <a:t>데이터 베이스는 데이터의 추가</a:t>
            </a:r>
            <a:r>
              <a:rPr lang="en-US" altLang="ko-KR" sz="1100" dirty="0"/>
              <a:t>, </a:t>
            </a:r>
            <a:r>
              <a:rPr lang="ko-KR" altLang="en-US" sz="1100" dirty="0"/>
              <a:t>삭제</a:t>
            </a:r>
            <a:r>
              <a:rPr lang="en-US" altLang="ko-KR" sz="1100" dirty="0"/>
              <a:t>, </a:t>
            </a:r>
            <a:r>
              <a:rPr lang="ko-KR" altLang="en-US" sz="1100" dirty="0"/>
              <a:t>검색</a:t>
            </a:r>
            <a:r>
              <a:rPr lang="en-US" altLang="ko-KR" sz="1100" dirty="0"/>
              <a:t>, </a:t>
            </a:r>
            <a:r>
              <a:rPr lang="ko-KR" altLang="en-US" sz="1100" dirty="0"/>
              <a:t>이동 등의 기능이 쉽게 되어 </a:t>
            </a:r>
            <a:r>
              <a:rPr lang="ko-KR" altLang="en-US" sz="1100" dirty="0" smtClean="0"/>
              <a:t>있어</a:t>
            </a:r>
            <a:r>
              <a:rPr lang="en-US" altLang="ko-KR" sz="1100" dirty="0" smtClean="0"/>
              <a:t> </a:t>
            </a:r>
            <a:r>
              <a:rPr lang="ko-KR" altLang="en-US" sz="1100" dirty="0"/>
              <a:t>사용자로 하여금 원하는 데이터를 빠른 시간 내에 이용할 수 있게 합니다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ko-KR" altLang="en-US" sz="1100" dirty="0" smtClean="0">
                <a:latin typeface="+mn-ea"/>
              </a:rPr>
              <a:t>그리고 데이터 베이스를 관리하는 도구가 </a:t>
            </a:r>
            <a:r>
              <a:rPr lang="en-US" altLang="ko-KR" sz="1100" dirty="0" smtClean="0">
                <a:latin typeface="+mn-ea"/>
              </a:rPr>
              <a:t>DBMS(</a:t>
            </a:r>
            <a:r>
              <a:rPr lang="en-US" altLang="ko-KR" sz="1100" dirty="0" err="1" smtClean="0">
                <a:latin typeface="+mn-ea"/>
              </a:rPr>
              <a:t>DataBase</a:t>
            </a:r>
            <a:r>
              <a:rPr lang="en-US" altLang="ko-KR" sz="1100" dirty="0" smtClean="0">
                <a:latin typeface="+mn-ea"/>
              </a:rPr>
              <a:t> Management System, </a:t>
            </a:r>
            <a:r>
              <a:rPr lang="ko-KR" altLang="en-US" sz="1100" dirty="0" smtClean="0">
                <a:latin typeface="+mn-ea"/>
              </a:rPr>
              <a:t>데이터 </a:t>
            </a:r>
            <a:r>
              <a:rPr lang="ko-KR" altLang="en-US" sz="1100" dirty="0">
                <a:latin typeface="+mn-ea"/>
              </a:rPr>
              <a:t>베이스 관리 </a:t>
            </a:r>
            <a:r>
              <a:rPr lang="ko-KR" altLang="en-US" sz="1100" dirty="0" smtClean="0">
                <a:latin typeface="+mn-ea"/>
              </a:rPr>
              <a:t>시스템</a:t>
            </a:r>
            <a:r>
              <a:rPr lang="en-US" altLang="ko-KR" sz="1100" dirty="0" smtClean="0">
                <a:latin typeface="+mn-ea"/>
              </a:rPr>
              <a:t>) </a:t>
            </a:r>
            <a:r>
              <a:rPr lang="ko-KR" altLang="en-US" sz="1100" dirty="0" smtClean="0">
                <a:latin typeface="+mn-ea"/>
              </a:rPr>
              <a:t>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DBMS</a:t>
            </a:r>
            <a:r>
              <a:rPr lang="ko-KR" altLang="en-US" sz="1100" dirty="0" smtClean="0">
                <a:latin typeface="+mn-ea"/>
              </a:rPr>
              <a:t>는 언어와 데이터 베이스를 연결해 주는 도구 입니다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일반적으로 데이터 베이스와 동일시 합니다</a:t>
            </a:r>
            <a:r>
              <a:rPr lang="en-US" altLang="ko-KR" sz="1100" dirty="0" smtClean="0">
                <a:latin typeface="+mn-ea"/>
              </a:rPr>
              <a:t>.</a:t>
            </a:r>
            <a:endParaRPr lang="en-US" altLang="ko-KR" sz="1100" dirty="0">
              <a:latin typeface="+mn-ea"/>
            </a:endParaRPr>
          </a:p>
          <a:p>
            <a:endParaRPr lang="en-US" altLang="ko-KR" sz="1100" dirty="0" smtClean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DBMS</a:t>
            </a:r>
            <a:r>
              <a:rPr lang="ko-KR" altLang="en-US" sz="1100" dirty="0" smtClean="0">
                <a:latin typeface="+mn-ea"/>
              </a:rPr>
              <a:t>는 종류가 다양하며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그 중에서도 가장 많이 사용하는 것이 </a:t>
            </a:r>
            <a:r>
              <a:rPr lang="en-US" altLang="ko-KR" sz="1100" dirty="0" smtClean="0">
                <a:latin typeface="+mn-ea"/>
              </a:rPr>
              <a:t>RDBMS(Relational </a:t>
            </a:r>
            <a:r>
              <a:rPr lang="en-US" altLang="ko-KR" sz="1100" dirty="0" err="1" smtClean="0">
                <a:latin typeface="+mn-ea"/>
              </a:rPr>
              <a:t>DataBase</a:t>
            </a:r>
            <a:r>
              <a:rPr lang="en-US" altLang="ko-KR" sz="1100" dirty="0" smtClean="0">
                <a:latin typeface="+mn-ea"/>
              </a:rPr>
              <a:t> Management System) </a:t>
            </a:r>
            <a:r>
              <a:rPr lang="ko-KR" altLang="en-US" sz="1100" dirty="0" smtClean="0">
                <a:latin typeface="+mn-ea"/>
              </a:rPr>
              <a:t>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그리고 </a:t>
            </a:r>
            <a:r>
              <a:rPr lang="en-US" altLang="ko-KR" sz="1100" dirty="0" smtClean="0">
                <a:latin typeface="+mn-ea"/>
              </a:rPr>
              <a:t>RDBMS</a:t>
            </a:r>
            <a:r>
              <a:rPr lang="ko-KR" altLang="en-US" sz="1100" dirty="0" smtClean="0">
                <a:latin typeface="+mn-ea"/>
              </a:rPr>
              <a:t>중에서 가장 유명한 것이 </a:t>
            </a:r>
            <a:r>
              <a:rPr lang="ko-KR" altLang="en-US" sz="1100" dirty="0" err="1" smtClean="0">
                <a:latin typeface="+mn-ea"/>
              </a:rPr>
              <a:t>오라클</a:t>
            </a:r>
            <a:r>
              <a:rPr lang="en-US" altLang="ko-KR" sz="1100" dirty="0" smtClean="0">
                <a:latin typeface="+mn-ea"/>
              </a:rPr>
              <a:t>(Oracle) </a:t>
            </a:r>
            <a:r>
              <a:rPr lang="ko-KR" altLang="en-US" sz="1100" dirty="0" smtClean="0">
                <a:latin typeface="+mn-ea"/>
              </a:rPr>
              <a:t>입니다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우리는 앞으로 </a:t>
            </a:r>
            <a:r>
              <a:rPr lang="ko-KR" altLang="en-US" sz="1100" dirty="0" err="1" smtClean="0">
                <a:latin typeface="+mn-ea"/>
              </a:rPr>
              <a:t>오라클을</a:t>
            </a:r>
            <a:r>
              <a:rPr lang="ko-KR" altLang="en-US" sz="1100" dirty="0" smtClean="0">
                <a:latin typeface="+mn-ea"/>
              </a:rPr>
              <a:t> 사용 합니다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479179" y="3173505"/>
            <a:ext cx="2330823" cy="806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응용프로그램</a:t>
            </a: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1479179" y="4204446"/>
            <a:ext cx="2330823" cy="806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응용프로그램</a:t>
            </a:r>
            <a:endParaRPr lang="ko-KR" altLang="en-US" dirty="0"/>
          </a:p>
        </p:txBody>
      </p:sp>
      <p:sp>
        <p:nvSpPr>
          <p:cNvPr id="22" name="직사각형 21"/>
          <p:cNvSpPr/>
          <p:nvPr/>
        </p:nvSpPr>
        <p:spPr>
          <a:xfrm>
            <a:off x="1479179" y="5235387"/>
            <a:ext cx="2330823" cy="806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응용프로그램</a:t>
            </a:r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4858873" y="4204445"/>
            <a:ext cx="2330823" cy="806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DBMS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8238567" y="4204444"/>
            <a:ext cx="2330823" cy="8068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DataBase</a:t>
            </a:r>
            <a:endParaRPr lang="ko-KR" altLang="en-US" dirty="0"/>
          </a:p>
        </p:txBody>
      </p:sp>
      <p:cxnSp>
        <p:nvCxnSpPr>
          <p:cNvPr id="13" name="직선 화살표 연결선 12"/>
          <p:cNvCxnSpPr>
            <a:stCxn id="6" idx="3"/>
            <a:endCxn id="23" idx="1"/>
          </p:cNvCxnSpPr>
          <p:nvPr/>
        </p:nvCxnSpPr>
        <p:spPr>
          <a:xfrm>
            <a:off x="3810002" y="3576917"/>
            <a:ext cx="1048871" cy="1030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2" idx="3"/>
            <a:endCxn id="23" idx="1"/>
          </p:cNvCxnSpPr>
          <p:nvPr/>
        </p:nvCxnSpPr>
        <p:spPr>
          <a:xfrm flipV="1">
            <a:off x="3810002" y="4607857"/>
            <a:ext cx="1048871" cy="1030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/>
          <p:cNvCxnSpPr>
            <a:stCxn id="21" idx="3"/>
            <a:endCxn id="23" idx="1"/>
          </p:cNvCxnSpPr>
          <p:nvPr/>
        </p:nvCxnSpPr>
        <p:spPr>
          <a:xfrm flipV="1">
            <a:off x="3810002" y="4607857"/>
            <a:ext cx="10488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 flipV="1">
            <a:off x="7189696" y="4607855"/>
            <a:ext cx="10488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549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 smtClean="0">
                <a:latin typeface="+mn-ea"/>
              </a:rPr>
              <a:t>오라클</a:t>
            </a:r>
            <a:r>
              <a:rPr lang="ko-KR" altLang="en-US" sz="1600" b="1" dirty="0" smtClean="0">
                <a:latin typeface="+mn-ea"/>
              </a:rPr>
              <a:t> 설치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 smtClean="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21" y="1769232"/>
            <a:ext cx="7138533" cy="44061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6323" y="1443069"/>
            <a:ext cx="2855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  <a:hlinkClick r:id="rId3"/>
              </a:rPr>
              <a:t>http://www.oracle.com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접속 후 로그인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711099" y="2335741"/>
            <a:ext cx="740309" cy="24031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10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 smtClean="0">
                <a:latin typeface="+mn-ea"/>
              </a:rPr>
              <a:t>오라클</a:t>
            </a:r>
            <a:r>
              <a:rPr lang="ko-KR" altLang="en-US" sz="1600" b="1" dirty="0" smtClean="0">
                <a:latin typeface="+mn-ea"/>
              </a:rPr>
              <a:t> 설치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4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 smtClean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6323" y="1443069"/>
            <a:ext cx="2855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설치</a:t>
            </a:r>
            <a:endParaRPr lang="en-US" altLang="ko-KR" sz="1100" dirty="0" smtClean="0">
              <a:latin typeface="+mn-ea"/>
            </a:endParaRPr>
          </a:p>
        </p:txBody>
      </p:sp>
      <p:graphicFrame>
        <p:nvGraphicFramePr>
          <p:cNvPr id="4" name="개체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3693420"/>
              </p:ext>
            </p:extLst>
          </p:nvPr>
        </p:nvGraphicFramePr>
        <p:xfrm>
          <a:off x="677008" y="1769232"/>
          <a:ext cx="4448816" cy="34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9" name="Image" r:id="rId3" imgW="6514200" imgH="5028480" progId="Photoshop.Image.13">
                  <p:embed/>
                </p:oleObj>
              </mc:Choice>
              <mc:Fallback>
                <p:oleObj name="Image" r:id="rId3" imgW="6514200" imgH="502848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7008" y="1769232"/>
                        <a:ext cx="4448816" cy="3435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678279"/>
              </p:ext>
            </p:extLst>
          </p:nvPr>
        </p:nvGraphicFramePr>
        <p:xfrm>
          <a:off x="6155061" y="1769232"/>
          <a:ext cx="4422795" cy="34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" name="Image" r:id="rId5" imgW="6476040" imgH="5028480" progId="Photoshop.Image.13">
                  <p:embed/>
                </p:oleObj>
              </mc:Choice>
              <mc:Fallback>
                <p:oleObj name="Image" r:id="rId5" imgW="6476040" imgH="5028480" progId="Photoshop.Image.1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55061" y="1769232"/>
                        <a:ext cx="4422795" cy="3435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0558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 smtClean="0">
                <a:latin typeface="+mn-ea"/>
              </a:rPr>
              <a:t>오라클</a:t>
            </a:r>
            <a:r>
              <a:rPr lang="ko-KR" altLang="en-US" sz="1600" b="1" dirty="0" smtClean="0">
                <a:latin typeface="+mn-ea"/>
              </a:rPr>
              <a:t> 설치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 smtClean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6915" y="1443069"/>
            <a:ext cx="2684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SQL*PLUS</a:t>
            </a:r>
          </a:p>
        </p:txBody>
      </p:sp>
      <p:cxnSp>
        <p:nvCxnSpPr>
          <p:cNvPr id="11" name="직선 연결선 10"/>
          <p:cNvCxnSpPr/>
          <p:nvPr/>
        </p:nvCxnSpPr>
        <p:spPr>
          <a:xfrm>
            <a:off x="766916" y="1704679"/>
            <a:ext cx="10038736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6915" y="1704679"/>
            <a:ext cx="1003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SQL*PLUS</a:t>
            </a:r>
            <a:r>
              <a:rPr lang="ko-KR" altLang="en-US" sz="1100" dirty="0" smtClean="0">
                <a:latin typeface="+mn-ea"/>
              </a:rPr>
              <a:t>은 데이터 베이스를 관리하기 </a:t>
            </a:r>
            <a:r>
              <a:rPr lang="ko-KR" altLang="en-US" sz="1100" smtClean="0">
                <a:latin typeface="+mn-ea"/>
              </a:rPr>
              <a:t>위한 무료 툴 </a:t>
            </a:r>
            <a:r>
              <a:rPr lang="ko-KR" altLang="en-US" sz="1100" dirty="0" smtClean="0">
                <a:latin typeface="+mn-ea"/>
              </a:rPr>
              <a:t>입니다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85" y="2630511"/>
            <a:ext cx="5445274" cy="3259358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574833" y="3154000"/>
            <a:ext cx="1613647" cy="2868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797506" y="4447322"/>
            <a:ext cx="777328" cy="2868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044" y="2630511"/>
            <a:ext cx="5005828" cy="3255286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6345044" y="4303886"/>
            <a:ext cx="2842918" cy="50550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345044" y="4809389"/>
            <a:ext cx="2842918" cy="50116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766915" y="2304347"/>
            <a:ext cx="43765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관리자 계정 로그인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83959" y="2304347"/>
            <a:ext cx="43765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>
                <a:latin typeface="+mn-ea"/>
              </a:rPr>
              <a:t>s</a:t>
            </a:r>
            <a:r>
              <a:rPr lang="en-US" altLang="ko-KR" sz="1100" dirty="0" err="1" smtClean="0">
                <a:latin typeface="+mn-ea"/>
              </a:rPr>
              <a:t>cott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계정 생성 및 권한 설정 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smtClean="0">
                <a:latin typeface="+mn-ea"/>
              </a:rPr>
              <a:t>비밀번호 </a:t>
            </a:r>
            <a:r>
              <a:rPr lang="en-US" altLang="ko-KR" sz="1100" dirty="0" smtClean="0">
                <a:latin typeface="+mn-ea"/>
              </a:rPr>
              <a:t>: tiger)</a:t>
            </a:r>
          </a:p>
        </p:txBody>
      </p:sp>
    </p:spTree>
    <p:extLst>
      <p:ext uri="{BB962C8B-B14F-4D97-AF65-F5344CB8AC3E}">
        <p14:creationId xmlns:p14="http://schemas.microsoft.com/office/powerpoint/2010/main" val="407957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20" y="2630511"/>
            <a:ext cx="4956163" cy="321736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2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 err="1" smtClean="0">
                <a:latin typeface="+mn-ea"/>
              </a:rPr>
              <a:t>오라클</a:t>
            </a:r>
            <a:r>
              <a:rPr lang="ko-KR" altLang="en-US" sz="1600" b="1" dirty="0" smtClean="0">
                <a:latin typeface="+mn-ea"/>
              </a:rPr>
              <a:t> 설치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6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 smtClean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6915" y="1443069"/>
            <a:ext cx="2684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SQL*PLUS</a:t>
            </a:r>
          </a:p>
        </p:txBody>
      </p:sp>
      <p:cxnSp>
        <p:nvCxnSpPr>
          <p:cNvPr id="11" name="직선 연결선 10"/>
          <p:cNvCxnSpPr/>
          <p:nvPr/>
        </p:nvCxnSpPr>
        <p:spPr>
          <a:xfrm>
            <a:off x="766916" y="1704679"/>
            <a:ext cx="10038736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6915" y="1704679"/>
            <a:ext cx="1003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SQL*PLUS</a:t>
            </a:r>
            <a:r>
              <a:rPr lang="ko-KR" altLang="en-US" sz="1100" dirty="0" smtClean="0">
                <a:latin typeface="+mn-ea"/>
              </a:rPr>
              <a:t>은 데이터 베이스를 관리하기 위한 </a:t>
            </a:r>
            <a:r>
              <a:rPr lang="ko-KR" altLang="en-US" sz="1100" dirty="0" err="1" smtClean="0">
                <a:latin typeface="+mn-ea"/>
              </a:rPr>
              <a:t>무료툴</a:t>
            </a:r>
            <a:r>
              <a:rPr lang="ko-KR" altLang="en-US" sz="1100" dirty="0" smtClean="0">
                <a:latin typeface="+mn-ea"/>
              </a:rPr>
              <a:t> 입니다</a:t>
            </a:r>
            <a:r>
              <a:rPr lang="en-US" altLang="ko-KR" sz="1100" dirty="0" smtClean="0">
                <a:latin typeface="+mn-ea"/>
              </a:rPr>
              <a:t>.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830120" y="4413201"/>
            <a:ext cx="1957904" cy="2868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830120" y="3952323"/>
            <a:ext cx="777328" cy="2868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766915" y="2304347"/>
            <a:ext cx="43765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 smtClean="0">
                <a:latin typeface="+mn-ea"/>
              </a:rPr>
              <a:t>scott</a:t>
            </a:r>
            <a:r>
              <a:rPr lang="en-US" altLang="ko-KR" sz="1100" dirty="0" smtClean="0">
                <a:latin typeface="+mn-ea"/>
              </a:rPr>
              <a:t> </a:t>
            </a:r>
            <a:r>
              <a:rPr lang="ko-KR" altLang="en-US" sz="1100" dirty="0" smtClean="0">
                <a:latin typeface="+mn-ea"/>
              </a:rPr>
              <a:t>계정 로그인</a:t>
            </a:r>
            <a:endParaRPr lang="en-US" altLang="ko-KR" sz="11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68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기본적인 </a:t>
            </a:r>
            <a:r>
              <a:rPr lang="en-US" altLang="ko-KR" sz="1600" b="1" dirty="0">
                <a:latin typeface="+mn-ea"/>
              </a:rPr>
              <a:t>SQL</a:t>
            </a:r>
            <a:r>
              <a:rPr lang="ko-KR" altLang="en-US" sz="1600" b="1" dirty="0">
                <a:latin typeface="+mn-ea"/>
              </a:rPr>
              <a:t>문 익히기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7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 smtClean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6915" y="2594860"/>
            <a:ext cx="2684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테이블 생성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766916" y="2856470"/>
            <a:ext cx="10038736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6915" y="2856470"/>
            <a:ext cx="1003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c</a:t>
            </a:r>
            <a:r>
              <a:rPr lang="en-US" altLang="ko-KR" sz="1100" dirty="0" smtClean="0">
                <a:latin typeface="+mn-ea"/>
              </a:rPr>
              <a:t>reate table </a:t>
            </a:r>
            <a:r>
              <a:rPr lang="ko-KR" altLang="en-US" sz="1100" dirty="0" err="1" smtClean="0">
                <a:latin typeface="+mn-ea"/>
              </a:rPr>
              <a:t>테이블명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err="1" smtClean="0">
                <a:latin typeface="+mn-ea"/>
              </a:rPr>
              <a:t>컬럼명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ko-KR" altLang="en-US" sz="1100" dirty="0" err="1" smtClean="0">
                <a:latin typeface="+mn-ea"/>
              </a:rPr>
              <a:t>자료형</a:t>
            </a:r>
            <a:r>
              <a:rPr lang="en-US" altLang="ko-KR" sz="1100" dirty="0" smtClean="0">
                <a:latin typeface="+mn-ea"/>
              </a:rPr>
              <a:t>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008" y="1116906"/>
            <a:ext cx="1067679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기본적인 </a:t>
            </a:r>
            <a:r>
              <a:rPr lang="en-US" altLang="ko-KR" sz="1100" dirty="0" smtClean="0">
                <a:latin typeface="+mn-ea"/>
              </a:rPr>
              <a:t>SQL(Structured Query Language)</a:t>
            </a:r>
            <a:r>
              <a:rPr lang="ko-KR" altLang="en-US" sz="1100" dirty="0" smtClean="0">
                <a:latin typeface="+mn-ea"/>
              </a:rPr>
              <a:t>문을 학습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en-US" altLang="ko-KR" sz="1100" dirty="0" smtClean="0">
                <a:latin typeface="+mn-ea"/>
              </a:rPr>
              <a:t>SQL</a:t>
            </a:r>
            <a:r>
              <a:rPr lang="ko-KR" altLang="en-US" sz="1100" dirty="0" smtClean="0">
                <a:latin typeface="+mn-ea"/>
              </a:rPr>
              <a:t>문을 학습하는 가장 좋은 방법은 예제와 실무에서 프로젝트를 통한 학습방법 입니다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r>
              <a:rPr lang="ko-KR" altLang="en-US" sz="1100" dirty="0" smtClean="0">
                <a:latin typeface="+mn-ea"/>
              </a:rPr>
              <a:t>여기에서는 기본적인 </a:t>
            </a:r>
            <a:r>
              <a:rPr lang="en-US" altLang="ko-KR" sz="1100" dirty="0" smtClean="0">
                <a:latin typeface="+mn-ea"/>
              </a:rPr>
              <a:t>SQL</a:t>
            </a:r>
            <a:r>
              <a:rPr lang="ko-KR" altLang="en-US" sz="1100" dirty="0" smtClean="0">
                <a:latin typeface="+mn-ea"/>
              </a:rPr>
              <a:t>문을 익히고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예제를 통해서 학습 합니다</a:t>
            </a:r>
            <a:r>
              <a:rPr lang="en-US" altLang="ko-KR" sz="1100" dirty="0" smtClean="0">
                <a:latin typeface="+mn-ea"/>
              </a:rPr>
              <a:t>.</a:t>
            </a:r>
          </a:p>
          <a:p>
            <a:endParaRPr lang="en-US" altLang="ko-KR" sz="1100" dirty="0" smtClean="0">
              <a:latin typeface="+mn-ea"/>
            </a:endParaRPr>
          </a:p>
          <a:p>
            <a:r>
              <a:rPr lang="ko-KR" altLang="en-US" sz="1100" dirty="0" smtClean="0">
                <a:latin typeface="+mn-ea"/>
              </a:rPr>
              <a:t>서점에 가면 아주 두꺼운 </a:t>
            </a:r>
            <a:r>
              <a:rPr lang="en-US" altLang="ko-KR" sz="1100" dirty="0" smtClean="0">
                <a:latin typeface="+mn-ea"/>
              </a:rPr>
              <a:t>SQL</a:t>
            </a:r>
            <a:r>
              <a:rPr lang="ko-KR" altLang="en-US" sz="1100" dirty="0" smtClean="0">
                <a:latin typeface="+mn-ea"/>
              </a:rPr>
              <a:t>관련 서적들이 있습니다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개인적으로는 그런 류의 책을 처음부터 학습하는 것은 그다지 좋지 못한 거 같습니다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이유는 처음 데이터 베이스를 접하는 개발자 입장에서는 내용이 너무 어렵습니다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하지만 절대 오해는 하지 마세요</a:t>
            </a:r>
            <a:r>
              <a:rPr lang="en-US" altLang="ko-KR" sz="1100" dirty="0" smtClean="0">
                <a:latin typeface="+mn-ea"/>
              </a:rPr>
              <a:t>. </a:t>
            </a:r>
            <a:r>
              <a:rPr lang="ko-KR" altLang="en-US" sz="1100" dirty="0" smtClean="0">
                <a:latin typeface="+mn-ea"/>
              </a:rPr>
              <a:t>그런 류의 책이 나쁘다는 것은 절대 아닙니다</a:t>
            </a:r>
            <a:r>
              <a:rPr lang="en-US" altLang="ko-KR" sz="1100" dirty="0" smtClean="0">
                <a:latin typeface="+mn-ea"/>
              </a:rPr>
              <a:t>.^^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349" y="3737090"/>
            <a:ext cx="3743325" cy="200025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3221627" y="3895488"/>
            <a:ext cx="1948249" cy="21931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 flipH="1">
            <a:off x="1749670" y="4211515"/>
            <a:ext cx="14719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93530" y="4080710"/>
            <a:ext cx="777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 smtClean="0">
                <a:latin typeface="+mn-ea"/>
              </a:rPr>
              <a:t>컬럼명</a:t>
            </a:r>
            <a:endParaRPr lang="en-US" altLang="ko-KR" sz="1100" b="1" dirty="0" smtClean="0">
              <a:latin typeface="+mn-ea"/>
            </a:endParaRPr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4246685" y="4862146"/>
            <a:ext cx="0" cy="113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57818" y="5980208"/>
            <a:ext cx="777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 smtClean="0">
                <a:latin typeface="+mn-ea"/>
              </a:rPr>
              <a:t>자료형</a:t>
            </a:r>
            <a:endParaRPr lang="en-US" altLang="ko-KR" sz="1100" b="1" dirty="0" smtClean="0">
              <a:latin typeface="+mn-ea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>
            <a:off x="4856284" y="4862146"/>
            <a:ext cx="0" cy="1134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67417" y="5969179"/>
            <a:ext cx="777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smtClean="0">
                <a:latin typeface="+mn-ea"/>
              </a:rPr>
              <a:t>사이즈</a:t>
            </a:r>
            <a:endParaRPr lang="en-US" altLang="ko-KR" sz="1100" b="1" dirty="0" smtClean="0"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01469" y="3737090"/>
            <a:ext cx="2684493" cy="815608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b="1" u="sng" dirty="0" err="1" smtClean="0">
                <a:latin typeface="+mn-ea"/>
              </a:rPr>
              <a:t>자료형</a:t>
            </a:r>
            <a:endParaRPr lang="en-US" altLang="ko-KR" sz="1400" b="1" u="sng" dirty="0" smtClean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number : </a:t>
            </a:r>
            <a:r>
              <a:rPr lang="ko-KR" altLang="en-US" sz="1100" dirty="0" smtClean="0">
                <a:latin typeface="+mn-ea"/>
              </a:rPr>
              <a:t>수치 </a:t>
            </a:r>
            <a:r>
              <a:rPr lang="ko-KR" altLang="en-US" sz="1100" dirty="0" err="1" smtClean="0">
                <a:latin typeface="+mn-ea"/>
              </a:rPr>
              <a:t>데이터형</a:t>
            </a:r>
            <a:endParaRPr lang="en-US" altLang="ko-KR" sz="1100" dirty="0" smtClean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char : </a:t>
            </a:r>
            <a:r>
              <a:rPr lang="ko-KR" altLang="en-US" sz="1100" dirty="0" smtClean="0">
                <a:latin typeface="+mn-ea"/>
              </a:rPr>
              <a:t>고정 문자열</a:t>
            </a:r>
            <a:endParaRPr lang="en-US" altLang="ko-KR" sz="1100" dirty="0" smtClean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varchar2 : </a:t>
            </a:r>
            <a:r>
              <a:rPr lang="ko-KR" altLang="en-US" sz="1100" dirty="0" smtClean="0">
                <a:latin typeface="+mn-ea"/>
              </a:rPr>
              <a:t>가변길이 문자열</a:t>
            </a:r>
            <a:endParaRPr lang="en-US" altLang="ko-KR" sz="11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2676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162" y="2333625"/>
            <a:ext cx="7305675" cy="21907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기본적인 </a:t>
            </a:r>
            <a:r>
              <a:rPr lang="en-US" altLang="ko-KR" sz="1600" b="1" dirty="0">
                <a:latin typeface="+mn-ea"/>
              </a:rPr>
              <a:t>SQL</a:t>
            </a:r>
            <a:r>
              <a:rPr lang="ko-KR" altLang="en-US" sz="1600" b="1" dirty="0">
                <a:latin typeface="+mn-ea"/>
              </a:rPr>
              <a:t>문 익히기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8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 smtClean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6915" y="1487032"/>
            <a:ext cx="2684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테이블 검색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766916" y="1748642"/>
            <a:ext cx="10038736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6915" y="1748642"/>
            <a:ext cx="1003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Select * from tab;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2908034" y="2338934"/>
            <a:ext cx="1948249" cy="21931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 flipH="1">
            <a:off x="1916723" y="3604848"/>
            <a:ext cx="526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88023" y="3475018"/>
            <a:ext cx="10286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smtClean="0">
                <a:latin typeface="+mn-ea"/>
              </a:rPr>
              <a:t>테이블 이름</a:t>
            </a:r>
            <a:endParaRPr lang="en-US" altLang="ko-KR" sz="1100" b="1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7891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722" y="2199453"/>
            <a:ext cx="7962900" cy="39433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기본적인 </a:t>
            </a:r>
            <a:r>
              <a:rPr lang="en-US" altLang="ko-KR" sz="1600" b="1" dirty="0">
                <a:latin typeface="+mn-ea"/>
              </a:rPr>
              <a:t>SQL</a:t>
            </a:r>
            <a:r>
              <a:rPr lang="ko-KR" altLang="en-US" sz="1600" b="1" dirty="0">
                <a:latin typeface="+mn-ea"/>
              </a:rPr>
              <a:t>문 익히기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9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 smtClean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6915" y="1487032"/>
            <a:ext cx="2684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레코드 추가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766916" y="1748642"/>
            <a:ext cx="10038736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6915" y="1748642"/>
            <a:ext cx="1003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Insert into </a:t>
            </a:r>
            <a:r>
              <a:rPr lang="ko-KR" altLang="en-US" sz="1100" dirty="0" smtClean="0">
                <a:latin typeface="+mn-ea"/>
              </a:rPr>
              <a:t>테이블이름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err="1" smtClean="0">
                <a:latin typeface="+mn-ea"/>
              </a:rPr>
              <a:t>컬럼이름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err="1" smtClean="0">
                <a:latin typeface="+mn-ea"/>
              </a:rPr>
              <a:t>컬럼이름</a:t>
            </a:r>
            <a:r>
              <a:rPr lang="en-US" altLang="ko-KR" sz="1100" dirty="0" smtClean="0">
                <a:latin typeface="+mn-ea"/>
              </a:rPr>
              <a:t>, ….. )</a:t>
            </a:r>
            <a:r>
              <a:rPr lang="ko-KR" altLang="en-US" sz="1100" dirty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values (</a:t>
            </a:r>
            <a:r>
              <a:rPr lang="ko-KR" altLang="en-US" sz="1100" dirty="0" smtClean="0">
                <a:latin typeface="+mn-ea"/>
              </a:rPr>
              <a:t>데이터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smtClean="0">
                <a:latin typeface="+mn-ea"/>
              </a:rPr>
              <a:t>데이터</a:t>
            </a:r>
            <a:r>
              <a:rPr lang="en-US" altLang="ko-KR" sz="1100" dirty="0" smtClean="0">
                <a:latin typeface="+mn-ea"/>
              </a:rPr>
              <a:t>, ….);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916721" y="2220766"/>
            <a:ext cx="7728441" cy="453831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916722" y="5065923"/>
            <a:ext cx="1310056" cy="29893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79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54" y="2447681"/>
            <a:ext cx="4019550" cy="271462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기본적인 </a:t>
            </a:r>
            <a:r>
              <a:rPr lang="en-US" altLang="ko-KR" sz="1600" b="1" dirty="0">
                <a:latin typeface="+mn-ea"/>
              </a:rPr>
              <a:t>SQL</a:t>
            </a:r>
            <a:r>
              <a:rPr lang="ko-KR" altLang="en-US" sz="1600" b="1" dirty="0">
                <a:latin typeface="+mn-ea"/>
              </a:rPr>
              <a:t>문 익히기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10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 smtClean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6915" y="1487032"/>
            <a:ext cx="2684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레코드 검색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766916" y="1748642"/>
            <a:ext cx="10038736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6915" y="1748642"/>
            <a:ext cx="1003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s</a:t>
            </a:r>
            <a:r>
              <a:rPr lang="en-US" altLang="ko-KR" sz="1100" dirty="0" smtClean="0">
                <a:latin typeface="+mn-ea"/>
              </a:rPr>
              <a:t>elect </a:t>
            </a:r>
            <a:r>
              <a:rPr lang="ko-KR" altLang="en-US" sz="1100" dirty="0" err="1" smtClean="0">
                <a:latin typeface="+mn-ea"/>
              </a:rPr>
              <a:t>컬럼이름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>from </a:t>
            </a:r>
            <a:r>
              <a:rPr lang="ko-KR" altLang="en-US" sz="1100" dirty="0" smtClean="0">
                <a:latin typeface="+mn-ea"/>
              </a:rPr>
              <a:t>테이블이름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931027" y="2408753"/>
            <a:ext cx="3040761" cy="2806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931027" y="2823399"/>
            <a:ext cx="3949820" cy="233890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05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027" y="2421176"/>
            <a:ext cx="4857750" cy="35242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기본적인 </a:t>
            </a:r>
            <a:r>
              <a:rPr lang="en-US" altLang="ko-KR" sz="1600" b="1" dirty="0">
                <a:latin typeface="+mn-ea"/>
              </a:rPr>
              <a:t>SQL</a:t>
            </a:r>
            <a:r>
              <a:rPr lang="ko-KR" altLang="en-US" sz="1600" b="1" dirty="0">
                <a:latin typeface="+mn-ea"/>
              </a:rPr>
              <a:t>문 익히기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11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 smtClean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6915" y="1487032"/>
            <a:ext cx="2684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레코드 삭제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766916" y="1748642"/>
            <a:ext cx="10038736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6915" y="1748642"/>
            <a:ext cx="1003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d</a:t>
            </a:r>
            <a:r>
              <a:rPr lang="en-US" altLang="ko-KR" sz="1100" dirty="0" smtClean="0">
                <a:latin typeface="+mn-ea"/>
              </a:rPr>
              <a:t>elete from </a:t>
            </a:r>
            <a:r>
              <a:rPr lang="ko-KR" altLang="en-US" sz="1100" dirty="0" smtClean="0">
                <a:latin typeface="+mn-ea"/>
              </a:rPr>
              <a:t>테이블이름 </a:t>
            </a:r>
            <a:r>
              <a:rPr lang="en-US" altLang="ko-KR" sz="1100" dirty="0" smtClean="0">
                <a:latin typeface="+mn-ea"/>
              </a:rPr>
              <a:t>(</a:t>
            </a:r>
            <a:r>
              <a:rPr lang="ko-KR" altLang="en-US" sz="1100" dirty="0" smtClean="0">
                <a:latin typeface="+mn-ea"/>
              </a:rPr>
              <a:t>조건</a:t>
            </a:r>
            <a:r>
              <a:rPr lang="en-US" altLang="ko-KR" sz="1100" dirty="0" smtClean="0">
                <a:latin typeface="+mn-ea"/>
              </a:rPr>
              <a:t>)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931027" y="2408753"/>
            <a:ext cx="4320304" cy="280659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1931027" y="2823399"/>
            <a:ext cx="3949820" cy="2769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20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2" y="2408753"/>
            <a:ext cx="4800600" cy="18478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기본적인 </a:t>
            </a:r>
            <a:r>
              <a:rPr lang="en-US" altLang="ko-KR" sz="1600" b="1" dirty="0">
                <a:latin typeface="+mn-ea"/>
              </a:rPr>
              <a:t>SQL</a:t>
            </a:r>
            <a:r>
              <a:rPr lang="ko-KR" altLang="en-US" sz="1600" b="1" dirty="0">
                <a:latin typeface="+mn-ea"/>
              </a:rPr>
              <a:t>문 익히기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12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 smtClean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6915" y="1487032"/>
            <a:ext cx="2684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데이터 변경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766916" y="1748642"/>
            <a:ext cx="10038736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6915" y="1748642"/>
            <a:ext cx="1003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latin typeface="+mn-ea"/>
              </a:rPr>
              <a:t>update </a:t>
            </a:r>
            <a:r>
              <a:rPr lang="ko-KR" altLang="en-US" sz="1100" dirty="0" smtClean="0">
                <a:latin typeface="+mn-ea"/>
              </a:rPr>
              <a:t>테이블이름 </a:t>
            </a:r>
            <a:r>
              <a:rPr lang="en-US" altLang="ko-KR" sz="1100" dirty="0" smtClean="0">
                <a:latin typeface="+mn-ea"/>
              </a:rPr>
              <a:t>set </a:t>
            </a:r>
            <a:r>
              <a:rPr lang="ko-KR" altLang="en-US" sz="1100" dirty="0" err="1" smtClean="0">
                <a:latin typeface="+mn-ea"/>
              </a:rPr>
              <a:t>컬럼이름</a:t>
            </a:r>
            <a:r>
              <a:rPr lang="en-US" altLang="ko-KR" sz="1100" dirty="0" smtClean="0">
                <a:latin typeface="+mn-ea"/>
              </a:rPr>
              <a:t>=</a:t>
            </a:r>
            <a:r>
              <a:rPr lang="ko-KR" altLang="en-US" sz="1100" dirty="0" smtClean="0">
                <a:latin typeface="+mn-ea"/>
              </a:rPr>
              <a:t>값</a:t>
            </a:r>
            <a:r>
              <a:rPr lang="en-US" altLang="ko-KR" sz="1100" dirty="0" smtClean="0">
                <a:latin typeface="+mn-ea"/>
              </a:rPr>
              <a:t>, </a:t>
            </a:r>
            <a:r>
              <a:rPr lang="ko-KR" altLang="en-US" sz="1100" dirty="0" err="1" smtClean="0">
                <a:latin typeface="+mn-ea"/>
              </a:rPr>
              <a:t>컬럼이름</a:t>
            </a:r>
            <a:r>
              <a:rPr lang="en-US" altLang="ko-KR" sz="1100" dirty="0" smtClean="0">
                <a:latin typeface="+mn-ea"/>
              </a:rPr>
              <a:t>=</a:t>
            </a:r>
            <a:r>
              <a:rPr lang="ko-KR" altLang="en-US" sz="1100" dirty="0" smtClean="0">
                <a:latin typeface="+mn-ea"/>
              </a:rPr>
              <a:t>값</a:t>
            </a:r>
            <a:r>
              <a:rPr lang="en-US" altLang="ko-KR" sz="1100" dirty="0" smtClean="0">
                <a:latin typeface="+mn-ea"/>
              </a:rPr>
              <a:t>, …. </a:t>
            </a:r>
            <a:r>
              <a:rPr lang="ko-KR" altLang="en-US" sz="1100" dirty="0" smtClean="0">
                <a:latin typeface="+mn-ea"/>
              </a:rPr>
              <a:t>조건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78175" y="3537743"/>
            <a:ext cx="4601658" cy="2769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663" y="2408753"/>
            <a:ext cx="4333875" cy="241935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6444413" y="3979666"/>
            <a:ext cx="1670889" cy="8484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5460025" y="3745523"/>
            <a:ext cx="1046284" cy="369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3974125" y="3780102"/>
            <a:ext cx="2532184" cy="476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14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297" y="2208174"/>
            <a:ext cx="6384112" cy="308578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7008" y="760205"/>
            <a:ext cx="106767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kern="120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3</a:t>
            </a:r>
            <a:r>
              <a:rPr lang="en-US" altLang="ko-KR" sz="1600" b="1" kern="120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.</a:t>
            </a:r>
            <a:r>
              <a:rPr lang="en-US" altLang="ko-KR" sz="1600" b="1" kern="1200" baseline="0" dirty="0" smtClean="0">
                <a:solidFill>
                  <a:schemeClr val="tx1"/>
                </a:solidFill>
                <a:effectLst/>
                <a:latin typeface="+mn-ea"/>
                <a:ea typeface="+mn-ea"/>
              </a:rPr>
              <a:t> </a:t>
            </a:r>
            <a:r>
              <a:rPr lang="ko-KR" altLang="en-US" sz="1600" b="1" dirty="0">
                <a:latin typeface="+mn-ea"/>
              </a:rPr>
              <a:t>기본적인 </a:t>
            </a:r>
            <a:r>
              <a:rPr lang="en-US" altLang="ko-KR" sz="1600" b="1" dirty="0">
                <a:latin typeface="+mn-ea"/>
              </a:rPr>
              <a:t>SQL</a:t>
            </a:r>
            <a:r>
              <a:rPr lang="ko-KR" altLang="en-US" sz="1600" b="1" dirty="0">
                <a:latin typeface="+mn-ea"/>
              </a:rPr>
              <a:t>문 익히기</a:t>
            </a:r>
            <a:endParaRPr lang="ko-KR" altLang="en-US" sz="1600" b="1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7ED37-DDEF-4DB7-963E-342CD9877B0B}" type="slidenum">
              <a:rPr lang="ko-KR" altLang="en-US" smtClean="0"/>
              <a:t>13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677008" y="1107832"/>
            <a:ext cx="10676792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7008" y="1116906"/>
            <a:ext cx="106767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100" dirty="0" smtClean="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6915" y="1487032"/>
            <a:ext cx="26844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테이블 삭제</a:t>
            </a:r>
            <a:endParaRPr lang="en-US" altLang="ko-KR" sz="1100" dirty="0" smtClean="0">
              <a:latin typeface="+mn-ea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766916" y="1748642"/>
            <a:ext cx="10038736" cy="0"/>
          </a:xfrm>
          <a:prstGeom prst="line">
            <a:avLst/>
          </a:prstGeom>
          <a:ln w="12700" cmpd="dbl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6915" y="1748642"/>
            <a:ext cx="100387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d</a:t>
            </a:r>
            <a:r>
              <a:rPr lang="en-US" altLang="ko-KR" sz="1100" dirty="0" smtClean="0">
                <a:latin typeface="+mn-ea"/>
              </a:rPr>
              <a:t>rop table </a:t>
            </a:r>
            <a:r>
              <a:rPr lang="ko-KR" altLang="en-US" sz="1100" dirty="0" smtClean="0">
                <a:latin typeface="+mn-ea"/>
              </a:rPr>
              <a:t>테이블이름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958746" y="3759103"/>
            <a:ext cx="2300829" cy="276937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01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3366</TotalTime>
  <Words>381</Words>
  <Application>Microsoft Office PowerPoint</Application>
  <PresentationFormat>와이드스크린</PresentationFormat>
  <Paragraphs>72</Paragraphs>
  <Slides>13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Office 테마</vt:lpstr>
      <vt:lpstr>Image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</dc:creator>
  <cp:lastModifiedBy>005</cp:lastModifiedBy>
  <cp:revision>1030</cp:revision>
  <dcterms:created xsi:type="dcterms:W3CDTF">2014-12-01T08:37:15Z</dcterms:created>
  <dcterms:modified xsi:type="dcterms:W3CDTF">2023-07-27T06:29:25Z</dcterms:modified>
</cp:coreProperties>
</file>