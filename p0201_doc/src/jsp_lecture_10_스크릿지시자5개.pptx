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87" r:id="rId3"/>
    <p:sldId id="280" r:id="rId4"/>
    <p:sldId id="281" r:id="rId5"/>
    <p:sldId id="282" r:id="rId6"/>
    <p:sldId id="283" r:id="rId7"/>
    <p:sldId id="284" r:id="rId8"/>
    <p:sldId id="285" r:id="rId9"/>
    <p:sldId id="28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10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JSP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본격적으로 살펴보기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10</a:t>
            </a:r>
            <a:r>
              <a:rPr lang="ko-KR" altLang="en-US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. JSP </a:t>
            </a:r>
            <a:r>
              <a:rPr lang="ko-KR" altLang="en-US" sz="2000" spc="-150" dirty="0">
                <a:solidFill>
                  <a:srgbClr val="0070C0"/>
                </a:solidFill>
                <a:latin typeface="+mj-ea"/>
                <a:ea typeface="+mj-ea"/>
              </a:rPr>
              <a:t>본격적으로 </a:t>
            </a:r>
            <a:r>
              <a:rPr lang="ko-KR" altLang="en-US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살펴보기</a:t>
            </a:r>
            <a:r>
              <a:rPr lang="en-US" altLang="ko-KR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-II</a:t>
            </a:r>
            <a:endParaRPr lang="ko-KR" altLang="en-US" sz="20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JSP </a:t>
            </a:r>
            <a:r>
              <a:rPr lang="ko-KR" altLang="en-US" sz="1600" b="1" dirty="0">
                <a:latin typeface="+mn-ea"/>
              </a:rPr>
              <a:t>태그의 개념 이해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은 </a:t>
            </a:r>
            <a:r>
              <a:rPr lang="en-US" altLang="ko-KR" sz="1100" dirty="0" smtClean="0">
                <a:latin typeface="+mn-ea"/>
              </a:rPr>
              <a:t>JAVA</a:t>
            </a:r>
            <a:r>
              <a:rPr lang="ko-KR" altLang="en-US" sz="1100" dirty="0" smtClean="0">
                <a:latin typeface="+mn-ea"/>
              </a:rPr>
              <a:t>언어를 이용하여 문서를 작성하고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출력객체를 이용하여 </a:t>
            </a:r>
            <a:r>
              <a:rPr lang="en-US" altLang="ko-KR" sz="1100" dirty="0" smtClean="0">
                <a:latin typeface="+mn-ea"/>
              </a:rPr>
              <a:t>HTML</a:t>
            </a:r>
            <a:r>
              <a:rPr lang="ko-KR" altLang="en-US" sz="1100" dirty="0" smtClean="0">
                <a:latin typeface="+mn-ea"/>
              </a:rPr>
              <a:t>코드를 삽입하였습니다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는 </a:t>
            </a:r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과 반대로 </a:t>
            </a:r>
            <a:r>
              <a:rPr lang="en-US" altLang="ko-KR" sz="1100" dirty="0" smtClean="0">
                <a:latin typeface="+mn-ea"/>
              </a:rPr>
              <a:t>HTML</a:t>
            </a:r>
            <a:r>
              <a:rPr lang="ko-KR" altLang="en-US" sz="1100" dirty="0" smtClean="0">
                <a:latin typeface="+mn-ea"/>
              </a:rPr>
              <a:t>코드에 </a:t>
            </a:r>
            <a:r>
              <a:rPr lang="en-US" altLang="ko-KR" sz="1100" dirty="0" smtClean="0">
                <a:latin typeface="+mn-ea"/>
              </a:rPr>
              <a:t>JAVA</a:t>
            </a:r>
            <a:r>
              <a:rPr lang="ko-KR" altLang="en-US" sz="1100" dirty="0" smtClean="0">
                <a:latin typeface="+mn-ea"/>
              </a:rPr>
              <a:t>언어를 삽입하여 동적 문서를 만들 수 있습니다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HTML</a:t>
            </a:r>
            <a:r>
              <a:rPr lang="ko-KR" altLang="en-US" sz="1100" dirty="0" err="1" smtClean="0">
                <a:latin typeface="+mn-ea"/>
              </a:rPr>
              <a:t>코드안에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JAVA</a:t>
            </a:r>
            <a:r>
              <a:rPr lang="ko-KR" altLang="en-US" sz="1100" dirty="0" smtClean="0">
                <a:latin typeface="+mn-ea"/>
              </a:rPr>
              <a:t>코드를 삽입하기 위해서는 태그를 이용해야 하며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이러한 태그를 공부해야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008" y="2001559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태그 종류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745832" y="2255040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745832" y="2411506"/>
            <a:ext cx="6938683" cy="21156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latin typeface="+mn-ea"/>
              </a:rPr>
              <a:t>지시자</a:t>
            </a:r>
            <a:r>
              <a:rPr lang="en-US" altLang="ko-KR" dirty="0" smtClean="0">
                <a:latin typeface="+mn-ea"/>
              </a:rPr>
              <a:t>	: &lt;%@	   %&gt;	: </a:t>
            </a:r>
            <a:r>
              <a:rPr lang="ko-KR" altLang="en-US" dirty="0" smtClean="0">
                <a:latin typeface="+mn-ea"/>
              </a:rPr>
              <a:t>페이지 속성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주석</a:t>
            </a:r>
            <a:r>
              <a:rPr lang="en-US" altLang="ko-KR" dirty="0" smtClean="0">
                <a:latin typeface="+mn-ea"/>
              </a:rPr>
              <a:t>	: &lt;%--	 --%&gt;</a:t>
            </a:r>
          </a:p>
          <a:p>
            <a:r>
              <a:rPr lang="ko-KR" altLang="en-US" dirty="0" smtClean="0">
                <a:latin typeface="+mn-ea"/>
              </a:rPr>
              <a:t>선언</a:t>
            </a:r>
            <a:r>
              <a:rPr lang="en-US" altLang="ko-KR" dirty="0" smtClean="0">
                <a:latin typeface="+mn-ea"/>
              </a:rPr>
              <a:t>	: &lt;%!	   %&gt;	: </a:t>
            </a:r>
            <a:r>
              <a:rPr lang="ko-KR" altLang="en-US" dirty="0" smtClean="0">
                <a:latin typeface="+mn-ea"/>
              </a:rPr>
              <a:t>변수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err="1" smtClean="0">
                <a:latin typeface="+mn-ea"/>
              </a:rPr>
              <a:t>메소드</a:t>
            </a:r>
            <a:r>
              <a:rPr lang="ko-KR" altLang="en-US" dirty="0" smtClean="0">
                <a:latin typeface="+mn-ea"/>
              </a:rPr>
              <a:t> 선언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err="1" smtClean="0">
                <a:latin typeface="+mn-ea"/>
              </a:rPr>
              <a:t>표현식</a:t>
            </a:r>
            <a:r>
              <a:rPr lang="en-US" altLang="ko-KR" dirty="0">
                <a:latin typeface="+mn-ea"/>
              </a:rPr>
              <a:t>	</a:t>
            </a:r>
            <a:r>
              <a:rPr lang="en-US" altLang="ko-KR" dirty="0" smtClean="0">
                <a:latin typeface="+mn-ea"/>
              </a:rPr>
              <a:t>: &lt;%=	   %&gt;	: </a:t>
            </a:r>
            <a:r>
              <a:rPr lang="ko-KR" altLang="en-US" dirty="0" smtClean="0">
                <a:latin typeface="+mn-ea"/>
              </a:rPr>
              <a:t>결과값 출력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err="1" smtClean="0">
                <a:latin typeface="+mn-ea"/>
              </a:rPr>
              <a:t>스크립트릿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: &lt;%	   %&gt;	: JAVA </a:t>
            </a:r>
            <a:r>
              <a:rPr lang="ko-KR" altLang="en-US" dirty="0" smtClean="0">
                <a:latin typeface="+mn-ea"/>
              </a:rPr>
              <a:t>코드</a:t>
            </a:r>
            <a:endParaRPr lang="en-US" altLang="ko-KR" dirty="0" smtClean="0">
              <a:latin typeface="+mn-ea"/>
            </a:endParaRPr>
          </a:p>
          <a:p>
            <a:r>
              <a:rPr lang="ko-KR" altLang="en-US" smtClean="0">
                <a:latin typeface="+mn-ea"/>
              </a:rPr>
              <a:t>액션태그</a:t>
            </a:r>
            <a:r>
              <a:rPr lang="en-US" altLang="ko-KR" smtClean="0">
                <a:latin typeface="+mn-ea"/>
              </a:rPr>
              <a:t>    </a:t>
            </a:r>
            <a:r>
              <a:rPr lang="en-US" altLang="ko-KR" dirty="0" smtClean="0">
                <a:latin typeface="+mn-ea"/>
              </a:rPr>
              <a:t>: &lt;</a:t>
            </a:r>
            <a:r>
              <a:rPr lang="en-US" altLang="ko-KR" dirty="0" err="1" smtClean="0">
                <a:latin typeface="+mn-ea"/>
              </a:rPr>
              <a:t>jsp:action</a:t>
            </a:r>
            <a:r>
              <a:rPr lang="en-US" altLang="ko-KR" dirty="0" smtClean="0">
                <a:latin typeface="+mn-ea"/>
              </a:rPr>
              <a:t>&gt;	 &lt;/</a:t>
            </a:r>
            <a:r>
              <a:rPr lang="en-US" altLang="ko-KR" dirty="0" err="1" smtClean="0">
                <a:latin typeface="+mn-ea"/>
              </a:rPr>
              <a:t>jsp:action</a:t>
            </a:r>
            <a:r>
              <a:rPr lang="en-US" altLang="ko-KR" dirty="0" smtClean="0">
                <a:latin typeface="+mn-ea"/>
              </a:rPr>
              <a:t>&gt; : </a:t>
            </a:r>
            <a:r>
              <a:rPr lang="ko-KR" altLang="en-US" dirty="0" err="1" smtClean="0">
                <a:latin typeface="+mn-ea"/>
              </a:rPr>
              <a:t>자바빈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연결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089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err="1">
                <a:latin typeface="+mn-ea"/>
              </a:rPr>
              <a:t>스크립트릿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선언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 err="1">
                <a:latin typeface="+mn-ea"/>
              </a:rPr>
              <a:t>표현식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err="1" smtClean="0">
                <a:latin typeface="+mn-ea"/>
              </a:rPr>
              <a:t>문서안에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JAVA</a:t>
            </a:r>
            <a:r>
              <a:rPr lang="ko-KR" altLang="en-US" sz="1100" dirty="0" smtClean="0">
                <a:latin typeface="+mn-ea"/>
              </a:rPr>
              <a:t>언어를 넣기 위한 방식들 입니다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실제 개발에서 많이 쓰이므로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잘 익혀 둡니다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(jsp_10_1_ex1_tagex)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008" y="2127067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latin typeface="+mn-ea"/>
              </a:rPr>
              <a:t>스크립트릿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en-US" altLang="ko-KR" sz="1100" dirty="0" err="1" smtClean="0">
                <a:latin typeface="+mn-ea"/>
              </a:rPr>
              <a:t>scriptlet</a:t>
            </a:r>
            <a:r>
              <a:rPr lang="en-US" altLang="ko-KR" sz="1100" dirty="0" smtClean="0">
                <a:latin typeface="+mn-ea"/>
              </a:rPr>
              <a:t>) : &lt;%	java </a:t>
            </a:r>
            <a:r>
              <a:rPr lang="ko-KR" altLang="en-US" sz="1100" dirty="0" smtClean="0">
                <a:latin typeface="+mn-ea"/>
              </a:rPr>
              <a:t>코드 기술   </a:t>
            </a:r>
            <a:r>
              <a:rPr lang="en-US" altLang="ko-KR" sz="1100" dirty="0" smtClean="0">
                <a:latin typeface="+mn-ea"/>
              </a:rPr>
              <a:t>%&gt;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730798" y="2393849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0798" y="2399022"/>
            <a:ext cx="10089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페이지에서 </a:t>
            </a:r>
            <a:r>
              <a:rPr lang="en-US" altLang="ko-KR" sz="1100" dirty="0" smtClean="0">
                <a:latin typeface="+mn-ea"/>
              </a:rPr>
              <a:t>JAVA</a:t>
            </a:r>
            <a:r>
              <a:rPr lang="ko-KR" altLang="en-US" sz="1100" dirty="0" smtClean="0">
                <a:latin typeface="+mn-ea"/>
              </a:rPr>
              <a:t>언어를 사용하기 위한 요소 중 가장 많이 사용되는 요소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우리가 알고 있는 거의 모든 </a:t>
            </a:r>
            <a:r>
              <a:rPr lang="en-US" altLang="ko-KR" sz="1100" dirty="0" smtClean="0">
                <a:latin typeface="+mn-ea"/>
              </a:rPr>
              <a:t>JAVA</a:t>
            </a:r>
            <a:r>
              <a:rPr lang="ko-KR" altLang="en-US" sz="1100" dirty="0" smtClean="0">
                <a:latin typeface="+mn-ea"/>
              </a:rPr>
              <a:t>코드를 사용할 수 있습니다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39" y="3086734"/>
            <a:ext cx="3893013" cy="301279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544" y="3086734"/>
            <a:ext cx="2261383" cy="266929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149" y="3086734"/>
            <a:ext cx="3363449" cy="233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6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err="1">
                <a:latin typeface="+mn-ea"/>
              </a:rPr>
              <a:t>스크립트릿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선언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 err="1">
                <a:latin typeface="+mn-ea"/>
              </a:rPr>
              <a:t>표현식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7008" y="1388157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선언</a:t>
            </a:r>
            <a:r>
              <a:rPr lang="en-US" altLang="ko-KR" sz="1100" dirty="0" smtClean="0">
                <a:latin typeface="+mn-ea"/>
              </a:rPr>
              <a:t>(declaration) : &lt;%!	java </a:t>
            </a:r>
            <a:r>
              <a:rPr lang="ko-KR" altLang="en-US" sz="1100" dirty="0" smtClean="0">
                <a:latin typeface="+mn-ea"/>
              </a:rPr>
              <a:t>코드 기술   </a:t>
            </a:r>
            <a:r>
              <a:rPr lang="en-US" altLang="ko-KR" sz="1100" dirty="0" smtClean="0">
                <a:latin typeface="+mn-ea"/>
              </a:rPr>
              <a:t>%&gt;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730798" y="1654939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0798" y="1660112"/>
            <a:ext cx="10089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페이지 내에서 사용되는 변수 또는 </a:t>
            </a:r>
            <a:r>
              <a:rPr lang="ko-KR" altLang="en-US" sz="1100" dirty="0" err="1" smtClean="0">
                <a:latin typeface="+mn-ea"/>
              </a:rPr>
              <a:t>메소드를</a:t>
            </a:r>
            <a:r>
              <a:rPr lang="ko-KR" altLang="en-US" sz="1100" dirty="0" smtClean="0">
                <a:latin typeface="+mn-ea"/>
              </a:rPr>
              <a:t> 선언할 때 사용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여기서 선언된 변수 및 </a:t>
            </a:r>
            <a:r>
              <a:rPr lang="ko-KR" altLang="en-US" sz="1100" dirty="0" err="1" smtClean="0">
                <a:latin typeface="+mn-ea"/>
              </a:rPr>
              <a:t>메소드는</a:t>
            </a:r>
            <a:r>
              <a:rPr lang="ko-KR" altLang="en-US" sz="1100" dirty="0" smtClean="0">
                <a:latin typeface="+mn-ea"/>
              </a:rPr>
              <a:t> 전역의 의미로 사용됩니다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47" y="2398825"/>
            <a:ext cx="3220323" cy="364969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922" y="2464303"/>
            <a:ext cx="3896591" cy="117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41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err="1">
                <a:latin typeface="+mn-ea"/>
              </a:rPr>
              <a:t>스크립트릿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선언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 err="1">
                <a:latin typeface="+mn-ea"/>
              </a:rPr>
              <a:t>표현식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7008" y="1388157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latin typeface="+mn-ea"/>
              </a:rPr>
              <a:t>표현식</a:t>
            </a:r>
            <a:r>
              <a:rPr lang="en-US" altLang="ko-KR" sz="1100" dirty="0" smtClean="0">
                <a:latin typeface="+mn-ea"/>
              </a:rPr>
              <a:t>(expression) : &lt;%=	java </a:t>
            </a:r>
            <a:r>
              <a:rPr lang="ko-KR" altLang="en-US" sz="1100" dirty="0" smtClean="0">
                <a:latin typeface="+mn-ea"/>
              </a:rPr>
              <a:t>코드 기술   </a:t>
            </a:r>
            <a:r>
              <a:rPr lang="en-US" altLang="ko-KR" sz="1100" dirty="0" smtClean="0">
                <a:latin typeface="+mn-ea"/>
              </a:rPr>
              <a:t>%&gt;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730798" y="1654939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0798" y="1660112"/>
            <a:ext cx="10089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페이지 내에서 사용되는 변수의 값 또는 </a:t>
            </a:r>
            <a:r>
              <a:rPr lang="ko-KR" altLang="en-US" sz="1100" dirty="0" err="1" smtClean="0">
                <a:latin typeface="+mn-ea"/>
              </a:rPr>
              <a:t>메소드</a:t>
            </a:r>
            <a:r>
              <a:rPr lang="ko-KR" altLang="en-US" sz="1100" dirty="0" smtClean="0">
                <a:latin typeface="+mn-ea"/>
              </a:rPr>
              <a:t> 호출 결과값을 출력하기 위해 사용 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결과값은 </a:t>
            </a:r>
            <a:r>
              <a:rPr lang="en-US" altLang="ko-KR" sz="1100" dirty="0" smtClean="0">
                <a:latin typeface="+mn-ea"/>
              </a:rPr>
              <a:t>String </a:t>
            </a:r>
            <a:r>
              <a:rPr lang="ko-KR" altLang="en-US" sz="1100" dirty="0" smtClean="0">
                <a:latin typeface="+mn-ea"/>
              </a:rPr>
              <a:t>타입이며</a:t>
            </a:r>
            <a:r>
              <a:rPr lang="en-US" altLang="ko-KR" sz="1100" dirty="0" smtClean="0">
                <a:latin typeface="+mn-ea"/>
              </a:rPr>
              <a:t>, ‘;’</a:t>
            </a:r>
            <a:r>
              <a:rPr lang="ko-KR" altLang="en-US" sz="1100" dirty="0" smtClean="0">
                <a:latin typeface="+mn-ea"/>
              </a:rPr>
              <a:t>를 사용 할 수 없습니다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21" y="2454091"/>
            <a:ext cx="2818141" cy="329832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916" y="2454091"/>
            <a:ext cx="3549512" cy="108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33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지시자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페이지의 전체적인 속성을 지정할 때 사용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page, include, </a:t>
            </a:r>
            <a:r>
              <a:rPr lang="en-US" altLang="ko-KR" sz="1100" dirty="0" err="1" smtClean="0">
                <a:latin typeface="+mn-ea"/>
              </a:rPr>
              <a:t>taglib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가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있으며</a:t>
            </a:r>
            <a:r>
              <a:rPr lang="en-US" altLang="ko-KR" sz="1100" dirty="0" smtClean="0">
                <a:latin typeface="+mn-ea"/>
              </a:rPr>
              <a:t>, &lt;%@  </a:t>
            </a:r>
            <a:r>
              <a:rPr lang="ko-KR" altLang="en-US" sz="1100" dirty="0" smtClean="0">
                <a:latin typeface="+mn-ea"/>
              </a:rPr>
              <a:t>속성 </a:t>
            </a:r>
            <a:r>
              <a:rPr lang="en-US" altLang="ko-KR" sz="1100" dirty="0" smtClean="0">
                <a:latin typeface="+mn-ea"/>
              </a:rPr>
              <a:t>%&gt;</a:t>
            </a:r>
            <a:r>
              <a:rPr lang="ko-KR" altLang="en-US" sz="1100" dirty="0" smtClean="0">
                <a:latin typeface="+mn-ea"/>
              </a:rPr>
              <a:t>형태로 사용 됩니다</a:t>
            </a:r>
            <a:r>
              <a:rPr lang="en-US" altLang="ko-KR" sz="1100" dirty="0" smtClean="0">
                <a:latin typeface="+mn-ea"/>
              </a:rPr>
              <a:t>.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868218" y="1838035"/>
            <a:ext cx="5421746" cy="119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page : </a:t>
            </a:r>
            <a:r>
              <a:rPr lang="ko-KR" altLang="en-US" dirty="0" smtClean="0"/>
              <a:t>해당 페이지의 전체적인 속성 지정</a:t>
            </a:r>
            <a:endParaRPr lang="en-US" altLang="ko-KR" dirty="0" smtClean="0"/>
          </a:p>
          <a:p>
            <a:r>
              <a:rPr lang="en-US" altLang="ko-KR" dirty="0"/>
              <a:t>i</a:t>
            </a:r>
            <a:r>
              <a:rPr lang="en-US" altLang="ko-KR" dirty="0" smtClean="0"/>
              <a:t>nclude : </a:t>
            </a:r>
            <a:r>
              <a:rPr lang="ko-KR" altLang="en-US" dirty="0" smtClean="0"/>
              <a:t>별도의 페이지를 현재 페이지에 삽입</a:t>
            </a:r>
            <a:endParaRPr lang="en-US" altLang="ko-KR" dirty="0" smtClean="0"/>
          </a:p>
          <a:p>
            <a:r>
              <a:rPr lang="en-US" altLang="ko-KR" dirty="0" err="1" smtClean="0"/>
              <a:t>taglib</a:t>
            </a:r>
            <a:r>
              <a:rPr lang="en-US" altLang="ko-KR" dirty="0" smtClean="0"/>
              <a:t> : </a:t>
            </a:r>
            <a:r>
              <a:rPr lang="ko-KR" altLang="en-US" dirty="0" smtClean="0"/>
              <a:t>태그라이브러리의 태그 사용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77008" y="3540229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p</a:t>
            </a:r>
            <a:r>
              <a:rPr lang="en-US" altLang="ko-KR" sz="1100" dirty="0" smtClean="0">
                <a:latin typeface="+mn-ea"/>
              </a:rPr>
              <a:t>age </a:t>
            </a:r>
            <a:r>
              <a:rPr lang="ko-KR" altLang="en-US" sz="1100" dirty="0" smtClean="0">
                <a:latin typeface="+mn-ea"/>
              </a:rPr>
              <a:t>지시자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730798" y="3807011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0798" y="3812184"/>
            <a:ext cx="10089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페이지의 속성을 지정할 때 사용 합니다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주로 사용되는 언어 지정 및 </a:t>
            </a:r>
            <a:r>
              <a:rPr lang="en-US" altLang="ko-KR" sz="1100" dirty="0" smtClean="0">
                <a:latin typeface="+mn-ea"/>
              </a:rPr>
              <a:t>import</a:t>
            </a:r>
            <a:r>
              <a:rPr lang="ko-KR" altLang="en-US" sz="1100" dirty="0" smtClean="0">
                <a:latin typeface="+mn-ea"/>
              </a:rPr>
              <a:t>문을 많이 사용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jsp_10_2_ex1_directiveex)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18" y="4388204"/>
            <a:ext cx="5699256" cy="913141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09" y="5411660"/>
            <a:ext cx="2561946" cy="89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74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지시자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7008" y="1517457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include </a:t>
            </a:r>
            <a:r>
              <a:rPr lang="ko-KR" altLang="en-US" sz="1100" dirty="0" smtClean="0">
                <a:latin typeface="+mn-ea"/>
              </a:rPr>
              <a:t>지시자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730798" y="1784239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0798" y="1789412"/>
            <a:ext cx="10089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현재 </a:t>
            </a:r>
            <a:r>
              <a:rPr lang="ko-KR" altLang="en-US" sz="1100" dirty="0" err="1" smtClean="0">
                <a:latin typeface="+mn-ea"/>
              </a:rPr>
              <a:t>페이지내에</a:t>
            </a:r>
            <a:r>
              <a:rPr lang="ko-KR" altLang="en-US" sz="1100" dirty="0" smtClean="0">
                <a:latin typeface="+mn-ea"/>
              </a:rPr>
              <a:t> 다른 페이지를 삽입할 때 사용 됩니다</a:t>
            </a:r>
            <a:r>
              <a:rPr lang="en-US" altLang="ko-KR" sz="1100" dirty="0" smtClean="0">
                <a:latin typeface="+mn-ea"/>
              </a:rPr>
              <a:t>. file</a:t>
            </a:r>
            <a:r>
              <a:rPr lang="ko-KR" altLang="en-US" sz="1100" dirty="0" smtClean="0">
                <a:latin typeface="+mn-ea"/>
              </a:rPr>
              <a:t>속성을 이용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jsp_10_2_ex1_directiveex)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98" y="2495759"/>
            <a:ext cx="3975310" cy="79506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08" y="3566281"/>
            <a:ext cx="4825475" cy="20309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384" y="2404189"/>
            <a:ext cx="4478720" cy="3510929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6668655" y="2404189"/>
            <a:ext cx="4618181" cy="129274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6668653" y="3738515"/>
            <a:ext cx="4618181" cy="16298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6668652" y="5409999"/>
            <a:ext cx="4618181" cy="49528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18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지시자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7008" y="1517457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taglib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지시자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730798" y="1784239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0798" y="1789412"/>
            <a:ext cx="100896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사용자가 만든 </a:t>
            </a:r>
            <a:r>
              <a:rPr lang="en-US" altLang="ko-KR" sz="1100" dirty="0" smtClean="0">
                <a:latin typeface="+mn-ea"/>
              </a:rPr>
              <a:t>tag</a:t>
            </a:r>
            <a:r>
              <a:rPr lang="ko-KR" altLang="en-US" sz="1100" dirty="0" smtClean="0">
                <a:latin typeface="+mn-ea"/>
              </a:rPr>
              <a:t>들을 태그라이브러리라고 합니다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그리고 이러한 태그라이브러리를 사용하기 위해 </a:t>
            </a:r>
            <a:r>
              <a:rPr lang="en-US" altLang="ko-KR" sz="1100" dirty="0" err="1" smtClean="0">
                <a:latin typeface="+mn-ea"/>
              </a:rPr>
              <a:t>taglib</a:t>
            </a:r>
            <a:r>
              <a:rPr lang="ko-KR" altLang="en-US" sz="1100" dirty="0" err="1" smtClean="0">
                <a:latin typeface="+mn-ea"/>
              </a:rPr>
              <a:t>지시자를</a:t>
            </a:r>
            <a:r>
              <a:rPr lang="ko-KR" altLang="en-US" sz="1100" dirty="0" smtClean="0">
                <a:latin typeface="+mn-ea"/>
              </a:rPr>
              <a:t> 사용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u</a:t>
            </a:r>
            <a:r>
              <a:rPr lang="en-US" altLang="ko-KR" sz="1100" dirty="0" err="1" smtClean="0">
                <a:latin typeface="+mn-ea"/>
              </a:rPr>
              <a:t>ri</a:t>
            </a:r>
            <a:r>
              <a:rPr lang="ko-KR" altLang="en-US" sz="1100" dirty="0" smtClean="0">
                <a:latin typeface="+mn-ea"/>
              </a:rPr>
              <a:t> 및 </a:t>
            </a:r>
            <a:r>
              <a:rPr lang="en-US" altLang="ko-KR" sz="1100" dirty="0" smtClean="0">
                <a:latin typeface="+mn-ea"/>
              </a:rPr>
              <a:t>prefix </a:t>
            </a:r>
            <a:r>
              <a:rPr lang="ko-KR" altLang="en-US" sz="1100" dirty="0" smtClean="0">
                <a:latin typeface="+mn-ea"/>
              </a:rPr>
              <a:t>속성이 있으며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en-US" altLang="ko-KR" sz="1100" dirty="0" err="1" smtClean="0">
                <a:latin typeface="+mn-ea"/>
              </a:rPr>
              <a:t>uri</a:t>
            </a:r>
            <a:r>
              <a:rPr lang="ko-KR" altLang="en-US" sz="1100" dirty="0" smtClean="0">
                <a:latin typeface="+mn-ea"/>
              </a:rPr>
              <a:t>는 </a:t>
            </a:r>
            <a:r>
              <a:rPr lang="ko-KR" altLang="en-US" sz="1100" dirty="0" err="1" smtClean="0">
                <a:latin typeface="+mn-ea"/>
              </a:rPr>
              <a:t>태그라이브러이의</a:t>
            </a:r>
            <a:r>
              <a:rPr lang="ko-KR" altLang="en-US" sz="1100" dirty="0" smtClean="0">
                <a:latin typeface="+mn-ea"/>
              </a:rPr>
              <a:t> 위치 값을 가지며</a:t>
            </a:r>
            <a:r>
              <a:rPr lang="en-US" altLang="ko-KR" sz="1100" dirty="0" smtClean="0">
                <a:latin typeface="+mn-ea"/>
              </a:rPr>
              <a:t>, prefix</a:t>
            </a:r>
            <a:r>
              <a:rPr lang="ko-KR" altLang="en-US" sz="1100" dirty="0" smtClean="0">
                <a:latin typeface="+mn-ea"/>
              </a:rPr>
              <a:t>는 태그를 가리키는 이름 값을 가집니다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endParaRPr lang="en-US" altLang="ko-KR" sz="1100" dirty="0">
              <a:latin typeface="+mn-ea"/>
            </a:endParaRPr>
          </a:p>
          <a:p>
            <a:r>
              <a:rPr lang="en-US" altLang="ko-KR" sz="1100" dirty="0" err="1">
                <a:latin typeface="+mn-ea"/>
              </a:rPr>
              <a:t>t</a:t>
            </a:r>
            <a:r>
              <a:rPr lang="en-US" altLang="ko-KR" sz="1100" dirty="0" err="1" smtClean="0">
                <a:latin typeface="+mn-ea"/>
              </a:rPr>
              <a:t>aglib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err="1" smtClean="0">
                <a:latin typeface="+mn-ea"/>
              </a:rPr>
              <a:t>지시자에</a:t>
            </a:r>
            <a:r>
              <a:rPr lang="ko-KR" altLang="en-US" sz="1100" dirty="0" smtClean="0">
                <a:latin typeface="+mn-ea"/>
              </a:rPr>
              <a:t> 대한 학습은 추후에 살펴볼 </a:t>
            </a:r>
            <a:r>
              <a:rPr lang="en-US" altLang="ko-KR" sz="1100" dirty="0" smtClean="0">
                <a:latin typeface="+mn-ea"/>
              </a:rPr>
              <a:t>JSTL</a:t>
            </a:r>
            <a:r>
              <a:rPr lang="ko-KR" altLang="en-US" sz="1100" dirty="0" smtClean="0">
                <a:latin typeface="+mn-ea"/>
              </a:rPr>
              <a:t>학습 때 다시 살펴보기로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003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4.</a:t>
            </a:r>
            <a:r>
              <a:rPr lang="en-US" altLang="ko-KR" sz="1600" b="1" kern="1200" baseline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주석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7008" y="1914623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HTML </a:t>
            </a:r>
            <a:r>
              <a:rPr lang="ko-KR" altLang="en-US" sz="1100" dirty="0" smtClean="0">
                <a:latin typeface="+mn-ea"/>
              </a:rPr>
              <a:t>주석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730798" y="2181405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0798" y="2186578"/>
            <a:ext cx="100896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&lt;!– comments --&gt;</a:t>
            </a:r>
            <a:r>
              <a:rPr lang="ko-KR" altLang="en-US" sz="1100" dirty="0" smtClean="0">
                <a:latin typeface="+mn-ea"/>
              </a:rPr>
              <a:t>로 기술 하며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테스트 용도 및 프로그램 설명 용도로 사용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008" y="1116906"/>
            <a:ext cx="106767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실제 프로그램에는 영향이 없고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프로그램 설명들의 목적으로 사용되는 태그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HTML </a:t>
            </a:r>
            <a:r>
              <a:rPr lang="ko-KR" altLang="en-US" sz="1100" dirty="0" smtClean="0">
                <a:latin typeface="+mn-ea"/>
              </a:rPr>
              <a:t>및 </a:t>
            </a:r>
            <a:r>
              <a:rPr lang="en-US" altLang="ko-KR" sz="1100" dirty="0" smtClean="0">
                <a:latin typeface="+mn-ea"/>
              </a:rPr>
              <a:t>JSP </a:t>
            </a:r>
            <a:r>
              <a:rPr lang="ko-KR" altLang="en-US" sz="1100" dirty="0" smtClean="0">
                <a:latin typeface="+mn-ea"/>
              </a:rPr>
              <a:t>주석이 별도로 존재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jsp_10_3_ex1_comments)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41" y="2572606"/>
            <a:ext cx="4010025" cy="7334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7008" y="3706565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JSP </a:t>
            </a:r>
            <a:r>
              <a:rPr lang="ko-KR" altLang="en-US" sz="1100" dirty="0" smtClean="0">
                <a:latin typeface="+mn-ea"/>
              </a:rPr>
              <a:t>주석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730798" y="3973347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0798" y="3978520"/>
            <a:ext cx="10089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&lt;%-- comments --&gt;</a:t>
            </a:r>
            <a:r>
              <a:rPr lang="ko-KR" altLang="en-US" sz="1100" dirty="0" smtClean="0">
                <a:latin typeface="+mn-ea"/>
              </a:rPr>
              <a:t>로 기술 하며</a:t>
            </a:r>
            <a:r>
              <a:rPr lang="en-US" altLang="ko-KR" sz="1100" dirty="0" smtClean="0">
                <a:latin typeface="+mn-ea"/>
              </a:rPr>
              <a:t>, HTML</a:t>
            </a:r>
            <a:r>
              <a:rPr lang="ko-KR" altLang="en-US" sz="1100" dirty="0" smtClean="0">
                <a:latin typeface="+mn-ea"/>
              </a:rPr>
              <a:t>주석과 마찬가지로 테스트 용도 및 프로그램 설명 용도로 사용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JAVA</a:t>
            </a:r>
            <a:r>
              <a:rPr lang="ko-KR" altLang="en-US" sz="1100" dirty="0" smtClean="0">
                <a:latin typeface="+mn-ea"/>
              </a:rPr>
              <a:t>언어의 주석도 사용 됩니다</a:t>
            </a:r>
            <a:r>
              <a:rPr lang="en-US" altLang="ko-KR" sz="1100" dirty="0" smtClean="0">
                <a:latin typeface="+mn-ea"/>
              </a:rPr>
              <a:t>. (//, /* */)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441" y="4574340"/>
            <a:ext cx="3209925" cy="7239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8616" y="4575353"/>
            <a:ext cx="2581984" cy="51167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616" y="2697885"/>
            <a:ext cx="3731281" cy="590393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8922327" y="3600889"/>
            <a:ext cx="3186546" cy="7345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latin typeface="+mn-ea"/>
              </a:rPr>
              <a:t>웹브라우저</a:t>
            </a:r>
            <a:r>
              <a:rPr lang="ko-KR" altLang="en-US" sz="1400" dirty="0" smtClean="0">
                <a:latin typeface="+mn-ea"/>
              </a:rPr>
              <a:t> 소스에 차이가 있습니다</a:t>
            </a:r>
            <a:r>
              <a:rPr lang="en-US" altLang="ko-KR" sz="1400" dirty="0" smtClean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cxnSp>
        <p:nvCxnSpPr>
          <p:cNvPr id="16" name="직선 화살표 연결선 15"/>
          <p:cNvCxnSpPr>
            <a:stCxn id="18" idx="0"/>
          </p:cNvCxnSpPr>
          <p:nvPr/>
        </p:nvCxnSpPr>
        <p:spPr>
          <a:xfrm flipH="1" flipV="1">
            <a:off x="9494982" y="3214255"/>
            <a:ext cx="1020618" cy="386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18" idx="2"/>
          </p:cNvCxnSpPr>
          <p:nvPr/>
        </p:nvCxnSpPr>
        <p:spPr>
          <a:xfrm flipH="1">
            <a:off x="9661236" y="4335460"/>
            <a:ext cx="854364" cy="448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81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2553</TotalTime>
  <Words>428</Words>
  <Application>Microsoft Office PowerPoint</Application>
  <PresentationFormat>와이드스크린</PresentationFormat>
  <Paragraphs>63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005</cp:lastModifiedBy>
  <cp:revision>737</cp:revision>
  <dcterms:created xsi:type="dcterms:W3CDTF">2014-12-01T08:37:15Z</dcterms:created>
  <dcterms:modified xsi:type="dcterms:W3CDTF">2023-07-27T05:57:11Z</dcterms:modified>
</cp:coreProperties>
</file>