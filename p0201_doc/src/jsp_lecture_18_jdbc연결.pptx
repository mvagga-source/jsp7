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86" r:id="rId3"/>
    <p:sldId id="288" r:id="rId4"/>
    <p:sldId id="289" r:id="rId5"/>
    <p:sldId id="292" r:id="rId6"/>
    <p:sldId id="290" r:id="rId7"/>
    <p:sldId id="284" r:id="rId8"/>
    <p:sldId id="283" r:id="rId9"/>
    <p:sldId id="285" r:id="rId10"/>
    <p:sldId id="29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18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18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데이터 베이스 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- 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II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JDBC </a:t>
            </a:r>
            <a:r>
              <a:rPr lang="ko-KR" altLang="en-US" sz="1600" b="1" dirty="0" smtClean="0">
                <a:latin typeface="+mn-ea"/>
              </a:rPr>
              <a:t>연결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3832" y="2217194"/>
            <a:ext cx="437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kern="1200" dirty="0" smtClean="0">
                <a:solidFill>
                  <a:schemeClr val="tx1"/>
                </a:solidFill>
                <a:effectLst/>
                <a:latin typeface="+mn-ea"/>
              </a:rPr>
              <a:t>1.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JDBC </a:t>
            </a:r>
            <a:r>
              <a:rPr lang="ko-KR" altLang="en-US" sz="1400" dirty="0" smtClean="0">
                <a:latin typeface="+mn-ea"/>
              </a:rPr>
              <a:t>연결 </a:t>
            </a:r>
            <a:r>
              <a:rPr lang="en-US" altLang="ko-KR" sz="1400" dirty="0" smtClean="0">
                <a:latin typeface="+mn-ea"/>
              </a:rPr>
              <a:t>: Data Source Explorer </a:t>
            </a:r>
            <a:r>
              <a:rPr lang="ko-KR" altLang="en-US" sz="1400" dirty="0" smtClean="0">
                <a:latin typeface="+mn-ea"/>
              </a:rPr>
              <a:t>열기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9289" y="2539320"/>
            <a:ext cx="4294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Window &gt; Show View &gt; Data </a:t>
            </a:r>
            <a:r>
              <a:rPr lang="en-US" altLang="ko-KR" sz="1400" dirty="0" smtClean="0">
                <a:latin typeface="+mn-ea"/>
              </a:rPr>
              <a:t>Source Explorer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2050" name="Picture 2" descr="https://img1.daumcdn.net/thumb/R1280x0/?scode=mtistory2&amp;fname=https%3A%2F%2Ft1.daumcdn.net%2Fcfile%2Ftistory%2F995FF24F5DF4CC08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944" y="2927349"/>
            <a:ext cx="3914775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5583282" y="2217194"/>
            <a:ext cx="1827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kern="1200" dirty="0" smtClean="0">
                <a:solidFill>
                  <a:schemeClr val="tx1"/>
                </a:solidFill>
                <a:effectLst/>
                <a:latin typeface="+mn-ea"/>
              </a:rPr>
              <a:t>2.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 New</a:t>
            </a:r>
            <a:r>
              <a:rPr lang="ko-KR" altLang="en-US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생성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68739" y="2539320"/>
            <a:ext cx="4294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Data Source Explorer &gt; New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2052" name="Picture 4" descr="https://img1.daumcdn.net/thumb/R1280x0/?scode=mtistory2&amp;fname=https%3A%2F%2Ft1.daumcdn.net%2Fcfile%2Ftistory%2F9937FF4F5DF4CC092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282" y="2927349"/>
            <a:ext cx="1827295" cy="185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img1.daumcdn.net/thumb/R1280x0/?scode=mtistory2&amp;fname=https%3A%2F%2Ft1.daumcdn.net%2Fcfile%2Ftistory%2F992F574F5DF4CC0D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723" y="2929248"/>
            <a:ext cx="3837077" cy="184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677008" y="1116906"/>
            <a:ext cx="10676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JAVA </a:t>
            </a:r>
            <a:r>
              <a:rPr lang="ko-KR" altLang="en-US" sz="1100" dirty="0" smtClean="0">
                <a:latin typeface="+mn-ea"/>
              </a:rPr>
              <a:t>프로그램에서 </a:t>
            </a:r>
            <a:r>
              <a:rPr lang="en-US" altLang="ko-KR" sz="1100" dirty="0" smtClean="0">
                <a:latin typeface="+mn-ea"/>
              </a:rPr>
              <a:t>SQL</a:t>
            </a:r>
            <a:r>
              <a:rPr lang="ko-KR" altLang="en-US" sz="1100" dirty="0" smtClean="0">
                <a:latin typeface="+mn-ea"/>
              </a:rPr>
              <a:t>문을 실행하여 데이터를 관리하기 위한</a:t>
            </a:r>
            <a:r>
              <a:rPr lang="en-US" altLang="ko-KR" sz="1100" dirty="0" smtClean="0">
                <a:latin typeface="+mn-ea"/>
              </a:rPr>
              <a:t> JAVA API</a:t>
            </a:r>
            <a:r>
              <a:rPr lang="ko-KR" altLang="en-US" sz="1100" dirty="0" smtClean="0">
                <a:latin typeface="+mn-ea"/>
              </a:rPr>
              <a:t>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JDBC</a:t>
            </a:r>
            <a:r>
              <a:rPr lang="ko-KR" altLang="en-US" sz="1100" dirty="0" smtClean="0">
                <a:latin typeface="+mn-ea"/>
              </a:rPr>
              <a:t>의 특징은 다양한 데이터 베이스에 대해서 별도의 프로그램을 만들 필요 없이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해당 데이터 베이스의 </a:t>
            </a:r>
            <a:r>
              <a:rPr lang="en-US" altLang="ko-KR" sz="1100" dirty="0" smtClean="0">
                <a:latin typeface="+mn-ea"/>
              </a:rPr>
              <a:t>JDBC</a:t>
            </a:r>
            <a:r>
              <a:rPr lang="ko-KR" altLang="en-US" sz="1100" dirty="0" smtClean="0">
                <a:latin typeface="+mn-ea"/>
              </a:rPr>
              <a:t>를 이용하면 하나의 프로그램으로 데이터 베이스를 관리할 수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우리는 </a:t>
            </a:r>
            <a:r>
              <a:rPr lang="en-US" altLang="ko-KR" sz="1100" dirty="0" smtClean="0">
                <a:latin typeface="+mn-ea"/>
              </a:rPr>
              <a:t>Oracle</a:t>
            </a:r>
            <a:r>
              <a:rPr lang="ko-KR" altLang="en-US" sz="1100" dirty="0" smtClean="0">
                <a:latin typeface="+mn-ea"/>
              </a:rPr>
              <a:t>을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사용하므로</a:t>
            </a:r>
            <a:r>
              <a:rPr lang="en-US" altLang="ko-KR" sz="1100" dirty="0" smtClean="0">
                <a:latin typeface="+mn-ea"/>
              </a:rPr>
              <a:t>, Oracle</a:t>
            </a:r>
            <a:r>
              <a:rPr lang="ko-KR" altLang="en-US" sz="1100" dirty="0" smtClean="0">
                <a:latin typeface="+mn-ea"/>
              </a:rPr>
              <a:t>용 </a:t>
            </a:r>
            <a:r>
              <a:rPr lang="en-US" altLang="ko-KR" sz="1100" dirty="0" smtClean="0">
                <a:latin typeface="+mn-ea"/>
              </a:rPr>
              <a:t>JDBC</a:t>
            </a:r>
            <a:r>
              <a:rPr lang="ko-KR" altLang="en-US" sz="1100" dirty="0" smtClean="0">
                <a:latin typeface="+mn-ea"/>
              </a:rPr>
              <a:t>를 사용하며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이것은 </a:t>
            </a:r>
            <a:r>
              <a:rPr lang="ko-KR" altLang="en-US" sz="1100" dirty="0" err="1" smtClean="0">
                <a:latin typeface="+mn-ea"/>
              </a:rPr>
              <a:t>오라클을</a:t>
            </a:r>
            <a:r>
              <a:rPr lang="ko-KR" altLang="en-US" sz="1100" dirty="0" smtClean="0">
                <a:latin typeface="+mn-ea"/>
              </a:rPr>
              <a:t> 설치하면 자동으로 설치 되고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err="1" smtClean="0">
                <a:latin typeface="+mn-ea"/>
              </a:rPr>
              <a:t>이클립스에서</a:t>
            </a:r>
            <a:r>
              <a:rPr lang="ko-KR" altLang="en-US" sz="1100" dirty="0" smtClean="0">
                <a:latin typeface="+mn-ea"/>
              </a:rPr>
              <a:t> 해당 클래스 파일을 복사하면 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479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JDBC </a:t>
            </a:r>
            <a:r>
              <a:rPr lang="ko-KR" altLang="en-US" sz="1600" b="1" dirty="0" smtClean="0">
                <a:latin typeface="+mn-ea"/>
              </a:rPr>
              <a:t>연결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3833" y="1740507"/>
            <a:ext cx="3266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kern="1200" dirty="0" smtClean="0">
                <a:solidFill>
                  <a:schemeClr val="tx1"/>
                </a:solidFill>
                <a:effectLst/>
                <a:latin typeface="+mn-ea"/>
              </a:rPr>
              <a:t>3.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Oracle </a:t>
            </a:r>
            <a:r>
              <a:rPr lang="ko-KR" altLang="en-US" sz="1400" dirty="0" smtClean="0">
                <a:latin typeface="+mn-ea"/>
              </a:rPr>
              <a:t>선택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30721" y="1740507"/>
            <a:ext cx="1827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kern="1200" dirty="0" smtClean="0">
                <a:solidFill>
                  <a:schemeClr val="tx1"/>
                </a:solidFill>
                <a:effectLst/>
                <a:latin typeface="+mn-ea"/>
              </a:rPr>
              <a:t>4.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ko-KR" altLang="en-US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신규생성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3074" name="Picture 2" descr="https://img1.daumcdn.net/thumb/R1280x0/?scode=mtistory2&amp;fname=https%3A%2F%2Ft1.daumcdn.net%2Fcfile%2Ftistory%2F99DA954F5DF4CC0E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89" y="2216521"/>
            <a:ext cx="3081079" cy="379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img1.daumcdn.net/thumb/R1280x0/?scode=mtistory2&amp;fname=https%3A%2F%2Ft1.daumcdn.net%2Fcfile%2Ftistory%2F9916224F5DF4CC0F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355" y="2216521"/>
            <a:ext cx="3055778" cy="379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img1.daumcdn.net/thumb/R1280x0/?scode=mtistory2&amp;fname=https%3A%2F%2Ft1.daumcdn.net%2Fcfile%2Ftistory%2F9970CA4F5DF4CC103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120" y="2216522"/>
            <a:ext cx="3455041" cy="379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7446120" y="1740507"/>
            <a:ext cx="3455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5</a:t>
            </a:r>
            <a:r>
              <a:rPr lang="en-US" altLang="ko-KR" sz="1400" kern="1200" dirty="0" smtClean="0">
                <a:solidFill>
                  <a:schemeClr val="tx1"/>
                </a:solidFill>
                <a:effectLst/>
                <a:latin typeface="+mn-ea"/>
              </a:rPr>
              <a:t>.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Oracle Thin Driver 8 </a:t>
            </a:r>
            <a:r>
              <a:rPr lang="ko-KR" altLang="en-US" sz="1400" dirty="0" smtClean="0">
                <a:latin typeface="+mn-ea"/>
              </a:rPr>
              <a:t>선택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49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JDBC </a:t>
            </a:r>
            <a:r>
              <a:rPr lang="ko-KR" altLang="en-US" sz="1600" b="1" dirty="0" smtClean="0">
                <a:latin typeface="+mn-ea"/>
              </a:rPr>
              <a:t>연결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3833" y="1600463"/>
            <a:ext cx="3266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6</a:t>
            </a:r>
            <a:r>
              <a:rPr lang="en-US" altLang="ko-KR" sz="1400" kern="1200" dirty="0" smtClean="0">
                <a:solidFill>
                  <a:schemeClr val="tx1"/>
                </a:solidFill>
                <a:effectLst/>
                <a:latin typeface="+mn-ea"/>
              </a:rPr>
              <a:t>.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ko-KR" altLang="en-US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기존 </a:t>
            </a:r>
            <a:r>
              <a:rPr lang="ko-KR" altLang="en-US" sz="1400" kern="1200" baseline="0" dirty="0" err="1" smtClean="0">
                <a:solidFill>
                  <a:schemeClr val="tx1"/>
                </a:solidFill>
                <a:effectLst/>
                <a:latin typeface="+mn-ea"/>
              </a:rPr>
              <a:t>삭제후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, </a:t>
            </a:r>
            <a:r>
              <a:rPr lang="en-US" altLang="ko-KR" sz="1400" dirty="0">
                <a:latin typeface="+mn-ea"/>
              </a:rPr>
              <a:t>ojdbc8_g.jar </a:t>
            </a:r>
            <a:r>
              <a:rPr lang="ko-KR" altLang="en-US" sz="1400" dirty="0" smtClean="0">
                <a:latin typeface="+mn-ea"/>
              </a:rPr>
              <a:t>위치 선택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7977" y="1600463"/>
            <a:ext cx="3504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7</a:t>
            </a:r>
            <a:r>
              <a:rPr lang="en-US" altLang="ko-KR" sz="1400" kern="1200" dirty="0" smtClean="0">
                <a:solidFill>
                  <a:schemeClr val="tx1"/>
                </a:solidFill>
                <a:effectLst/>
                <a:latin typeface="+mn-ea"/>
              </a:rPr>
              <a:t>.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oracle18&gt;</a:t>
            </a:r>
            <a:r>
              <a:rPr lang="en-US" altLang="ko-KR" sz="1400" dirty="0" err="1" smtClean="0">
                <a:latin typeface="+mn-ea"/>
              </a:rPr>
              <a:t>dbhomeXE</a:t>
            </a:r>
            <a:r>
              <a:rPr lang="en-US" altLang="ko-KR" sz="1400" dirty="0" smtClean="0">
                <a:latin typeface="+mn-ea"/>
              </a:rPr>
              <a:t> &gt; </a:t>
            </a:r>
            <a:r>
              <a:rPr lang="en-US" altLang="ko-KR" sz="1400" dirty="0" err="1" smtClean="0">
                <a:latin typeface="+mn-ea"/>
              </a:rPr>
              <a:t>jdbc</a:t>
            </a:r>
            <a:r>
              <a:rPr lang="en-US" altLang="ko-KR" sz="1400" dirty="0" smtClean="0">
                <a:latin typeface="+mn-ea"/>
              </a:rPr>
              <a:t> &gt;lib </a:t>
            </a:r>
            <a:r>
              <a:rPr lang="ko-KR" altLang="en-US" sz="1400" dirty="0" smtClean="0">
                <a:latin typeface="+mn-ea"/>
              </a:rPr>
              <a:t>위치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5122" name="Picture 2" descr="https://img1.daumcdn.net/thumb/R1280x0/?scode=mtistory2&amp;fname=https%3A%2F%2Ft1.daumcdn.net%2Fcfile%2Ftistory%2F9950994D5DF4CC11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15" y="2076478"/>
            <a:ext cx="3455041" cy="379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977" y="2076478"/>
            <a:ext cx="3386473" cy="22071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437" y="2076478"/>
            <a:ext cx="3269147" cy="38614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98437" y="1600463"/>
            <a:ext cx="3269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8</a:t>
            </a:r>
            <a:r>
              <a:rPr lang="en-US" altLang="ko-KR" sz="1400" kern="1200" dirty="0" smtClean="0">
                <a:solidFill>
                  <a:schemeClr val="tx1"/>
                </a:solidFill>
                <a:effectLst/>
                <a:latin typeface="+mn-ea"/>
              </a:rPr>
              <a:t>.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정보 </a:t>
            </a:r>
            <a:r>
              <a:rPr lang="ko-KR" altLang="en-US" sz="1400" dirty="0" err="1" smtClean="0">
                <a:latin typeface="+mn-ea"/>
              </a:rPr>
              <a:t>입력후</a:t>
            </a:r>
            <a:r>
              <a:rPr lang="en-US" altLang="ko-KR" sz="1400" dirty="0" smtClean="0">
                <a:latin typeface="+mn-ea"/>
              </a:rPr>
              <a:t>, Test Connection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666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JDBC </a:t>
            </a:r>
            <a:r>
              <a:rPr lang="ko-KR" altLang="en-US" sz="1600" b="1" dirty="0" smtClean="0">
                <a:latin typeface="+mn-ea"/>
              </a:rPr>
              <a:t>연결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3833" y="1600463"/>
            <a:ext cx="3266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9</a:t>
            </a:r>
            <a:r>
              <a:rPr lang="en-US" altLang="ko-KR" sz="1400" kern="1200" dirty="0" smtClean="0">
                <a:solidFill>
                  <a:schemeClr val="tx1"/>
                </a:solidFill>
                <a:effectLst/>
                <a:latin typeface="+mn-ea"/>
              </a:rPr>
              <a:t>.</a:t>
            </a:r>
            <a:r>
              <a:rPr lang="en-US" altLang="ko-KR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 WEB-INF &gt;lib &gt; ojdbc8_g.jar</a:t>
            </a:r>
            <a:r>
              <a:rPr lang="ko-KR" altLang="en-US" sz="1400" kern="1200" baseline="0" dirty="0" smtClean="0">
                <a:solidFill>
                  <a:schemeClr val="tx1"/>
                </a:solidFill>
                <a:effectLst/>
                <a:latin typeface="+mn-ea"/>
              </a:rPr>
              <a:t>추가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27" y="2085294"/>
            <a:ext cx="3050410" cy="36894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1985319" y="4868562"/>
            <a:ext cx="1647567" cy="7496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95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blog.kakaocdn.net/dn/xrOZJ/btrN3DcOYzu/9zZQLfBPMkMUZEerlGFogK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64" y="1711325"/>
            <a:ext cx="6441094" cy="477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JDBC </a:t>
            </a:r>
            <a:r>
              <a:rPr lang="ko-KR" altLang="en-US" sz="1600" b="1" dirty="0">
                <a:latin typeface="+mn-ea"/>
              </a:rPr>
              <a:t>살펴보기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2164" y="1275557"/>
            <a:ext cx="97937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+mn-ea"/>
              </a:rPr>
              <a:t>데이터 베이스 연결 순서</a:t>
            </a:r>
            <a:endParaRPr lang="en-US" altLang="ko-KR" sz="160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30324" y="3729545"/>
            <a:ext cx="4419601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c</a:t>
            </a:r>
            <a:r>
              <a:rPr lang="en-US" altLang="ko-KR" sz="1100" dirty="0" err="1" smtClean="0">
                <a:latin typeface="+mn-ea"/>
              </a:rPr>
              <a:t>onnection.createStatement</a:t>
            </a:r>
            <a:r>
              <a:rPr lang="en-US" altLang="ko-KR" sz="1100" dirty="0" smtClean="0">
                <a:latin typeface="+mn-ea"/>
              </a:rPr>
              <a:t>();</a:t>
            </a:r>
          </a:p>
          <a:p>
            <a:r>
              <a:rPr lang="en-US" altLang="ko-KR" sz="1100" dirty="0" smtClean="0">
                <a:latin typeface="+mn-ea"/>
              </a:rPr>
              <a:t> : Statement</a:t>
            </a:r>
            <a:r>
              <a:rPr lang="ko-KR" altLang="en-US" sz="1100" dirty="0" smtClean="0">
                <a:latin typeface="+mn-ea"/>
              </a:rPr>
              <a:t>객체를 통해 </a:t>
            </a:r>
            <a:r>
              <a:rPr lang="en-US" altLang="ko-KR" sz="1100" dirty="0" smtClean="0">
                <a:latin typeface="+mn-ea"/>
              </a:rPr>
              <a:t>SQL</a:t>
            </a:r>
            <a:r>
              <a:rPr lang="ko-KR" altLang="en-US" sz="1100" dirty="0" smtClean="0">
                <a:latin typeface="+mn-ea"/>
              </a:rPr>
              <a:t>문이 실행 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0324" y="5216351"/>
            <a:ext cx="4419601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s</a:t>
            </a:r>
            <a:r>
              <a:rPr lang="en-US" altLang="ko-KR" sz="1100" dirty="0" err="1" smtClean="0">
                <a:latin typeface="+mn-ea"/>
              </a:rPr>
              <a:t>tatement.executeQuery</a:t>
            </a:r>
            <a:r>
              <a:rPr lang="en-US" altLang="ko-KR" sz="1100" dirty="0" smtClean="0">
                <a:latin typeface="+mn-ea"/>
              </a:rPr>
              <a:t>(), </a:t>
            </a:r>
            <a:r>
              <a:rPr lang="en-US" altLang="ko-KR" sz="1100" dirty="0" err="1" smtClean="0">
                <a:latin typeface="+mn-ea"/>
              </a:rPr>
              <a:t>statement.executeUpdate</a:t>
            </a:r>
            <a:r>
              <a:rPr lang="en-US" altLang="ko-KR" sz="1100" dirty="0" smtClean="0">
                <a:latin typeface="+mn-ea"/>
              </a:rPr>
              <a:t>()</a:t>
            </a:r>
          </a:p>
          <a:p>
            <a:r>
              <a:rPr lang="en-US" altLang="ko-KR" sz="1100" dirty="0" smtClean="0">
                <a:latin typeface="+mn-ea"/>
              </a:rPr>
              <a:t> : SQL</a:t>
            </a:r>
            <a:r>
              <a:rPr lang="ko-KR" altLang="en-US" sz="1100" dirty="0" smtClean="0">
                <a:latin typeface="+mn-ea"/>
              </a:rPr>
              <a:t>문의 결과값을 </a:t>
            </a:r>
            <a:r>
              <a:rPr lang="en-US" altLang="ko-KR" sz="1100" dirty="0" err="1" smtClean="0">
                <a:latin typeface="+mn-ea"/>
              </a:rPr>
              <a:t>ResultSet</a:t>
            </a:r>
            <a:r>
              <a:rPr lang="ko-KR" altLang="en-US" sz="1100" dirty="0" smtClean="0">
                <a:latin typeface="+mn-ea"/>
              </a:rPr>
              <a:t>객체로 받습니다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2599" y="2405220"/>
            <a:ext cx="4419601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Class.forName</a:t>
            </a:r>
            <a:r>
              <a:rPr lang="en-US" altLang="ko-KR" sz="1100" dirty="0" smtClean="0">
                <a:latin typeface="+mn-ea"/>
              </a:rPr>
              <a:t>(“</a:t>
            </a:r>
            <a:r>
              <a:rPr lang="en-US" altLang="ko-KR" sz="1100" dirty="0" err="1" smtClean="0">
                <a:latin typeface="+mn-ea"/>
              </a:rPr>
              <a:t>oracle.jdbc.driver.OracleDriver</a:t>
            </a:r>
            <a:r>
              <a:rPr lang="en-US" altLang="ko-KR" sz="1100" dirty="0" smtClean="0">
                <a:latin typeface="+mn-ea"/>
              </a:rPr>
              <a:t>”);</a:t>
            </a:r>
          </a:p>
          <a:p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: </a:t>
            </a:r>
            <a:r>
              <a:rPr lang="ko-KR" altLang="en-US" sz="1100" dirty="0" smtClean="0">
                <a:latin typeface="+mn-ea"/>
              </a:rPr>
              <a:t>메모리에 </a:t>
            </a:r>
            <a:r>
              <a:rPr lang="en-US" altLang="ko-KR" sz="1100" dirty="0" err="1" smtClean="0">
                <a:latin typeface="+mn-ea"/>
              </a:rPr>
              <a:t>OracleDriver</a:t>
            </a:r>
            <a:r>
              <a:rPr lang="ko-KR" altLang="en-US" sz="1100" dirty="0" smtClean="0">
                <a:latin typeface="+mn-ea"/>
              </a:rPr>
              <a:t>가 로드 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2599" y="3020433"/>
            <a:ext cx="4419601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DriverManager.getConnection</a:t>
            </a:r>
            <a:r>
              <a:rPr lang="en-US" altLang="ko-KR" sz="1100" dirty="0" smtClean="0">
                <a:latin typeface="+mn-ea"/>
              </a:rPr>
              <a:t>(JDBC URL, </a:t>
            </a:r>
            <a:r>
              <a:rPr lang="ko-KR" altLang="en-US" sz="1100" dirty="0" smtClean="0">
                <a:latin typeface="+mn-ea"/>
              </a:rPr>
              <a:t>계정아이디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비밀번호</a:t>
            </a:r>
            <a:r>
              <a:rPr lang="en-US" altLang="ko-KR" sz="1100" dirty="0" smtClean="0">
                <a:latin typeface="+mn-ea"/>
              </a:rPr>
              <a:t>);</a:t>
            </a:r>
          </a:p>
          <a:p>
            <a:r>
              <a:rPr lang="en-US" altLang="ko-KR" sz="1100" dirty="0" smtClean="0">
                <a:latin typeface="+mn-ea"/>
              </a:rPr>
              <a:t> : Connection</a:t>
            </a:r>
            <a:r>
              <a:rPr lang="ko-KR" altLang="en-US" sz="1100" dirty="0" smtClean="0">
                <a:latin typeface="+mn-ea"/>
              </a:rPr>
              <a:t>객체 생성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301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Statement</a:t>
            </a:r>
            <a:r>
              <a:rPr lang="ko-KR" altLang="en-US" sz="1600" b="1" dirty="0">
                <a:latin typeface="+mn-ea"/>
              </a:rPr>
              <a:t>객체 살펴보기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1640544" y="2147647"/>
            <a:ext cx="2017057" cy="582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&lt;interface&gt;</a:t>
            </a:r>
            <a:endParaRPr lang="en-US" altLang="ko-KR" sz="1200" dirty="0" smtClean="0"/>
          </a:p>
          <a:p>
            <a:pPr algn="ctr"/>
            <a:r>
              <a:rPr lang="en-US" altLang="ko-KR" dirty="0" smtClean="0"/>
              <a:t>Statement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114802" y="1304964"/>
            <a:ext cx="2017057" cy="582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executeQuery</a:t>
            </a:r>
            <a:r>
              <a:rPr lang="en-US" altLang="ko-KR" sz="1600" dirty="0" smtClean="0"/>
              <a:t>()</a:t>
            </a:r>
            <a:endParaRPr lang="en-US" altLang="ko-KR" sz="2400" dirty="0" smtClean="0"/>
          </a:p>
        </p:txBody>
      </p:sp>
      <p:sp>
        <p:nvSpPr>
          <p:cNvPr id="41" name="직사각형 40"/>
          <p:cNvSpPr/>
          <p:nvPr/>
        </p:nvSpPr>
        <p:spPr>
          <a:xfrm>
            <a:off x="4114802" y="3021706"/>
            <a:ext cx="2017057" cy="582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executeUpdate</a:t>
            </a:r>
            <a:r>
              <a:rPr lang="en-US" altLang="ko-KR" sz="1600" dirty="0" smtClean="0"/>
              <a:t>()</a:t>
            </a:r>
            <a:endParaRPr lang="en-US" altLang="ko-KR" sz="1600" dirty="0"/>
          </a:p>
        </p:txBody>
      </p:sp>
      <p:cxnSp>
        <p:nvCxnSpPr>
          <p:cNvPr id="10" name="직선 화살표 연결선 9"/>
          <p:cNvCxnSpPr>
            <a:stCxn id="39" idx="3"/>
          </p:cNvCxnSpPr>
          <p:nvPr/>
        </p:nvCxnSpPr>
        <p:spPr>
          <a:xfrm flipV="1">
            <a:off x="3657601" y="1887670"/>
            <a:ext cx="457201" cy="551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39" idx="3"/>
          </p:cNvCxnSpPr>
          <p:nvPr/>
        </p:nvCxnSpPr>
        <p:spPr>
          <a:xfrm>
            <a:off x="3657601" y="2439000"/>
            <a:ext cx="457201" cy="582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36341" y="1380873"/>
            <a:ext cx="4419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SQL</a:t>
            </a:r>
            <a:r>
              <a:rPr lang="ko-KR" altLang="en-US" sz="1100" dirty="0" smtClean="0">
                <a:latin typeface="+mn-ea"/>
              </a:rPr>
              <a:t>문 실행 후 여러 개의 결과값 생기는 경우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예</a:t>
            </a:r>
            <a:r>
              <a:rPr lang="en-US" altLang="ko-KR" sz="1100" dirty="0" smtClean="0">
                <a:latin typeface="+mn-ea"/>
              </a:rPr>
              <a:t>) select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1859" y="3097615"/>
            <a:ext cx="4419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SQL</a:t>
            </a:r>
            <a:r>
              <a:rPr lang="ko-KR" altLang="en-US" sz="1100" dirty="0" smtClean="0">
                <a:latin typeface="+mn-ea"/>
              </a:rPr>
              <a:t>문 실행 후 테이블의 내용만 변경되는 경우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예</a:t>
            </a:r>
            <a:r>
              <a:rPr lang="en-US" altLang="ko-KR" sz="1100" dirty="0" smtClean="0">
                <a:latin typeface="+mn-ea"/>
              </a:rPr>
              <a:t>) insert, delete, update</a:t>
            </a:r>
          </a:p>
        </p:txBody>
      </p:sp>
      <p:cxnSp>
        <p:nvCxnSpPr>
          <p:cNvPr id="46" name="직선 연결선 45"/>
          <p:cNvCxnSpPr/>
          <p:nvPr/>
        </p:nvCxnSpPr>
        <p:spPr>
          <a:xfrm>
            <a:off x="892164" y="4241348"/>
            <a:ext cx="979376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92164" y="3979738"/>
            <a:ext cx="9793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executeQuery</a:t>
            </a:r>
            <a:r>
              <a:rPr lang="en-US" altLang="ko-KR" sz="1100" dirty="0" smtClean="0">
                <a:latin typeface="+mn-ea"/>
              </a:rPr>
              <a:t>() </a:t>
            </a:r>
            <a:r>
              <a:rPr lang="ko-KR" altLang="en-US" sz="1100" dirty="0" smtClean="0">
                <a:latin typeface="+mn-ea"/>
              </a:rPr>
              <a:t>실행 후 반환 되는 레코드 셋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761050" y="4919063"/>
            <a:ext cx="2017057" cy="582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executeQuery</a:t>
            </a:r>
            <a:r>
              <a:rPr lang="en-US" altLang="ko-KR" sz="1600" dirty="0" smtClean="0"/>
              <a:t>()</a:t>
            </a:r>
            <a:endParaRPr lang="en-US" altLang="ko-KR" sz="2400" dirty="0" smtClean="0"/>
          </a:p>
        </p:txBody>
      </p:sp>
      <p:sp>
        <p:nvSpPr>
          <p:cNvPr id="50" name="직사각형 49"/>
          <p:cNvSpPr/>
          <p:nvPr/>
        </p:nvSpPr>
        <p:spPr>
          <a:xfrm>
            <a:off x="4369778" y="4919063"/>
            <a:ext cx="2017057" cy="582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ResultSet</a:t>
            </a:r>
            <a:endParaRPr lang="en-US" altLang="ko-KR" sz="2400" dirty="0" smtClean="0"/>
          </a:p>
        </p:txBody>
      </p:sp>
      <p:sp>
        <p:nvSpPr>
          <p:cNvPr id="51" name="직사각형 50"/>
          <p:cNvSpPr/>
          <p:nvPr/>
        </p:nvSpPr>
        <p:spPr>
          <a:xfrm>
            <a:off x="6978506" y="4550833"/>
            <a:ext cx="2017057" cy="22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첫번째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로우</a:t>
            </a:r>
            <a:r>
              <a:rPr lang="ko-KR" altLang="en-US" sz="1000" dirty="0" smtClean="0"/>
              <a:t> 데이터</a:t>
            </a:r>
            <a:endParaRPr lang="en-US" altLang="ko-KR" sz="1000" dirty="0" smtClean="0"/>
          </a:p>
        </p:txBody>
      </p:sp>
      <p:sp>
        <p:nvSpPr>
          <p:cNvPr id="52" name="직사각형 51"/>
          <p:cNvSpPr/>
          <p:nvPr/>
        </p:nvSpPr>
        <p:spPr>
          <a:xfrm>
            <a:off x="6978506" y="4821059"/>
            <a:ext cx="2017057" cy="22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두번째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로우</a:t>
            </a:r>
            <a:r>
              <a:rPr lang="ko-KR" altLang="en-US" sz="1000" dirty="0" smtClean="0"/>
              <a:t> 데이터</a:t>
            </a:r>
            <a:endParaRPr lang="en-US" altLang="ko-KR" sz="1000" dirty="0" smtClean="0"/>
          </a:p>
        </p:txBody>
      </p:sp>
      <p:sp>
        <p:nvSpPr>
          <p:cNvPr id="53" name="직사각형 52"/>
          <p:cNvSpPr/>
          <p:nvPr/>
        </p:nvSpPr>
        <p:spPr>
          <a:xfrm>
            <a:off x="6978506" y="5091285"/>
            <a:ext cx="2017057" cy="22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세번째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로우</a:t>
            </a:r>
            <a:r>
              <a:rPr lang="ko-KR" altLang="en-US" sz="1000" dirty="0" smtClean="0"/>
              <a:t> 데이터</a:t>
            </a:r>
            <a:endParaRPr lang="en-US" altLang="ko-KR" sz="1000" dirty="0" smtClean="0"/>
          </a:p>
        </p:txBody>
      </p:sp>
      <p:sp>
        <p:nvSpPr>
          <p:cNvPr id="54" name="직사각형 53"/>
          <p:cNvSpPr/>
          <p:nvPr/>
        </p:nvSpPr>
        <p:spPr>
          <a:xfrm>
            <a:off x="6978505" y="5693745"/>
            <a:ext cx="2017057" cy="227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N</a:t>
            </a:r>
            <a:r>
              <a:rPr lang="ko-KR" altLang="en-US" sz="1000" dirty="0" smtClean="0"/>
              <a:t>번째 </a:t>
            </a:r>
            <a:r>
              <a:rPr lang="ko-KR" altLang="en-US" sz="1000" dirty="0" err="1" smtClean="0"/>
              <a:t>로우</a:t>
            </a:r>
            <a:r>
              <a:rPr lang="ko-KR" altLang="en-US" sz="1000" dirty="0" smtClean="0"/>
              <a:t> 데이터</a:t>
            </a:r>
            <a:endParaRPr lang="en-US" altLang="ko-KR" sz="1000" dirty="0" smtClean="0"/>
          </a:p>
        </p:txBody>
      </p:sp>
      <p:sp>
        <p:nvSpPr>
          <p:cNvPr id="55" name="TextBox 54"/>
          <p:cNvSpPr txBox="1"/>
          <p:nvPr/>
        </p:nvSpPr>
        <p:spPr>
          <a:xfrm>
            <a:off x="6978505" y="5375237"/>
            <a:ext cx="2017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….</a:t>
            </a:r>
            <a:endParaRPr lang="en-US" altLang="ko-KR" sz="1100" dirty="0">
              <a:latin typeface="+mn-ea"/>
            </a:endParaRPr>
          </a:p>
        </p:txBody>
      </p:sp>
      <p:cxnSp>
        <p:nvCxnSpPr>
          <p:cNvPr id="15" name="직선 화살표 연결선 14"/>
          <p:cNvCxnSpPr>
            <a:stCxn id="49" idx="3"/>
            <a:endCxn id="50" idx="1"/>
          </p:cNvCxnSpPr>
          <p:nvPr/>
        </p:nvCxnSpPr>
        <p:spPr>
          <a:xfrm>
            <a:off x="3778107" y="5210416"/>
            <a:ext cx="5916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>
            <a:off x="6386834" y="5209921"/>
            <a:ext cx="3568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369778" y="5537787"/>
            <a:ext cx="2017056" cy="861774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next() : </a:t>
            </a:r>
            <a:r>
              <a:rPr lang="ko-KR" altLang="en-US" sz="1000" dirty="0" smtClean="0">
                <a:latin typeface="+mn-ea"/>
              </a:rPr>
              <a:t>다음 레코드로 이동</a:t>
            </a:r>
            <a:r>
              <a:rPr lang="en-US" altLang="ko-KR" sz="1000" dirty="0" smtClean="0">
                <a:latin typeface="+mn-ea"/>
              </a:rPr>
              <a:t>	</a:t>
            </a:r>
          </a:p>
          <a:p>
            <a:r>
              <a:rPr lang="en-US" altLang="ko-KR" sz="1000" dirty="0" smtClean="0">
                <a:latin typeface="+mn-ea"/>
              </a:rPr>
              <a:t>previous() : </a:t>
            </a:r>
            <a:r>
              <a:rPr lang="ko-KR" altLang="en-US" sz="1000" dirty="0" smtClean="0">
                <a:latin typeface="+mn-ea"/>
              </a:rPr>
              <a:t>이전 레코드로 이동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f</a:t>
            </a:r>
            <a:r>
              <a:rPr lang="en-US" altLang="ko-KR" sz="1000" dirty="0" smtClean="0">
                <a:latin typeface="+mn-ea"/>
              </a:rPr>
              <a:t>irst() : </a:t>
            </a:r>
            <a:r>
              <a:rPr lang="ko-KR" altLang="en-US" sz="1000" dirty="0" smtClean="0">
                <a:latin typeface="+mn-ea"/>
              </a:rPr>
              <a:t>처음으로 이동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latin typeface="+mn-ea"/>
              </a:rPr>
              <a:t>last() : </a:t>
            </a:r>
            <a:r>
              <a:rPr lang="ko-KR" altLang="en-US" sz="1000" dirty="0" smtClean="0">
                <a:latin typeface="+mn-ea"/>
              </a:rPr>
              <a:t>마지막으로 이동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g</a:t>
            </a:r>
            <a:r>
              <a:rPr lang="en-US" altLang="ko-KR" sz="1000" dirty="0" smtClean="0">
                <a:latin typeface="+mn-ea"/>
              </a:rPr>
              <a:t>et</a:t>
            </a:r>
            <a:r>
              <a:rPr lang="ko-KR" altLang="en-US" sz="1000" dirty="0" err="1" smtClean="0">
                <a:latin typeface="+mn-ea"/>
              </a:rPr>
              <a:t>메소드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en-US" altLang="ko-KR" sz="1000" dirty="0" err="1" smtClean="0">
                <a:latin typeface="+mn-ea"/>
              </a:rPr>
              <a:t>getString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en-US" altLang="ko-KR" sz="1000" dirty="0" err="1" smtClean="0">
                <a:latin typeface="+mn-ea"/>
              </a:rPr>
              <a:t>getInt</a:t>
            </a:r>
            <a:r>
              <a:rPr lang="en-US" altLang="ko-KR" sz="1000" dirty="0" smtClean="0">
                <a:latin typeface="+mn-ea"/>
              </a:rPr>
              <a:t>)</a:t>
            </a:r>
            <a:endParaRPr lang="en-US" altLang="ko-KR" sz="1000" dirty="0">
              <a:latin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715937" y="4283026"/>
            <a:ext cx="542191" cy="24622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+mn-ea"/>
              </a:rPr>
              <a:t>BOF</a:t>
            </a:r>
            <a:endParaRPr lang="en-US" altLang="ko-KR" sz="1000" dirty="0"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715937" y="5937897"/>
            <a:ext cx="542191" cy="24622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E</a:t>
            </a:r>
            <a:r>
              <a:rPr lang="en-US" altLang="ko-KR" sz="1000" dirty="0" smtClean="0">
                <a:latin typeface="+mn-ea"/>
              </a:rPr>
              <a:t>OF</a:t>
            </a:r>
            <a:endParaRPr lang="en-US" altLang="ko-KR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139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Statement</a:t>
            </a:r>
            <a:r>
              <a:rPr lang="ko-KR" altLang="en-US" sz="1600" b="1" dirty="0">
                <a:latin typeface="+mn-ea"/>
              </a:rPr>
              <a:t>객체 </a:t>
            </a:r>
            <a:r>
              <a:rPr lang="ko-KR" altLang="en-US" sz="1600" b="1" dirty="0" smtClean="0">
                <a:latin typeface="+mn-ea"/>
              </a:rPr>
              <a:t>살펴보기 </a:t>
            </a:r>
            <a:r>
              <a:rPr lang="en-US" altLang="ko-KR" sz="1600" b="1" dirty="0" smtClean="0">
                <a:latin typeface="+mn-ea"/>
              </a:rPr>
              <a:t>– </a:t>
            </a:r>
            <a:r>
              <a:rPr lang="ko-KR" altLang="en-US" sz="1600" b="1" dirty="0" smtClean="0">
                <a:latin typeface="+mn-ea"/>
              </a:rPr>
              <a:t>데이터베이스 테이블 생성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92164" y="1515734"/>
            <a:ext cx="979376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92164" y="1254124"/>
            <a:ext cx="9793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JDBC</a:t>
            </a:r>
            <a:r>
              <a:rPr lang="ko-KR" altLang="en-US" sz="1100" dirty="0" smtClean="0">
                <a:latin typeface="+mn-ea"/>
              </a:rPr>
              <a:t>예제 </a:t>
            </a:r>
            <a:r>
              <a:rPr lang="en-US" altLang="ko-KR" sz="1100" dirty="0" smtClean="0">
                <a:latin typeface="+mn-ea"/>
              </a:rPr>
              <a:t>(jsp_18_2_ex1_jdbcex)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64" y="1777343"/>
            <a:ext cx="4840244" cy="291455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940" y="1805732"/>
            <a:ext cx="4760992" cy="288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9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18-2.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Statement</a:t>
            </a:r>
            <a:r>
              <a:rPr lang="ko-KR" altLang="en-US" sz="1600" b="1" dirty="0">
                <a:latin typeface="+mn-ea"/>
              </a:rPr>
              <a:t>객체 살펴보기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92164" y="1515734"/>
            <a:ext cx="979376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92164" y="1254124"/>
            <a:ext cx="9793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JDBC</a:t>
            </a:r>
            <a:r>
              <a:rPr lang="ko-KR" altLang="en-US" sz="1100" dirty="0" smtClean="0">
                <a:latin typeface="+mn-ea"/>
              </a:rPr>
              <a:t>예제 </a:t>
            </a:r>
            <a:r>
              <a:rPr lang="en-US" altLang="ko-KR" sz="1100" dirty="0" smtClean="0">
                <a:latin typeface="+mn-ea"/>
              </a:rPr>
              <a:t>(jsp_18_2_ex1_jdbcex)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64" y="1645553"/>
            <a:ext cx="3384917" cy="187351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64" y="3648884"/>
            <a:ext cx="6376240" cy="243313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465" y="1700657"/>
            <a:ext cx="4211467" cy="121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3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19.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err="1">
                <a:latin typeface="+mn-ea"/>
              </a:rPr>
              <a:t>PreparedStatement</a:t>
            </a:r>
            <a:r>
              <a:rPr lang="ko-KR" altLang="en-US" sz="1600" b="1" dirty="0">
                <a:latin typeface="+mn-ea"/>
              </a:rPr>
              <a:t>객체 살펴보기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SQL</a:t>
            </a:r>
            <a:r>
              <a:rPr lang="ko-KR" altLang="en-US" sz="1100" dirty="0" smtClean="0">
                <a:latin typeface="+mn-ea"/>
              </a:rPr>
              <a:t>문 실행을 위해 </a:t>
            </a:r>
            <a:r>
              <a:rPr lang="en-US" altLang="ko-KR" sz="1100" dirty="0" smtClean="0">
                <a:latin typeface="+mn-ea"/>
              </a:rPr>
              <a:t>Statement</a:t>
            </a:r>
            <a:r>
              <a:rPr lang="ko-KR" altLang="en-US" sz="1100" dirty="0" smtClean="0">
                <a:latin typeface="+mn-ea"/>
              </a:rPr>
              <a:t>객체를 이용 하였습니다</a:t>
            </a:r>
            <a:r>
              <a:rPr lang="en-US" altLang="ko-KR" sz="1100" dirty="0" smtClean="0">
                <a:latin typeface="+mn-ea"/>
              </a:rPr>
              <a:t>. Statement</a:t>
            </a:r>
            <a:r>
              <a:rPr lang="ko-KR" altLang="en-US" sz="1100" dirty="0" smtClean="0">
                <a:latin typeface="+mn-ea"/>
              </a:rPr>
              <a:t>객체의 경우 중복코드가 많아지는 단점이 있습니다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이러한 단점을 보완한 </a:t>
            </a:r>
            <a:r>
              <a:rPr lang="en-US" altLang="ko-KR" sz="1100" dirty="0" err="1" smtClean="0">
                <a:latin typeface="+mn-ea"/>
              </a:rPr>
              <a:t>PreparedStatement</a:t>
            </a:r>
            <a:r>
              <a:rPr lang="ko-KR" altLang="en-US" sz="1100" dirty="0" smtClean="0">
                <a:latin typeface="+mn-ea"/>
              </a:rPr>
              <a:t>객체에 대해서 살펴 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jsp_20_2_ex1_preparedex</a:t>
            </a:r>
            <a:r>
              <a:rPr lang="en-US" altLang="ko-KR" sz="1100" dirty="0">
                <a:latin typeface="+mn-ea"/>
              </a:rPr>
              <a:t>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59" y="2165741"/>
            <a:ext cx="8128011" cy="30982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9963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3665</TotalTime>
  <Words>363</Words>
  <Application>Microsoft Office PowerPoint</Application>
  <PresentationFormat>와이드스크린</PresentationFormat>
  <Paragraphs>69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1110</cp:revision>
  <dcterms:created xsi:type="dcterms:W3CDTF">2014-12-01T08:37:15Z</dcterms:created>
  <dcterms:modified xsi:type="dcterms:W3CDTF">2023-11-17T07:48:21Z</dcterms:modified>
</cp:coreProperties>
</file>